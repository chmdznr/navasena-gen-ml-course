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 ini dibagi tiga bagian. Pertama, cara lulus ujian NCA-GENL: formatnya, domain mana yang sudah tercakup bootcamp, dan apa yang masih perlu kamu pelajari sendiri. Kedua, apa saja yang disediakan NVIDIA di luar ujian: sertifikasi lanjutan, kursus DLI, Developer Program, dan komunitasnya. Ketiga, arah karier dan cara mengubah capstone jadi portofolio.
Pesan utamanya: sertifikat itu satu langkah, bukan tujuan akhir. Kita ingin kamu pulang dengan langkah berikutnya yang jelas, bukan hanya daftar tips ujian.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apa yang sudah kamu bangun, bukan dari apa yang belum. Enam kotak ini merangkum isi modul 01 sampai 06. Hampir semua ini muncul di blueprint NCA-GENL.
Minta peserta membuka lagi hasil pre-test mereka. Domain yang dulu nilainya paling rendah dan sekarang sudah dibahas di bootcamp adalah bukti kemajuan. Domain yang dulu rendah dan belum banyak dibahas adalah prioritas belajar berikutnya. Kita bahas petanya di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di slide ini dari halaman resmi NCA-GENL. Dicek 24 September 2026.
Sumber: https://www.nvidia.com/en-us/learn/certification/generative-ai-llm-associate/
Level Associate, entry-level. Pendaftaran lewat tombol Register for Exam di halaman itu (platform Certiverse). Lulus mendapat digital badge dan sertifikat opsional. Setelah dua tahun, sertifikasi diperbarui dengan mengikuti ujian lagi.
Soal passing score pasti ditanyakan. Jawabannya: NVIDIA tidak memublikasikannya. Angka batas lulus yang beredar di internet tidak punya dasar resmi. Strategi yang aman adalah menguasai materinya, bukan mengejar batas minimal. Ingatkan juga peserta untuk membaca examination policy NVIDIA sebelum menjadwalkan ujian.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Bobot domain dari blueprint resmi NCA-GENL. Dicek 24 September 2026.
Sumber: https://www.nvidia.com/en-us/learn/certification/generative-ai-llm-associate/
Status diambil dari isi notebook bootcamp. "Tercakup" artinya ada notebook yang membahas topik itu secara langsung. Experimentation hanya sebagian: kita sudah mengevaluasi model dan RAG, tapi belum membahas desain eksperimen, A/B test, atau experiment tracking. Topik ini dan beberapa topik lain kita bahas di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Topik tipis adalah topik yang belum punya notebook sendiri di bootcamp. Oranye untuk yang paling mungkin keluar di soal, biru untuk yang cukup dipahami konsepnya.
Alignment disebut langsung di daftar topik resmi NCA-GENL. Desain eksperimen bagian dari domain Experimentation yang bobotnya 22%. NeMo Framework dan distributed training adalah konteks ekosistem yang wajar dipahami: cukup tahu fungsinya dan kapan dipakai, bukan menulis kodenya.
Sumber belajar: cari di katalog DLI (ada filter Free Courses) dan cek silabusnya dulu sebelum mendaftar. Sumber topik resmi: https://www.nvidia.com/en-us/learn/certification/generative-ai-llm-associate/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Urutannya disusun berdasarkan pengaruhnya ke skor, bukan dari yang paling mudah. Domain berbobot besar yang masih lemah menyumbang paling banyak soal, jadi itu dulu.
Langkah pertama berbeda untuk tiap orang. Experimentation lemah untuk semua peserta karena baru tercakup sebagian. Selain itu, hasil pre-test menunjukkan domain terlemahmu sendiri; kalau itu Core ML yang bobotnya 30%, dahulukan juga.
Langkah terakhir penting karena soal ujian berbahasa Inggris. Membiasakan diri membaca soal pilihan ganda teknis dalam bahasa Inggris sama pentingnya dengan menguasai materinya.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Taktik ini umum untuk ujian pilihan ganda berbatas waktu, disesuaikan dengan format NCA-GENL.
Satu menit per soal berasal dari 60 menit untuk 50 sampai 60 soal. Kalau satu soal terasa buntu, pilih jawaban terbaik yang kamu punya lalu lanjut.
Kata kunci seperti "most likely" atau "first" sering membedakan dua pilihan yang sama-sama benar secara teknis. Soal dengan "NOT" mudah terlewat kalau membaca terburu-buru.
Soal tentang produk NVIDIA kemungkinan besar menanyakan fungsinya: mana untuk serving, mana untuk optimasi inferensi, mana untuk guardrails. Kamu sudah memakai hampir semuanya di bootcamp.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Daftar dari katalog sertifikasi resmi NVIDIA. Dicek 24 September 2026.
Sumber: https://www.nvidia.com/en-us/learn/certification/
Associate menguji pemahaman konsep. Professional menguji kemampuan membangun dan mengoperasikan sistem nyata, jadi butuh pengalaman praktik. Ujian Associate yang dicek berbiaya $125. Harga Professional berbeda-beda per ujian, cek di halaman masing-masing.
NCP-GENL adalah versi lanjutan dari ujian yang sedang kita siapkan. NCP-AAI (Agentic AI) cocok untuk yang ingin mendalami agen berbasis LLM, lanjutan alami dari modul RAG. Katalog ini sering berubah, jadi selalu cek halaman resminya.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Learning Institute adalah unit pelatihan resmi NVIDIA. Dicek 24 September 2026.
Sumber: https://www.nvidia.com/en-us/training/self-paced-courses/ dan https://www.nvidia.com/en-us/learn/certification/generative-ai-llm-associate/
Halaman self-paced punya filter Free Courses. Sarankan peserta mulai dari yang gratis. Harga $90 dan $500 di slide adalah harga kursus yang direkomendasikan untuk NCA-GENL, bukan harga semua kursus DLI.
Di halaman NCA-GENL, NVIDIA memetakan kursus-kursus ini ke domain ujian. Sebelum membeli, cek silabusnya: pilih yang menutup domain terlemahmu.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akses yang paling berguna setelah bootcamp selesai. Dicek 24 September 2026.
Sumber: https://developer.nvidia.com/developer-program dan https://build.nvidia.com/
Developer Program gratis dan jadi pintu masuk ke banyak sumber daya NVIDIA lain. Kredit cloud diberikan setelah pencapaian belajar tertentu, jadi syaratnya bisa berubah.
build.nvidia.com sudah kamu kenal: generator di modul RAG dan NVIDIA memanggil NIM lewat endpoint integrate.api.nvidia.com. Artinya kamu tidak perlu GPU besar untuk mencoba model 70B. Batas pemakaiannya bisa berubah, jadi cek di akun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Dicek 24 September 2026. Sumber:
GTC: https://www.nvidia.com/gtc/
Jetson AI Lab: https://www.jetson-ai-lab.com/
Developer Forums: https://forums.developer.nvidia.com/
Inception: https://www.nvidia.com/en-us/startups/
Informasi ujian gratis untuk peserta GTC on-site ada di halaman training NVIDIA (https://www.nvidia.com/en-us/training/). Ketentuannya bisa berubah tiap tahun.
Jetson AI Lab cocok untuk yang tertarik edge AI. Di modul NVIDIA kita sudah menjalankan LLM di Jetson Orin Nano. Inception relevan untuk peserta yang sedang atau ingin membangun startup; manfaat investor bergantung pada kelayakan.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ini bukan daftar wajib. Tujuannya membantu peserta memilih satu arah dulu.
Sertifikasi di kolom tengah mengacu ke katalog NVIDIA: https://www.nvidia.com/en-us/learn/certification/ . Tanda panah artinya mulai dari Associate, lalu naik ke Professional.
Proyek pertama sengaja dipilih yang bisa dimulai dari notebook bootcamp: agen RAG dari modul RAG, fine-tune SLM dari modul LLM, RAPIDS dari modul 01 dan 03, Triton dari modul NVIDIA, dan Jetson dari lab edge. Rekruter lebih mudah menilai satu proyek yang dalam dan terukur daripada lima sertifikat tanpa bukti kerja.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Capstone sudah berisi kerja nyata; yang kurang biasanya hanya kemasannya.
Repo yang rapi dimulai dari README yang menjawab tiga pertanyaan: masalah apa, bagaimana menjalankannya, dan apa hasilnya. Angka yang terukur adalah kebiasaan yang kita pakai sepanjang bootcamp: setiap klaim performa disertai data dan perangkatnya.
Demo tidak harus rumit. Notebook Colab yang langsung bisa dijalankan sudah cukup. Tulisan singkat, misalnya di LinkedIn atau blog, membantu orang lain memahami keputusan teknis yang kamu ambil, termasuk yang gagal.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langkah ini sengaja tanpa tanggal: urutannya yang penting, bukan kecepatannya.
Tautan di kanan bisa diklik saat deck dibagikan. Deck NCA-GENL pendamping membahas kelima domain ujian satu per satu dan cocok dipakai sebagai bahan belajar mandiri.
Tutup sesi dengan mengingatkan pesan pembuka: sertifikat itu satu langkah. Yang membuat kamu dipercaya adalah proyek yang bisa ditunjukkan dan dijelaskan.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vidia.com/en-us/learn/certification/" TargetMode="External"/><Relationship Id="rId2" Type="http://schemas.openxmlformats.org/officeDocument/2006/relationships/hyperlink" Target="https://www.nvidia.com/en-us/training/self-paced-courses/" TargetMode="External"/><Relationship Id="rId3" Type="http://schemas.openxmlformats.org/officeDocument/2006/relationships/hyperlink" Target="https://developer.nvidia.com/developer-program" TargetMode="External"/><Relationship Id="rId4" Type="http://schemas.openxmlformats.org/officeDocument/2006/relationships/hyperlink" Target="https://build.nvidia.com/"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1</a:t>
            </a:r>
            <a:endParaRPr lang="en-US" sz="1000" dirty="0"/>
          </a:p>
        </p:txBody>
      </p:sp>
      <p:sp>
        <p:nvSpPr>
          <p:cNvPr id="4" name="Shape 2"/>
          <p:cNvSpPr/>
          <p:nvPr/>
        </p:nvSpPr>
        <p:spPr>
          <a:xfrm>
            <a:off x="548640" y="2011680"/>
            <a:ext cx="109728" cy="2103120"/>
          </a:xfrm>
          <a:prstGeom prst="rect">
            <a:avLst/>
          </a:prstGeom>
          <a:solidFill>
            <a:srgbClr val="76B900"/>
          </a:solidFill>
          <a:ln/>
        </p:spPr>
      </p:sp>
      <p:sp>
        <p:nvSpPr>
          <p:cNvPr id="5" name="Text 3"/>
          <p:cNvSpPr/>
          <p:nvPr/>
        </p:nvSpPr>
        <p:spPr>
          <a:xfrm>
            <a:off x="868680" y="192024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Exam Preparation</a:t>
            </a:r>
            <a:endParaRPr lang="en-US" sz="5400" dirty="0"/>
          </a:p>
        </p:txBody>
      </p:sp>
      <p:sp>
        <p:nvSpPr>
          <p:cNvPr id="6" name="Text 4"/>
          <p:cNvSpPr/>
          <p:nvPr/>
        </p:nvSpPr>
        <p:spPr>
          <a:xfrm>
            <a:off x="868680" y="2880360"/>
            <a:ext cx="10515600" cy="548640"/>
          </a:xfrm>
          <a:prstGeom prst="rect">
            <a:avLst/>
          </a:prstGeom>
          <a:noFill/>
          <a:ln/>
        </p:spPr>
        <p:txBody>
          <a:bodyPr wrap="square" lIns="0" tIns="0" rIns="0" bIns="0" rtlCol="0" anchor="ctr"/>
          <a:lstStyle/>
          <a:p>
            <a:pPr indent="0" marL="0">
              <a:buNone/>
            </a:pPr>
            <a:r>
              <a:rPr lang="en-US" sz="2800" dirty="0">
                <a:solidFill>
                  <a:srgbClr val="A3D944"/>
                </a:solidFill>
                <a:latin typeface="Calibri" pitchFamily="34" charset="0"/>
                <a:ea typeface="Calibri" pitchFamily="34" charset="-122"/>
                <a:cs typeface="Calibri" pitchFamily="34" charset="-120"/>
              </a:rPr>
              <a:t>— dan langkah setelahnya</a:t>
            </a:r>
            <a:endParaRPr lang="en-US" sz="2800" dirty="0"/>
          </a:p>
        </p:txBody>
      </p:sp>
      <p:sp>
        <p:nvSpPr>
          <p:cNvPr id="7" name="Text 5"/>
          <p:cNvSpPr/>
          <p:nvPr/>
        </p:nvSpPr>
        <p:spPr>
          <a:xfrm>
            <a:off x="868680" y="3566160"/>
            <a:ext cx="10515600" cy="457200"/>
          </a:xfrm>
          <a:prstGeom prst="rect">
            <a:avLst/>
          </a:prstGeom>
          <a:noFill/>
          <a:ln/>
        </p:spPr>
        <p:txBody>
          <a:bodyPr wrap="square" lIns="0" tIns="0" rIns="0" bIns="0" rtlCol="0" anchor="ctr"/>
          <a:lstStyle/>
          <a:p>
            <a:pPr indent="0" marL="0">
              <a:buNone/>
            </a:pPr>
            <a:r>
              <a:rPr lang="en-US" sz="2000" dirty="0">
                <a:solidFill>
                  <a:srgbClr val="AAAACC"/>
                </a:solidFill>
                <a:latin typeface="Calibri" pitchFamily="34" charset="0"/>
                <a:ea typeface="Calibri" pitchFamily="34" charset="-122"/>
                <a:cs typeface="Calibri" pitchFamily="34" charset="-120"/>
              </a:rPr>
              <a:t>Lulus NCA-GENL, lalu ke mana?</a:t>
            </a:r>
            <a:endParaRPr lang="en-US" sz="2000" dirty="0"/>
          </a:p>
        </p:txBody>
      </p:sp>
      <p:sp>
        <p:nvSpPr>
          <p:cNvPr id="8" name="Text 6"/>
          <p:cNvSpPr/>
          <p:nvPr/>
        </p:nvSpPr>
        <p:spPr>
          <a:xfrm>
            <a:off x="868680" y="5760720"/>
            <a:ext cx="7315200" cy="365760"/>
          </a:xfrm>
          <a:prstGeom prst="rect">
            <a:avLst/>
          </a:prstGeom>
          <a:noFill/>
          <a:ln/>
        </p:spPr>
        <p:txBody>
          <a:bodyPr wrap="square" lIns="0" tIns="0" rIns="0" bIns="0" rtlCol="0" anchor="ctr"/>
          <a:lstStyle/>
          <a:p>
            <a:pPr indent="0" marL="0">
              <a:buNone/>
            </a:pPr>
            <a:r>
              <a:rPr lang="en-US" sz="1600" dirty="0">
                <a:solidFill>
                  <a:srgbClr val="AAAACC"/>
                </a:solidFill>
                <a:latin typeface="Calibri" pitchFamily="34" charset="0"/>
                <a:ea typeface="Calibri" pitchFamily="34" charset="-122"/>
                <a:cs typeface="Calibri" pitchFamily="34" charset="-120"/>
              </a:rPr>
              <a:t>Navasena · NCA-GENL Bootcamp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Pembuka</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Posisi kamu sekarang</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2</a:t>
            </a:r>
            <a:endParaRPr lang="en-US" sz="1000" dirty="0"/>
          </a:p>
        </p:txBody>
      </p:sp>
      <p:sp>
        <p:nvSpPr>
          <p:cNvPr id="6" name="Shape 4"/>
          <p:cNvSpPr/>
          <p:nvPr/>
        </p:nvSpPr>
        <p:spPr>
          <a:xfrm>
            <a:off x="548640" y="1600200"/>
            <a:ext cx="3566160" cy="1691640"/>
          </a:xfrm>
          <a:prstGeom prst="roundRect">
            <a:avLst>
              <a:gd name="adj" fmla="val 4324"/>
            </a:avLst>
          </a:prstGeom>
          <a:solidFill>
            <a:srgbClr val="2D2D44"/>
          </a:solidFill>
          <a:ln w="19050">
            <a:solidFill>
              <a:srgbClr val="76B900"/>
            </a:solidFill>
            <a:prstDash val="solid"/>
          </a:ln>
        </p:spPr>
      </p:sp>
      <p:sp>
        <p:nvSpPr>
          <p:cNvPr id="7" name="Text 5"/>
          <p:cNvSpPr/>
          <p:nvPr/>
        </p:nvSpPr>
        <p:spPr>
          <a:xfrm>
            <a:off x="777240" y="1783080"/>
            <a:ext cx="310896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Model klasik</a:t>
            </a:r>
            <a:endParaRPr lang="en-US" sz="1800" dirty="0"/>
          </a:p>
        </p:txBody>
      </p:sp>
      <p:sp>
        <p:nvSpPr>
          <p:cNvPr id="8" name="Text 6"/>
          <p:cNvSpPr/>
          <p:nvPr/>
        </p:nvSpPr>
        <p:spPr>
          <a:xfrm>
            <a:off x="777240" y="2286000"/>
            <a:ext cx="3108960" cy="8686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Regresi, klasifikasi, clustering, ensemble, time series</a:t>
            </a:r>
            <a:endParaRPr lang="en-US" sz="1800" dirty="0"/>
          </a:p>
        </p:txBody>
      </p:sp>
      <p:sp>
        <p:nvSpPr>
          <p:cNvPr id="9" name="Shape 7"/>
          <p:cNvSpPr/>
          <p:nvPr/>
        </p:nvSpPr>
        <p:spPr>
          <a:xfrm>
            <a:off x="4297680" y="1600200"/>
            <a:ext cx="3566160" cy="1691640"/>
          </a:xfrm>
          <a:prstGeom prst="roundRect">
            <a:avLst>
              <a:gd name="adj" fmla="val 4324"/>
            </a:avLst>
          </a:prstGeom>
          <a:solidFill>
            <a:srgbClr val="2D2D44"/>
          </a:solidFill>
          <a:ln w="19050">
            <a:solidFill>
              <a:srgbClr val="76B900"/>
            </a:solidFill>
            <a:prstDash val="solid"/>
          </a:ln>
        </p:spPr>
      </p:sp>
      <p:sp>
        <p:nvSpPr>
          <p:cNvPr id="10" name="Text 8"/>
          <p:cNvSpPr/>
          <p:nvPr/>
        </p:nvSpPr>
        <p:spPr>
          <a:xfrm>
            <a:off x="4526280" y="1783080"/>
            <a:ext cx="310896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Deep learning</a:t>
            </a:r>
            <a:endParaRPr lang="en-US" sz="1800" dirty="0"/>
          </a:p>
        </p:txBody>
      </p:sp>
      <p:sp>
        <p:nvSpPr>
          <p:cNvPr id="11" name="Text 9"/>
          <p:cNvSpPr/>
          <p:nvPr/>
        </p:nvSpPr>
        <p:spPr>
          <a:xfrm>
            <a:off x="4526280" y="2286000"/>
            <a:ext cx="3108960" cy="8686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Neural network, CNN, LSTM, transfer learning di GPU</a:t>
            </a:r>
            <a:endParaRPr lang="en-US" sz="1800" dirty="0"/>
          </a:p>
        </p:txBody>
      </p:sp>
      <p:sp>
        <p:nvSpPr>
          <p:cNvPr id="12" name="Shape 10"/>
          <p:cNvSpPr/>
          <p:nvPr/>
        </p:nvSpPr>
        <p:spPr>
          <a:xfrm>
            <a:off x="8046720" y="1600200"/>
            <a:ext cx="3566160" cy="1691640"/>
          </a:xfrm>
          <a:prstGeom prst="roundRect">
            <a:avLst>
              <a:gd name="adj" fmla="val 4324"/>
            </a:avLst>
          </a:prstGeom>
          <a:solidFill>
            <a:srgbClr val="2D2D44"/>
          </a:solidFill>
          <a:ln w="19050">
            <a:solidFill>
              <a:srgbClr val="76B900"/>
            </a:solidFill>
            <a:prstDash val="solid"/>
          </a:ln>
        </p:spPr>
      </p:sp>
      <p:sp>
        <p:nvSpPr>
          <p:cNvPr id="13" name="Text 11"/>
          <p:cNvSpPr/>
          <p:nvPr/>
        </p:nvSpPr>
        <p:spPr>
          <a:xfrm>
            <a:off x="8275320" y="1783080"/>
            <a:ext cx="310896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Transformer &amp; LLM</a:t>
            </a:r>
            <a:endParaRPr lang="en-US" sz="1800" dirty="0"/>
          </a:p>
        </p:txBody>
      </p:sp>
      <p:sp>
        <p:nvSpPr>
          <p:cNvPr id="14" name="Text 12"/>
          <p:cNvSpPr/>
          <p:nvPr/>
        </p:nvSpPr>
        <p:spPr>
          <a:xfrm>
            <a:off x="8275320" y="2286000"/>
            <a:ext cx="3108960" cy="8686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Transformer dari nol, fine-tune LoRA, evaluasi, SLM</a:t>
            </a:r>
            <a:endParaRPr lang="en-US" sz="1800" dirty="0"/>
          </a:p>
        </p:txBody>
      </p:sp>
      <p:sp>
        <p:nvSpPr>
          <p:cNvPr id="15" name="Shape 13"/>
          <p:cNvSpPr/>
          <p:nvPr/>
        </p:nvSpPr>
        <p:spPr>
          <a:xfrm>
            <a:off x="548640" y="3474720"/>
            <a:ext cx="3566160" cy="1691640"/>
          </a:xfrm>
          <a:prstGeom prst="roundRect">
            <a:avLst>
              <a:gd name="adj" fmla="val 4324"/>
            </a:avLst>
          </a:prstGeom>
          <a:solidFill>
            <a:srgbClr val="2D2D44"/>
          </a:solidFill>
          <a:ln w="19050">
            <a:solidFill>
              <a:srgbClr val="76B900"/>
            </a:solidFill>
            <a:prstDash val="solid"/>
          </a:ln>
        </p:spPr>
      </p:sp>
      <p:sp>
        <p:nvSpPr>
          <p:cNvPr id="16" name="Text 14"/>
          <p:cNvSpPr/>
          <p:nvPr/>
        </p:nvSpPr>
        <p:spPr>
          <a:xfrm>
            <a:off x="777240" y="3657600"/>
            <a:ext cx="310896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RAG</a:t>
            </a:r>
            <a:endParaRPr lang="en-US" sz="1800" dirty="0"/>
          </a:p>
        </p:txBody>
      </p:sp>
      <p:sp>
        <p:nvSpPr>
          <p:cNvPr id="17" name="Text 15"/>
          <p:cNvSpPr/>
          <p:nvPr/>
        </p:nvSpPr>
        <p:spPr>
          <a:xfrm>
            <a:off x="777240" y="4160520"/>
            <a:ext cx="3108960" cy="8686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Chunking, reranking, evaluasi RAGAS, deploy sebagai API</a:t>
            </a:r>
            <a:endParaRPr lang="en-US" sz="1800" dirty="0"/>
          </a:p>
        </p:txBody>
      </p:sp>
      <p:sp>
        <p:nvSpPr>
          <p:cNvPr id="18" name="Shape 16"/>
          <p:cNvSpPr/>
          <p:nvPr/>
        </p:nvSpPr>
        <p:spPr>
          <a:xfrm>
            <a:off x="4297680" y="3474720"/>
            <a:ext cx="3566160" cy="1691640"/>
          </a:xfrm>
          <a:prstGeom prst="roundRect">
            <a:avLst>
              <a:gd name="adj" fmla="val 4324"/>
            </a:avLst>
          </a:prstGeom>
          <a:solidFill>
            <a:srgbClr val="2D2D44"/>
          </a:solidFill>
          <a:ln w="19050">
            <a:solidFill>
              <a:srgbClr val="76B900"/>
            </a:solidFill>
            <a:prstDash val="solid"/>
          </a:ln>
        </p:spPr>
      </p:sp>
      <p:sp>
        <p:nvSpPr>
          <p:cNvPr id="19" name="Text 17"/>
          <p:cNvSpPr/>
          <p:nvPr/>
        </p:nvSpPr>
        <p:spPr>
          <a:xfrm>
            <a:off x="4526280" y="3657600"/>
            <a:ext cx="310896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Ekosistem NVIDIA</a:t>
            </a:r>
            <a:endParaRPr lang="en-US" sz="1800" dirty="0"/>
          </a:p>
        </p:txBody>
      </p:sp>
      <p:sp>
        <p:nvSpPr>
          <p:cNvPr id="20" name="Text 18"/>
          <p:cNvSpPr/>
          <p:nvPr/>
        </p:nvSpPr>
        <p:spPr>
          <a:xfrm>
            <a:off x="4526280" y="4160520"/>
            <a:ext cx="3108960" cy="8686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RAPIDS, TensorRT, Triton, NIM, NeMo Guardrails, Jetson</a:t>
            </a:r>
            <a:endParaRPr lang="en-US" sz="1800" dirty="0"/>
          </a:p>
        </p:txBody>
      </p:sp>
      <p:sp>
        <p:nvSpPr>
          <p:cNvPr id="21" name="Shape 19"/>
          <p:cNvSpPr/>
          <p:nvPr/>
        </p:nvSpPr>
        <p:spPr>
          <a:xfrm>
            <a:off x="8046720" y="3474720"/>
            <a:ext cx="3566160" cy="1691640"/>
          </a:xfrm>
          <a:prstGeom prst="roundRect">
            <a:avLst>
              <a:gd name="adj" fmla="val 4324"/>
            </a:avLst>
          </a:prstGeom>
          <a:solidFill>
            <a:srgbClr val="2D2D44"/>
          </a:solidFill>
          <a:ln w="19050">
            <a:solidFill>
              <a:srgbClr val="76B900"/>
            </a:solidFill>
            <a:prstDash val="solid"/>
          </a:ln>
        </p:spPr>
      </p:sp>
      <p:sp>
        <p:nvSpPr>
          <p:cNvPr id="22" name="Text 20"/>
          <p:cNvSpPr/>
          <p:nvPr/>
        </p:nvSpPr>
        <p:spPr>
          <a:xfrm>
            <a:off x="8275320" y="3657600"/>
            <a:ext cx="310896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Trustworthy AI</a:t>
            </a:r>
            <a:endParaRPr lang="en-US" sz="1800" dirty="0"/>
          </a:p>
        </p:txBody>
      </p:sp>
      <p:sp>
        <p:nvSpPr>
          <p:cNvPr id="23" name="Text 21"/>
          <p:cNvSpPr/>
          <p:nvPr/>
        </p:nvSpPr>
        <p:spPr>
          <a:xfrm>
            <a:off x="8275320" y="4160520"/>
            <a:ext cx="3108960" cy="8686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Fairness, guardrails, privasi data</a:t>
            </a:r>
            <a:endParaRPr lang="en-US" sz="1800" dirty="0"/>
          </a:p>
        </p:txBody>
      </p:sp>
      <p:sp>
        <p:nvSpPr>
          <p:cNvPr id="24" name="Shape 22"/>
          <p:cNvSpPr/>
          <p:nvPr/>
        </p:nvSpPr>
        <p:spPr>
          <a:xfrm>
            <a:off x="548640" y="5669280"/>
            <a:ext cx="73152" cy="502920"/>
          </a:xfrm>
          <a:prstGeom prst="rect">
            <a:avLst/>
          </a:prstGeom>
          <a:solidFill>
            <a:srgbClr val="A3D944"/>
          </a:solidFill>
          <a:ln/>
        </p:spPr>
      </p:sp>
      <p:sp>
        <p:nvSpPr>
          <p:cNvPr id="25" name="Text 23"/>
          <p:cNvSpPr/>
          <p:nvPr/>
        </p:nvSpPr>
        <p:spPr>
          <a:xfrm>
            <a:off x="777240" y="5669280"/>
            <a:ext cx="10881360" cy="502920"/>
          </a:xfrm>
          <a:prstGeom prst="rect">
            <a:avLst/>
          </a:prstGeom>
          <a:noFill/>
          <a:ln/>
        </p:spPr>
        <p:txBody>
          <a:bodyPr wrap="square" lIns="0" tIns="0" rIns="0" bIns="0" rtlCol="0" anchor="ctr"/>
          <a:lstStyle/>
          <a:p>
            <a:pPr indent="0" marL="0">
              <a:buNone/>
            </a:pPr>
            <a:r>
              <a:rPr lang="en-US" sz="1700" b="1" dirty="0">
                <a:solidFill>
                  <a:srgbClr val="A3D944"/>
                </a:solidFill>
                <a:latin typeface="Calibri" pitchFamily="34" charset="0"/>
                <a:ea typeface="Calibri" pitchFamily="34" charset="-122"/>
                <a:cs typeface="Calibri" pitchFamily="34" charset="-120"/>
              </a:rPr>
              <a:t>Buka lagi hasil pre-test kamu: domain mana yang dulu paling lemah?</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1 · Lulus NCA-GENL</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Format ujian dalam satu slide</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3</a:t>
            </a:r>
            <a:endParaRPr lang="en-US" sz="1000" dirty="0"/>
          </a:p>
        </p:txBody>
      </p:sp>
      <p:sp>
        <p:nvSpPr>
          <p:cNvPr id="6" name="Shape 4"/>
          <p:cNvSpPr/>
          <p:nvPr/>
        </p:nvSpPr>
        <p:spPr>
          <a:xfrm>
            <a:off x="548640" y="1600200"/>
            <a:ext cx="3566160" cy="1691640"/>
          </a:xfrm>
          <a:prstGeom prst="roundRect">
            <a:avLst>
              <a:gd name="adj" fmla="val 4324"/>
            </a:avLst>
          </a:prstGeom>
          <a:solidFill>
            <a:srgbClr val="2D2D44"/>
          </a:solidFill>
          <a:ln w="12700">
            <a:solidFill>
              <a:srgbClr val="2D2D44"/>
            </a:solidFill>
            <a:prstDash val="solid"/>
          </a:ln>
        </p:spPr>
      </p:sp>
      <p:sp>
        <p:nvSpPr>
          <p:cNvPr id="7" name="Text 5"/>
          <p:cNvSpPr/>
          <p:nvPr/>
        </p:nvSpPr>
        <p:spPr>
          <a:xfrm>
            <a:off x="548640" y="1874520"/>
            <a:ext cx="3566160" cy="731520"/>
          </a:xfrm>
          <a:prstGeom prst="rect">
            <a:avLst/>
          </a:prstGeom>
          <a:noFill/>
          <a:ln/>
        </p:spPr>
        <p:txBody>
          <a:bodyPr wrap="square" lIns="0" tIns="0" rIns="0" bIns="0" rtlCol="0" anchor="ctr"/>
          <a:lstStyle/>
          <a:p>
            <a:pPr algn="ctr" indent="0" marL="0">
              <a:buNone/>
            </a:pPr>
            <a:r>
              <a:rPr lang="en-US" sz="3600" b="1" dirty="0">
                <a:solidFill>
                  <a:srgbClr val="76B900"/>
                </a:solidFill>
                <a:latin typeface="Calibri" pitchFamily="34" charset="0"/>
                <a:ea typeface="Calibri" pitchFamily="34" charset="-122"/>
                <a:cs typeface="Calibri" pitchFamily="34" charset="-120"/>
              </a:rPr>
              <a:t>50–60</a:t>
            </a:r>
            <a:endParaRPr lang="en-US" sz="3600" dirty="0"/>
          </a:p>
        </p:txBody>
      </p:sp>
      <p:sp>
        <p:nvSpPr>
          <p:cNvPr id="8" name="Text 6"/>
          <p:cNvSpPr/>
          <p:nvPr/>
        </p:nvSpPr>
        <p:spPr>
          <a:xfrm>
            <a:off x="548640" y="2606040"/>
            <a:ext cx="3566160" cy="411480"/>
          </a:xfrm>
          <a:prstGeom prst="rect">
            <a:avLst/>
          </a:prstGeom>
          <a:noFill/>
          <a:ln/>
        </p:spPr>
        <p:txBody>
          <a:bodyPr wrap="square" lIns="0" tIns="0" rIns="0" bIns="0" rtlCol="0" anchor="ctr"/>
          <a:lstStyle/>
          <a:p>
            <a:pPr algn="ctr" indent="0" marL="0">
              <a:buNone/>
            </a:pPr>
            <a:r>
              <a:rPr lang="en-US" sz="1700" dirty="0">
                <a:solidFill>
                  <a:srgbClr val="AAAACC"/>
                </a:solidFill>
                <a:latin typeface="Calibri" pitchFamily="34" charset="0"/>
                <a:ea typeface="Calibri" pitchFamily="34" charset="-122"/>
                <a:cs typeface="Calibri" pitchFamily="34" charset="-120"/>
              </a:rPr>
              <a:t>soal pilihan ganda</a:t>
            </a:r>
            <a:endParaRPr lang="en-US" sz="1700" dirty="0"/>
          </a:p>
        </p:txBody>
      </p:sp>
      <p:sp>
        <p:nvSpPr>
          <p:cNvPr id="9" name="Shape 7"/>
          <p:cNvSpPr/>
          <p:nvPr/>
        </p:nvSpPr>
        <p:spPr>
          <a:xfrm>
            <a:off x="4297680" y="1600200"/>
            <a:ext cx="3566160" cy="1691640"/>
          </a:xfrm>
          <a:prstGeom prst="roundRect">
            <a:avLst>
              <a:gd name="adj" fmla="val 4324"/>
            </a:avLst>
          </a:prstGeom>
          <a:solidFill>
            <a:srgbClr val="2D2D44"/>
          </a:solidFill>
          <a:ln w="12700">
            <a:solidFill>
              <a:srgbClr val="2D2D44"/>
            </a:solidFill>
            <a:prstDash val="solid"/>
          </a:ln>
        </p:spPr>
      </p:sp>
      <p:sp>
        <p:nvSpPr>
          <p:cNvPr id="10" name="Text 8"/>
          <p:cNvSpPr/>
          <p:nvPr/>
        </p:nvSpPr>
        <p:spPr>
          <a:xfrm>
            <a:off x="4297680" y="1874520"/>
            <a:ext cx="3566160" cy="731520"/>
          </a:xfrm>
          <a:prstGeom prst="rect">
            <a:avLst/>
          </a:prstGeom>
          <a:noFill/>
          <a:ln/>
        </p:spPr>
        <p:txBody>
          <a:bodyPr wrap="square" lIns="0" tIns="0" rIns="0" bIns="0" rtlCol="0" anchor="ctr"/>
          <a:lstStyle/>
          <a:p>
            <a:pPr algn="ctr" indent="0" marL="0">
              <a:buNone/>
            </a:pPr>
            <a:r>
              <a:rPr lang="en-US" sz="3600" b="1" dirty="0">
                <a:solidFill>
                  <a:srgbClr val="76B900"/>
                </a:solidFill>
                <a:latin typeface="Calibri" pitchFamily="34" charset="0"/>
                <a:ea typeface="Calibri" pitchFamily="34" charset="-122"/>
                <a:cs typeface="Calibri" pitchFamily="34" charset="-120"/>
              </a:rPr>
              <a:t>60 menit</a:t>
            </a:r>
            <a:endParaRPr lang="en-US" sz="3600" dirty="0"/>
          </a:p>
        </p:txBody>
      </p:sp>
      <p:sp>
        <p:nvSpPr>
          <p:cNvPr id="11" name="Text 9"/>
          <p:cNvSpPr/>
          <p:nvPr/>
        </p:nvSpPr>
        <p:spPr>
          <a:xfrm>
            <a:off x="4297680" y="2606040"/>
            <a:ext cx="3566160" cy="411480"/>
          </a:xfrm>
          <a:prstGeom prst="rect">
            <a:avLst/>
          </a:prstGeom>
          <a:noFill/>
          <a:ln/>
        </p:spPr>
        <p:txBody>
          <a:bodyPr wrap="square" lIns="0" tIns="0" rIns="0" bIns="0" rtlCol="0" anchor="ctr"/>
          <a:lstStyle/>
          <a:p>
            <a:pPr algn="ctr" indent="0" marL="0">
              <a:buNone/>
            </a:pPr>
            <a:r>
              <a:rPr lang="en-US" sz="1700" dirty="0">
                <a:solidFill>
                  <a:srgbClr val="AAAACC"/>
                </a:solidFill>
                <a:latin typeface="Calibri" pitchFamily="34" charset="0"/>
                <a:ea typeface="Calibri" pitchFamily="34" charset="-122"/>
                <a:cs typeface="Calibri" pitchFamily="34" charset="-120"/>
              </a:rPr>
              <a:t>durasi ujian</a:t>
            </a:r>
            <a:endParaRPr lang="en-US" sz="1700" dirty="0"/>
          </a:p>
        </p:txBody>
      </p:sp>
      <p:sp>
        <p:nvSpPr>
          <p:cNvPr id="12" name="Shape 10"/>
          <p:cNvSpPr/>
          <p:nvPr/>
        </p:nvSpPr>
        <p:spPr>
          <a:xfrm>
            <a:off x="8046720" y="1600200"/>
            <a:ext cx="3566160" cy="1691640"/>
          </a:xfrm>
          <a:prstGeom prst="roundRect">
            <a:avLst>
              <a:gd name="adj" fmla="val 4324"/>
            </a:avLst>
          </a:prstGeom>
          <a:solidFill>
            <a:srgbClr val="2D2D44"/>
          </a:solidFill>
          <a:ln w="12700">
            <a:solidFill>
              <a:srgbClr val="2D2D44"/>
            </a:solidFill>
            <a:prstDash val="solid"/>
          </a:ln>
        </p:spPr>
      </p:sp>
      <p:sp>
        <p:nvSpPr>
          <p:cNvPr id="13" name="Text 11"/>
          <p:cNvSpPr/>
          <p:nvPr/>
        </p:nvSpPr>
        <p:spPr>
          <a:xfrm>
            <a:off x="8046720" y="1874520"/>
            <a:ext cx="3566160" cy="731520"/>
          </a:xfrm>
          <a:prstGeom prst="rect">
            <a:avLst/>
          </a:prstGeom>
          <a:noFill/>
          <a:ln/>
        </p:spPr>
        <p:txBody>
          <a:bodyPr wrap="square" lIns="0" tIns="0" rIns="0" bIns="0" rtlCol="0" anchor="ctr"/>
          <a:lstStyle/>
          <a:p>
            <a:pPr algn="ctr" indent="0" marL="0">
              <a:buNone/>
            </a:pPr>
            <a:r>
              <a:rPr lang="en-US" sz="3600" b="1" dirty="0">
                <a:solidFill>
                  <a:srgbClr val="76B900"/>
                </a:solidFill>
                <a:latin typeface="Calibri" pitchFamily="34" charset="0"/>
                <a:ea typeface="Calibri" pitchFamily="34" charset="-122"/>
                <a:cs typeface="Calibri" pitchFamily="34" charset="-120"/>
              </a:rPr>
              <a:t>$125</a:t>
            </a:r>
            <a:endParaRPr lang="en-US" sz="3600" dirty="0"/>
          </a:p>
        </p:txBody>
      </p:sp>
      <p:sp>
        <p:nvSpPr>
          <p:cNvPr id="14" name="Text 12"/>
          <p:cNvSpPr/>
          <p:nvPr/>
        </p:nvSpPr>
        <p:spPr>
          <a:xfrm>
            <a:off x="8046720" y="2606040"/>
            <a:ext cx="3566160" cy="411480"/>
          </a:xfrm>
          <a:prstGeom prst="rect">
            <a:avLst/>
          </a:prstGeom>
          <a:noFill/>
          <a:ln/>
        </p:spPr>
        <p:txBody>
          <a:bodyPr wrap="square" lIns="0" tIns="0" rIns="0" bIns="0" rtlCol="0" anchor="ctr"/>
          <a:lstStyle/>
          <a:p>
            <a:pPr algn="ctr" indent="0" marL="0">
              <a:buNone/>
            </a:pPr>
            <a:r>
              <a:rPr lang="en-US" sz="1700" dirty="0">
                <a:solidFill>
                  <a:srgbClr val="AAAACC"/>
                </a:solidFill>
                <a:latin typeface="Calibri" pitchFamily="34" charset="0"/>
                <a:ea typeface="Calibri" pitchFamily="34" charset="-122"/>
                <a:cs typeface="Calibri" pitchFamily="34" charset="-120"/>
              </a:rPr>
              <a:t>biaya ujian</a:t>
            </a:r>
            <a:endParaRPr lang="en-US" sz="1700" dirty="0"/>
          </a:p>
        </p:txBody>
      </p:sp>
      <p:sp>
        <p:nvSpPr>
          <p:cNvPr id="15" name="Shape 13"/>
          <p:cNvSpPr/>
          <p:nvPr/>
        </p:nvSpPr>
        <p:spPr>
          <a:xfrm>
            <a:off x="548640" y="3474720"/>
            <a:ext cx="3566160" cy="1691640"/>
          </a:xfrm>
          <a:prstGeom prst="roundRect">
            <a:avLst>
              <a:gd name="adj" fmla="val 4324"/>
            </a:avLst>
          </a:prstGeom>
          <a:solidFill>
            <a:srgbClr val="2D2D44"/>
          </a:solidFill>
          <a:ln w="12700">
            <a:solidFill>
              <a:srgbClr val="2D2D44"/>
            </a:solidFill>
            <a:prstDash val="solid"/>
          </a:ln>
        </p:spPr>
      </p:sp>
      <p:sp>
        <p:nvSpPr>
          <p:cNvPr id="16" name="Text 14"/>
          <p:cNvSpPr/>
          <p:nvPr/>
        </p:nvSpPr>
        <p:spPr>
          <a:xfrm>
            <a:off x="548640" y="3749040"/>
            <a:ext cx="3566160" cy="731520"/>
          </a:xfrm>
          <a:prstGeom prst="rect">
            <a:avLst/>
          </a:prstGeom>
          <a:noFill/>
          <a:ln/>
        </p:spPr>
        <p:txBody>
          <a:bodyPr wrap="square" lIns="0" tIns="0" rIns="0" bIns="0" rtlCol="0" anchor="ctr"/>
          <a:lstStyle/>
          <a:p>
            <a:pPr algn="ctr" indent="0" marL="0">
              <a:buNone/>
            </a:pPr>
            <a:r>
              <a:rPr lang="en-US" sz="3600" b="1" dirty="0">
                <a:solidFill>
                  <a:srgbClr val="76B900"/>
                </a:solidFill>
                <a:latin typeface="Calibri" pitchFamily="34" charset="0"/>
                <a:ea typeface="Calibri" pitchFamily="34" charset="-122"/>
                <a:cs typeface="Calibri" pitchFamily="34" charset="-120"/>
              </a:rPr>
              <a:t>Online</a:t>
            </a:r>
            <a:endParaRPr lang="en-US" sz="3600" dirty="0"/>
          </a:p>
        </p:txBody>
      </p:sp>
      <p:sp>
        <p:nvSpPr>
          <p:cNvPr id="17" name="Text 15"/>
          <p:cNvSpPr/>
          <p:nvPr/>
        </p:nvSpPr>
        <p:spPr>
          <a:xfrm>
            <a:off x="548640" y="4480560"/>
            <a:ext cx="3566160" cy="411480"/>
          </a:xfrm>
          <a:prstGeom prst="rect">
            <a:avLst/>
          </a:prstGeom>
          <a:noFill/>
          <a:ln/>
        </p:spPr>
        <p:txBody>
          <a:bodyPr wrap="square" lIns="0" tIns="0" rIns="0" bIns="0" rtlCol="0" anchor="ctr"/>
          <a:lstStyle/>
          <a:p>
            <a:pPr algn="ctr" indent="0" marL="0">
              <a:buNone/>
            </a:pPr>
            <a:r>
              <a:rPr lang="en-US" sz="1700" dirty="0">
                <a:solidFill>
                  <a:srgbClr val="AAAACC"/>
                </a:solidFill>
                <a:latin typeface="Calibri" pitchFamily="34" charset="0"/>
                <a:ea typeface="Calibri" pitchFamily="34" charset="-122"/>
                <a:cs typeface="Calibri" pitchFamily="34" charset="-120"/>
              </a:rPr>
              <a:t>proctored secara remote</a:t>
            </a:r>
            <a:endParaRPr lang="en-US" sz="1700" dirty="0"/>
          </a:p>
        </p:txBody>
      </p:sp>
      <p:sp>
        <p:nvSpPr>
          <p:cNvPr id="18" name="Shape 16"/>
          <p:cNvSpPr/>
          <p:nvPr/>
        </p:nvSpPr>
        <p:spPr>
          <a:xfrm>
            <a:off x="4297680" y="3474720"/>
            <a:ext cx="3566160" cy="1691640"/>
          </a:xfrm>
          <a:prstGeom prst="roundRect">
            <a:avLst>
              <a:gd name="adj" fmla="val 4324"/>
            </a:avLst>
          </a:prstGeom>
          <a:solidFill>
            <a:srgbClr val="2D2D44"/>
          </a:solidFill>
          <a:ln w="12700">
            <a:solidFill>
              <a:srgbClr val="2D2D44"/>
            </a:solidFill>
            <a:prstDash val="solid"/>
          </a:ln>
        </p:spPr>
      </p:sp>
      <p:sp>
        <p:nvSpPr>
          <p:cNvPr id="19" name="Text 17"/>
          <p:cNvSpPr/>
          <p:nvPr/>
        </p:nvSpPr>
        <p:spPr>
          <a:xfrm>
            <a:off x="4297680" y="3749040"/>
            <a:ext cx="3566160" cy="731520"/>
          </a:xfrm>
          <a:prstGeom prst="rect">
            <a:avLst/>
          </a:prstGeom>
          <a:noFill/>
          <a:ln/>
        </p:spPr>
        <p:txBody>
          <a:bodyPr wrap="square" lIns="0" tIns="0" rIns="0" bIns="0" rtlCol="0" anchor="ctr"/>
          <a:lstStyle/>
          <a:p>
            <a:pPr algn="ctr" indent="0" marL="0">
              <a:buNone/>
            </a:pPr>
            <a:r>
              <a:rPr lang="en-US" sz="3600" b="1" dirty="0">
                <a:solidFill>
                  <a:srgbClr val="76B900"/>
                </a:solidFill>
                <a:latin typeface="Calibri" pitchFamily="34" charset="0"/>
                <a:ea typeface="Calibri" pitchFamily="34" charset="-122"/>
                <a:cs typeface="Calibri" pitchFamily="34" charset="-120"/>
              </a:rPr>
              <a:t>Inggris</a:t>
            </a:r>
            <a:endParaRPr lang="en-US" sz="3600" dirty="0"/>
          </a:p>
        </p:txBody>
      </p:sp>
      <p:sp>
        <p:nvSpPr>
          <p:cNvPr id="20" name="Text 18"/>
          <p:cNvSpPr/>
          <p:nvPr/>
        </p:nvSpPr>
        <p:spPr>
          <a:xfrm>
            <a:off x="4297680" y="4480560"/>
            <a:ext cx="3566160" cy="411480"/>
          </a:xfrm>
          <a:prstGeom prst="rect">
            <a:avLst/>
          </a:prstGeom>
          <a:noFill/>
          <a:ln/>
        </p:spPr>
        <p:txBody>
          <a:bodyPr wrap="square" lIns="0" tIns="0" rIns="0" bIns="0" rtlCol="0" anchor="ctr"/>
          <a:lstStyle/>
          <a:p>
            <a:pPr algn="ctr" indent="0" marL="0">
              <a:buNone/>
            </a:pPr>
            <a:r>
              <a:rPr lang="en-US" sz="1700" dirty="0">
                <a:solidFill>
                  <a:srgbClr val="AAAACC"/>
                </a:solidFill>
                <a:latin typeface="Calibri" pitchFamily="34" charset="0"/>
                <a:ea typeface="Calibri" pitchFamily="34" charset="-122"/>
                <a:cs typeface="Calibri" pitchFamily="34" charset="-120"/>
              </a:rPr>
              <a:t>bahasa soal</a:t>
            </a:r>
            <a:endParaRPr lang="en-US" sz="1700" dirty="0"/>
          </a:p>
        </p:txBody>
      </p:sp>
      <p:sp>
        <p:nvSpPr>
          <p:cNvPr id="21" name="Shape 19"/>
          <p:cNvSpPr/>
          <p:nvPr/>
        </p:nvSpPr>
        <p:spPr>
          <a:xfrm>
            <a:off x="8046720" y="3474720"/>
            <a:ext cx="3566160" cy="1691640"/>
          </a:xfrm>
          <a:prstGeom prst="roundRect">
            <a:avLst>
              <a:gd name="adj" fmla="val 4324"/>
            </a:avLst>
          </a:prstGeom>
          <a:solidFill>
            <a:srgbClr val="2D2D44"/>
          </a:solidFill>
          <a:ln w="12700">
            <a:solidFill>
              <a:srgbClr val="2D2D44"/>
            </a:solidFill>
            <a:prstDash val="solid"/>
          </a:ln>
        </p:spPr>
      </p:sp>
      <p:sp>
        <p:nvSpPr>
          <p:cNvPr id="22" name="Text 20"/>
          <p:cNvSpPr/>
          <p:nvPr/>
        </p:nvSpPr>
        <p:spPr>
          <a:xfrm>
            <a:off x="8046720" y="3749040"/>
            <a:ext cx="3566160" cy="731520"/>
          </a:xfrm>
          <a:prstGeom prst="rect">
            <a:avLst/>
          </a:prstGeom>
          <a:noFill/>
          <a:ln/>
        </p:spPr>
        <p:txBody>
          <a:bodyPr wrap="square" lIns="0" tIns="0" rIns="0" bIns="0" rtlCol="0" anchor="ctr"/>
          <a:lstStyle/>
          <a:p>
            <a:pPr algn="ctr" indent="0" marL="0">
              <a:buNone/>
            </a:pPr>
            <a:r>
              <a:rPr lang="en-US" sz="3600" b="1" dirty="0">
                <a:solidFill>
                  <a:srgbClr val="76B900"/>
                </a:solidFill>
                <a:latin typeface="Calibri" pitchFamily="34" charset="0"/>
                <a:ea typeface="Calibri" pitchFamily="34" charset="-122"/>
                <a:cs typeface="Calibri" pitchFamily="34" charset="-120"/>
              </a:rPr>
              <a:t>2 tahun</a:t>
            </a:r>
            <a:endParaRPr lang="en-US" sz="3600" dirty="0"/>
          </a:p>
        </p:txBody>
      </p:sp>
      <p:sp>
        <p:nvSpPr>
          <p:cNvPr id="23" name="Text 21"/>
          <p:cNvSpPr/>
          <p:nvPr/>
        </p:nvSpPr>
        <p:spPr>
          <a:xfrm>
            <a:off x="8046720" y="4480560"/>
            <a:ext cx="3566160" cy="411480"/>
          </a:xfrm>
          <a:prstGeom prst="rect">
            <a:avLst/>
          </a:prstGeom>
          <a:noFill/>
          <a:ln/>
        </p:spPr>
        <p:txBody>
          <a:bodyPr wrap="square" lIns="0" tIns="0" rIns="0" bIns="0" rtlCol="0" anchor="ctr"/>
          <a:lstStyle/>
          <a:p>
            <a:pPr algn="ctr" indent="0" marL="0">
              <a:buNone/>
            </a:pPr>
            <a:r>
              <a:rPr lang="en-US" sz="1700" dirty="0">
                <a:solidFill>
                  <a:srgbClr val="AAAACC"/>
                </a:solidFill>
                <a:latin typeface="Calibri" pitchFamily="34" charset="0"/>
                <a:ea typeface="Calibri" pitchFamily="34" charset="-122"/>
                <a:cs typeface="Calibri" pitchFamily="34" charset="-120"/>
              </a:rPr>
              <a:t>masa berlaku</a:t>
            </a:r>
            <a:endParaRPr lang="en-US" sz="1700" dirty="0"/>
          </a:p>
        </p:txBody>
      </p:sp>
      <p:sp>
        <p:nvSpPr>
          <p:cNvPr id="24" name="Shape 22"/>
          <p:cNvSpPr/>
          <p:nvPr/>
        </p:nvSpPr>
        <p:spPr>
          <a:xfrm>
            <a:off x="548640" y="5669280"/>
            <a:ext cx="73152" cy="502920"/>
          </a:xfrm>
          <a:prstGeom prst="rect">
            <a:avLst/>
          </a:prstGeom>
          <a:solidFill>
            <a:srgbClr val="FF6F00"/>
          </a:solidFill>
          <a:ln/>
        </p:spPr>
      </p:sp>
      <p:sp>
        <p:nvSpPr>
          <p:cNvPr id="25" name="Text 23"/>
          <p:cNvSpPr/>
          <p:nvPr/>
        </p:nvSpPr>
        <p:spPr>
          <a:xfrm>
            <a:off x="777240" y="5669280"/>
            <a:ext cx="10881360" cy="502920"/>
          </a:xfrm>
          <a:prstGeom prst="rect">
            <a:avLst/>
          </a:prstGeom>
          <a:noFill/>
          <a:ln/>
        </p:spPr>
        <p:txBody>
          <a:bodyPr wrap="square" lIns="0" tIns="0" rIns="0" bIns="0" rtlCol="0" anchor="ctr"/>
          <a:lstStyle/>
          <a:p>
            <a:pPr indent="0" marL="0">
              <a:buNone/>
            </a:pPr>
            <a:r>
              <a:rPr lang="en-US" sz="1700" b="1" dirty="0">
                <a:solidFill>
                  <a:srgbClr val="FF6F00"/>
                </a:solidFill>
                <a:latin typeface="Calibri" pitchFamily="34" charset="0"/>
                <a:ea typeface="Calibri" pitchFamily="34" charset="-122"/>
                <a:cs typeface="Calibri" pitchFamily="34" charset="-120"/>
              </a:rPr>
              <a:t>Passing score tidak dipublikasikan NVIDIA. Abaikan angka dari sumber tak resmi.</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1 · Lulus NCA-GENL</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Modul bootcamp → domain ujian</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931920"/>
                <a:gridCol w="1005840"/>
                <a:gridCol w="4572000"/>
                <a:gridCol w="1554480"/>
              </a:tblGrid>
              <a:tr h="0">
                <a:tc>
                  <a:txBody>
                    <a:bodyPr/>
                    <a:lstStyle/>
                    <a:p>
                      <a:pPr indent="0" marL="0">
                        <a:buNone/>
                      </a:pPr>
                      <a:r>
                        <a:rPr lang="en-US" sz="1600" b="1" dirty="0">
                          <a:solidFill>
                            <a:srgbClr val="1A1A2E"/>
                          </a:solidFill>
                          <a:latin typeface="Calibri" pitchFamily="34" charset="0"/>
                          <a:ea typeface="Calibri" pitchFamily="34" charset="-122"/>
                          <a:cs typeface="Calibri" pitchFamily="34" charset="-120"/>
                        </a:rPr>
                        <a:t>Domain ujian</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76B900"/>
                    </a:solidFill>
                  </a:tcPr>
                </a:tc>
                <a:tc>
                  <a:txBody>
                    <a:bodyPr/>
                    <a:lstStyle/>
                    <a:p>
                      <a:pPr indent="0" marL="0">
                        <a:buNone/>
                      </a:pPr>
                      <a:r>
                        <a:rPr lang="en-US" sz="1600" b="1" dirty="0">
                          <a:solidFill>
                            <a:srgbClr val="1A1A2E"/>
                          </a:solidFill>
                          <a:latin typeface="Calibri" pitchFamily="34" charset="0"/>
                          <a:ea typeface="Calibri" pitchFamily="34" charset="-122"/>
                          <a:cs typeface="Calibri" pitchFamily="34" charset="-120"/>
                        </a:rPr>
                        <a:t>Bobot</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76B900"/>
                    </a:solidFill>
                  </a:tcPr>
                </a:tc>
                <a:tc>
                  <a:txBody>
                    <a:bodyPr/>
                    <a:lstStyle/>
                    <a:p>
                      <a:pPr indent="0" marL="0">
                        <a:buNone/>
                      </a:pPr>
                      <a:r>
                        <a:rPr lang="en-US" sz="1600" b="1" dirty="0">
                          <a:solidFill>
                            <a:srgbClr val="1A1A2E"/>
                          </a:solidFill>
                          <a:latin typeface="Calibri" pitchFamily="34" charset="0"/>
                          <a:ea typeface="Calibri" pitchFamily="34" charset="-122"/>
                          <a:cs typeface="Calibri" pitchFamily="34" charset="-120"/>
                        </a:rPr>
                        <a:t>Dibahas di modul</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76B900"/>
                    </a:solidFill>
                  </a:tcPr>
                </a:tc>
                <a:tc>
                  <a:txBody>
                    <a:bodyPr/>
                    <a:lstStyle/>
                    <a:p>
                      <a:pPr indent="0" marL="0">
                        <a:buNone/>
                      </a:pPr>
                      <a:r>
                        <a:rPr lang="en-US" sz="1600" b="1" dirty="0">
                          <a:solidFill>
                            <a:srgbClr val="1A1A2E"/>
                          </a:solidFill>
                          <a:latin typeface="Calibri" pitchFamily="34" charset="0"/>
                          <a:ea typeface="Calibri" pitchFamily="34" charset="-122"/>
                          <a:cs typeface="Calibri" pitchFamily="34" charset="-120"/>
                        </a:rPr>
                        <a:t>Status</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76B900"/>
                    </a:solidFill>
                  </a:tcPr>
                </a:tc>
              </a:tr>
              <a:tr h="0">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Core Machine Learning &amp; AI Knowledge</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30%</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M01 ML, M02 DL, M04 transformer &amp; LLM</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b="1" dirty="0">
                          <a:solidFill>
                            <a:srgbClr val="76B900"/>
                          </a:solidFill>
                          <a:latin typeface="Calibri" pitchFamily="34" charset="0"/>
                          <a:ea typeface="Calibri" pitchFamily="34" charset="-122"/>
                          <a:cs typeface="Calibri" pitchFamily="34" charset="-120"/>
                        </a:rPr>
                        <a:t>Tercakup</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r>
              <a:tr h="0">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Software Development</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24%</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M04 produksi LLM, M05 RAG API, M06 serving</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600" b="1" dirty="0">
                          <a:solidFill>
                            <a:srgbClr val="76B900"/>
                          </a:solidFill>
                          <a:latin typeface="Calibri" pitchFamily="34" charset="0"/>
                          <a:ea typeface="Calibri" pitchFamily="34" charset="-122"/>
                          <a:cs typeface="Calibri" pitchFamily="34" charset="-120"/>
                        </a:rPr>
                        <a:t>Tercakup</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r>
              <a:tr h="0">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Experimentation</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22%</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M04 LoRA &amp; evaluasi, M05 RAGAS</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b="1" dirty="0">
                          <a:solidFill>
                            <a:srgbClr val="FF6F00"/>
                          </a:solidFill>
                          <a:latin typeface="Calibri" pitchFamily="34" charset="0"/>
                          <a:ea typeface="Calibri" pitchFamily="34" charset="-122"/>
                          <a:cs typeface="Calibri" pitchFamily="34" charset="-120"/>
                        </a:rPr>
                        <a:t>Sebagian</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r>
              <a:tr h="0">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Data Analysis &amp; Visualization</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M01 EDA, M03 NLP, RAPIDS</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600" b="1" dirty="0">
                          <a:solidFill>
                            <a:srgbClr val="76B900"/>
                          </a:solidFill>
                          <a:latin typeface="Calibri" pitchFamily="34" charset="0"/>
                          <a:ea typeface="Calibri" pitchFamily="34" charset="-122"/>
                          <a:cs typeface="Calibri" pitchFamily="34" charset="-120"/>
                        </a:rPr>
                        <a:t>Tercakup</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r>
              <a:tr h="0">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Trustworthy AI</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dirty="0">
                          <a:solidFill>
                            <a:srgbClr val="FFFFFF"/>
                          </a:solidFill>
                          <a:latin typeface="Calibri" pitchFamily="34" charset="0"/>
                          <a:ea typeface="Calibri" pitchFamily="34" charset="-122"/>
                          <a:cs typeface="Calibri" pitchFamily="34" charset="-120"/>
                        </a:rPr>
                        <a:t>M06 fairness, guardrails, privasi</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600" b="1" dirty="0">
                          <a:solidFill>
                            <a:srgbClr val="76B900"/>
                          </a:solidFill>
                          <a:latin typeface="Calibri" pitchFamily="34" charset="0"/>
                          <a:ea typeface="Calibri" pitchFamily="34" charset="-122"/>
                          <a:cs typeface="Calibri" pitchFamily="34" charset="-120"/>
                        </a:rPr>
                        <a:t>Tercakup</a:t>
                      </a:r>
                      <a:endParaRPr lang="en-US" sz="16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r>
            </a:tbl>
          </a:graphicData>
        </a:graphic>
      </p:graphicFrame>
      <p:sp>
        <p:nvSpPr>
          <p:cNvPr id="7" name="Shape 4"/>
          <p:cNvSpPr/>
          <p:nvPr/>
        </p:nvSpPr>
        <p:spPr>
          <a:xfrm>
            <a:off x="548640" y="5669280"/>
            <a:ext cx="73152" cy="502920"/>
          </a:xfrm>
          <a:prstGeom prst="rect">
            <a:avLst/>
          </a:prstGeom>
          <a:solidFill>
            <a:srgbClr val="A3D944"/>
          </a:solidFill>
          <a:ln/>
        </p:spPr>
      </p:sp>
      <p:sp>
        <p:nvSpPr>
          <p:cNvPr id="8" name="Text 5"/>
          <p:cNvSpPr/>
          <p:nvPr/>
        </p:nvSpPr>
        <p:spPr>
          <a:xfrm>
            <a:off x="777240" y="5669280"/>
            <a:ext cx="10881360" cy="502920"/>
          </a:xfrm>
          <a:prstGeom prst="rect">
            <a:avLst/>
          </a:prstGeom>
          <a:noFill/>
          <a:ln/>
        </p:spPr>
        <p:txBody>
          <a:bodyPr wrap="square" lIns="0" tIns="0" rIns="0" bIns="0" rtlCol="0" anchor="ctr"/>
          <a:lstStyle/>
          <a:p>
            <a:pPr indent="0" marL="0">
              <a:buNone/>
            </a:pPr>
            <a:r>
              <a:rPr lang="en-US" sz="1700" b="1" dirty="0">
                <a:solidFill>
                  <a:srgbClr val="A3D944"/>
                </a:solidFill>
                <a:latin typeface="Calibri" pitchFamily="34" charset="0"/>
                <a:ea typeface="Calibri" pitchFamily="34" charset="-122"/>
                <a:cs typeface="Calibri" pitchFamily="34" charset="-120"/>
              </a:rPr>
              <a:t>Celah terbesar ada di Experimentation: bobotnya 22%, tapi baru tercakup sebagian.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1 · Lulus NCA-GENL</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Topik tipis: pelajari sendiri</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5</a:t>
            </a:r>
            <a:endParaRPr lang="en-US" sz="1000" dirty="0"/>
          </a:p>
        </p:txBody>
      </p:sp>
      <p:sp>
        <p:nvSpPr>
          <p:cNvPr id="6" name="Shape 4"/>
          <p:cNvSpPr/>
          <p:nvPr/>
        </p:nvSpPr>
        <p:spPr>
          <a:xfrm>
            <a:off x="548640" y="1600200"/>
            <a:ext cx="5440680" cy="1828800"/>
          </a:xfrm>
          <a:prstGeom prst="roundRect">
            <a:avLst>
              <a:gd name="adj" fmla="val 4000"/>
            </a:avLst>
          </a:prstGeom>
          <a:solidFill>
            <a:srgbClr val="2D2D44"/>
          </a:solidFill>
          <a:ln w="19050">
            <a:solidFill>
              <a:srgbClr val="FF6F00"/>
            </a:solidFill>
            <a:prstDash val="solid"/>
          </a:ln>
        </p:spPr>
      </p:sp>
      <p:sp>
        <p:nvSpPr>
          <p:cNvPr id="7" name="Text 5"/>
          <p:cNvSpPr/>
          <p:nvPr/>
        </p:nvSpPr>
        <p:spPr>
          <a:xfrm>
            <a:off x="777240" y="1783080"/>
            <a:ext cx="4983480" cy="411480"/>
          </a:xfrm>
          <a:prstGeom prst="rect">
            <a:avLst/>
          </a:prstGeom>
          <a:noFill/>
          <a:ln/>
        </p:spPr>
        <p:txBody>
          <a:bodyPr wrap="square" lIns="0" tIns="0" rIns="0" bIns="0" rtlCol="0" anchor="ctr"/>
          <a:lstStyle/>
          <a:p>
            <a:pPr indent="0" marL="0">
              <a:buNone/>
            </a:pPr>
            <a:r>
              <a:rPr lang="en-US" sz="1800" b="1" dirty="0">
                <a:solidFill>
                  <a:srgbClr val="FF6F00"/>
                </a:solidFill>
                <a:latin typeface="Calibri" pitchFamily="34" charset="0"/>
                <a:ea typeface="Calibri" pitchFamily="34" charset="-122"/>
                <a:cs typeface="Calibri" pitchFamily="34" charset="-120"/>
              </a:rPr>
              <a:t>Alignment: RLHF &amp; DPO</a:t>
            </a:r>
            <a:endParaRPr lang="en-US" sz="1800" dirty="0"/>
          </a:p>
        </p:txBody>
      </p:sp>
      <p:sp>
        <p:nvSpPr>
          <p:cNvPr id="8" name="Text 6"/>
          <p:cNvSpPr/>
          <p:nvPr/>
        </p:nvSpPr>
        <p:spPr>
          <a:xfrm>
            <a:off x="777240" y="228600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Kenapa model chat mengikuti instruksi.</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Reward model, data preferensi, beda RLHF dan DPO.</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Alignment disebut di topik resmi.</a:t>
            </a:r>
            <a:endParaRPr lang="en-US" sz="1600" dirty="0"/>
          </a:p>
        </p:txBody>
      </p:sp>
      <p:sp>
        <p:nvSpPr>
          <p:cNvPr id="9" name="Shape 7"/>
          <p:cNvSpPr/>
          <p:nvPr/>
        </p:nvSpPr>
        <p:spPr>
          <a:xfrm>
            <a:off x="6172200" y="1600200"/>
            <a:ext cx="5440680" cy="1828800"/>
          </a:xfrm>
          <a:prstGeom prst="roundRect">
            <a:avLst>
              <a:gd name="adj" fmla="val 4000"/>
            </a:avLst>
          </a:prstGeom>
          <a:solidFill>
            <a:srgbClr val="2D2D44"/>
          </a:solidFill>
          <a:ln w="19050">
            <a:solidFill>
              <a:srgbClr val="FF6F00"/>
            </a:solidFill>
            <a:prstDash val="solid"/>
          </a:ln>
        </p:spPr>
      </p:sp>
      <p:sp>
        <p:nvSpPr>
          <p:cNvPr id="10" name="Text 8"/>
          <p:cNvSpPr/>
          <p:nvPr/>
        </p:nvSpPr>
        <p:spPr>
          <a:xfrm>
            <a:off x="6400800" y="1783080"/>
            <a:ext cx="4983480" cy="411480"/>
          </a:xfrm>
          <a:prstGeom prst="rect">
            <a:avLst/>
          </a:prstGeom>
          <a:noFill/>
          <a:ln/>
        </p:spPr>
        <p:txBody>
          <a:bodyPr wrap="square" lIns="0" tIns="0" rIns="0" bIns="0" rtlCol="0" anchor="ctr"/>
          <a:lstStyle/>
          <a:p>
            <a:pPr indent="0" marL="0">
              <a:buNone/>
            </a:pPr>
            <a:r>
              <a:rPr lang="en-US" sz="1800" b="1" dirty="0">
                <a:solidFill>
                  <a:srgbClr val="FF6F00"/>
                </a:solidFill>
                <a:latin typeface="Calibri" pitchFamily="34" charset="0"/>
                <a:ea typeface="Calibri" pitchFamily="34" charset="-122"/>
                <a:cs typeface="Calibri" pitchFamily="34" charset="-120"/>
              </a:rPr>
              <a:t>Desain eksperimen</a:t>
            </a:r>
            <a:endParaRPr lang="en-US" sz="1800" dirty="0"/>
          </a:p>
        </p:txBody>
      </p:sp>
      <p:sp>
        <p:nvSpPr>
          <p:cNvPr id="11" name="Text 9"/>
          <p:cNvSpPr/>
          <p:nvPr/>
        </p:nvSpPr>
        <p:spPr>
          <a:xfrm>
            <a:off x="6400800" y="228600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Baseline, satu variabel per percobaan.</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A/B test dan experiment tracking.</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Bagian dari domain Experimentation (22%).</a:t>
            </a:r>
            <a:endParaRPr lang="en-US" sz="1600" dirty="0"/>
          </a:p>
        </p:txBody>
      </p:sp>
      <p:sp>
        <p:nvSpPr>
          <p:cNvPr id="12" name="Shape 10"/>
          <p:cNvSpPr/>
          <p:nvPr/>
        </p:nvSpPr>
        <p:spPr>
          <a:xfrm>
            <a:off x="548640" y="3611880"/>
            <a:ext cx="5440680" cy="1828800"/>
          </a:xfrm>
          <a:prstGeom prst="roundRect">
            <a:avLst>
              <a:gd name="adj" fmla="val 4000"/>
            </a:avLst>
          </a:prstGeom>
          <a:solidFill>
            <a:srgbClr val="2D2D44"/>
          </a:solidFill>
          <a:ln w="19050">
            <a:solidFill>
              <a:srgbClr val="42A5F5"/>
            </a:solidFill>
            <a:prstDash val="solid"/>
          </a:ln>
        </p:spPr>
      </p:sp>
      <p:sp>
        <p:nvSpPr>
          <p:cNvPr id="13" name="Text 11"/>
          <p:cNvSpPr/>
          <p:nvPr/>
        </p:nvSpPr>
        <p:spPr>
          <a:xfrm>
            <a:off x="777240" y="3794760"/>
            <a:ext cx="4983480" cy="411480"/>
          </a:xfrm>
          <a:prstGeom prst="rect">
            <a:avLst/>
          </a:prstGeom>
          <a:noFill/>
          <a:ln/>
        </p:spPr>
        <p:txBody>
          <a:bodyPr wrap="square" lIns="0" tIns="0" rIns="0" bIns="0" rtlCol="0" anchor="ctr"/>
          <a:lstStyle/>
          <a:p>
            <a:pPr indent="0" marL="0">
              <a:buNone/>
            </a:pPr>
            <a:r>
              <a:rPr lang="en-US" sz="1800" b="1" dirty="0">
                <a:solidFill>
                  <a:srgbClr val="42A5F5"/>
                </a:solidFill>
                <a:latin typeface="Calibri" pitchFamily="34" charset="0"/>
                <a:ea typeface="Calibri" pitchFamily="34" charset="-122"/>
                <a:cs typeface="Calibri" pitchFamily="34" charset="-120"/>
              </a:rPr>
              <a:t>NeMo Framework</a:t>
            </a:r>
            <a:endParaRPr lang="en-US" sz="1800" dirty="0"/>
          </a:p>
        </p:txBody>
      </p:sp>
      <p:sp>
        <p:nvSpPr>
          <p:cNvPr id="14" name="Text 12"/>
          <p:cNvSpPr/>
          <p:nvPr/>
        </p:nvSpPr>
        <p:spPr>
          <a:xfrm>
            <a:off x="777240" y="429768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Kamu sudah memakai NeMo Guardrails.</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Pelajari juga NeMo untuk training dan kustomisasi model.</a:t>
            </a:r>
            <a:endParaRPr lang="en-US" sz="1600" dirty="0"/>
          </a:p>
        </p:txBody>
      </p:sp>
      <p:sp>
        <p:nvSpPr>
          <p:cNvPr id="15" name="Shape 13"/>
          <p:cNvSpPr/>
          <p:nvPr/>
        </p:nvSpPr>
        <p:spPr>
          <a:xfrm>
            <a:off x="6172200" y="3611880"/>
            <a:ext cx="5440680" cy="1828800"/>
          </a:xfrm>
          <a:prstGeom prst="roundRect">
            <a:avLst>
              <a:gd name="adj" fmla="val 4000"/>
            </a:avLst>
          </a:prstGeom>
          <a:solidFill>
            <a:srgbClr val="2D2D44"/>
          </a:solidFill>
          <a:ln w="19050">
            <a:solidFill>
              <a:srgbClr val="42A5F5"/>
            </a:solidFill>
            <a:prstDash val="solid"/>
          </a:ln>
        </p:spPr>
      </p:sp>
      <p:sp>
        <p:nvSpPr>
          <p:cNvPr id="16" name="Text 14"/>
          <p:cNvSpPr/>
          <p:nvPr/>
        </p:nvSpPr>
        <p:spPr>
          <a:xfrm>
            <a:off x="6400800" y="3794760"/>
            <a:ext cx="4983480" cy="411480"/>
          </a:xfrm>
          <a:prstGeom prst="rect">
            <a:avLst/>
          </a:prstGeom>
          <a:noFill/>
          <a:ln/>
        </p:spPr>
        <p:txBody>
          <a:bodyPr wrap="square" lIns="0" tIns="0" rIns="0" bIns="0" rtlCol="0" anchor="ctr"/>
          <a:lstStyle/>
          <a:p>
            <a:pPr indent="0" marL="0">
              <a:buNone/>
            </a:pPr>
            <a:r>
              <a:rPr lang="en-US" sz="1800" b="1" dirty="0">
                <a:solidFill>
                  <a:srgbClr val="42A5F5"/>
                </a:solidFill>
                <a:latin typeface="Calibri" pitchFamily="34" charset="0"/>
                <a:ea typeface="Calibri" pitchFamily="34" charset="-122"/>
                <a:cs typeface="Calibri" pitchFamily="34" charset="-120"/>
              </a:rPr>
              <a:t>Distributed training</a:t>
            </a:r>
            <a:endParaRPr lang="en-US" sz="1800" dirty="0"/>
          </a:p>
        </p:txBody>
      </p:sp>
      <p:sp>
        <p:nvSpPr>
          <p:cNvPr id="17" name="Text 15"/>
          <p:cNvSpPr/>
          <p:nvPr/>
        </p:nvSpPr>
        <p:spPr>
          <a:xfrm>
            <a:off x="6400800" y="429768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Kenapa model besar butuh banyak GPU.</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Data, tensor, dan pipeline parallelism.</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Cukup konsepnya, bukan implementasi.</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1 · Lulus NCA-GENL</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Urutan belajar: mulai dari celah terbesar</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6</a:t>
            </a:r>
            <a:endParaRPr lang="en-US" sz="1000" dirty="0"/>
          </a:p>
        </p:txBody>
      </p:sp>
      <p:sp>
        <p:nvSpPr>
          <p:cNvPr id="6" name="Shape 4"/>
          <p:cNvSpPr/>
          <p:nvPr/>
        </p:nvSpPr>
        <p:spPr>
          <a:xfrm>
            <a:off x="548640" y="1783080"/>
            <a:ext cx="731520" cy="731520"/>
          </a:xfrm>
          <a:prstGeom prst="ellipse">
            <a:avLst/>
          </a:prstGeom>
          <a:solidFill>
            <a:srgbClr val="76B900"/>
          </a:solidFill>
          <a:ln/>
        </p:spPr>
      </p:sp>
      <p:sp>
        <p:nvSpPr>
          <p:cNvPr id="7" name="Text 5"/>
          <p:cNvSpPr/>
          <p:nvPr/>
        </p:nvSpPr>
        <p:spPr>
          <a:xfrm>
            <a:off x="548640" y="1783080"/>
            <a:ext cx="731520" cy="731520"/>
          </a:xfrm>
          <a:prstGeom prst="rect">
            <a:avLst/>
          </a:prstGeom>
          <a:noFill/>
          <a:ln/>
        </p:spPr>
        <p:txBody>
          <a:bodyPr wrap="square" lIns="0" tIns="0" rIns="0" bIns="0" rtlCol="0" anchor="ctr"/>
          <a:lstStyle/>
          <a:p>
            <a:pPr algn="ctr" indent="0" marL="0">
              <a:buNone/>
            </a:pPr>
            <a:r>
              <a:rPr lang="en-US" sz="2600" b="1" dirty="0">
                <a:solidFill>
                  <a:srgbClr val="1A1A2E"/>
                </a:solidFill>
                <a:latin typeface="Calibri" pitchFamily="34" charset="0"/>
                <a:ea typeface="Calibri" pitchFamily="34" charset="-122"/>
                <a:cs typeface="Calibri" pitchFamily="34" charset="-120"/>
              </a:rPr>
              <a:t>1</a:t>
            </a:r>
            <a:endParaRPr lang="en-US" sz="2600" dirty="0"/>
          </a:p>
        </p:txBody>
      </p:sp>
      <p:sp>
        <p:nvSpPr>
          <p:cNvPr id="8" name="Text 6"/>
          <p:cNvSpPr/>
          <p:nvPr/>
        </p:nvSpPr>
        <p:spPr>
          <a:xfrm>
            <a:off x="1554480" y="1737360"/>
            <a:ext cx="10058400" cy="41148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Domain berbobot besar yang masih lemah</a:t>
            </a:r>
            <a:endParaRPr lang="en-US" sz="2100" dirty="0"/>
          </a:p>
        </p:txBody>
      </p:sp>
      <p:sp>
        <p:nvSpPr>
          <p:cNvPr id="9" name="Text 7"/>
          <p:cNvSpPr/>
          <p:nvPr/>
        </p:nvSpPr>
        <p:spPr>
          <a:xfrm>
            <a:off x="1554480" y="2148840"/>
            <a:ext cx="10058400" cy="365760"/>
          </a:xfrm>
          <a:prstGeom prst="rect">
            <a:avLst/>
          </a:prstGeom>
          <a:noFill/>
          <a:ln/>
        </p:spPr>
        <p:txBody>
          <a:bodyPr wrap="square" lIns="0" tIns="0" rIns="0" bIns="0" rtlCol="0" anchor="ctr"/>
          <a:lstStyle/>
          <a:p>
            <a:pPr indent="0" marL="0">
              <a:buNone/>
            </a:pPr>
            <a:r>
              <a:rPr lang="en-US" sz="1700" dirty="0">
                <a:solidFill>
                  <a:srgbClr val="AAAACC"/>
                </a:solidFill>
                <a:latin typeface="Calibri" pitchFamily="34" charset="0"/>
                <a:ea typeface="Calibri" pitchFamily="34" charset="-122"/>
                <a:cs typeface="Calibri" pitchFamily="34" charset="-120"/>
              </a:rPr>
              <a:t>Experimentation (22%), plus domain terlemahmu menurut pre-test.</a:t>
            </a:r>
            <a:endParaRPr lang="en-US" sz="1700" dirty="0"/>
          </a:p>
        </p:txBody>
      </p:sp>
      <p:sp>
        <p:nvSpPr>
          <p:cNvPr id="10" name="Shape 8"/>
          <p:cNvSpPr/>
          <p:nvPr/>
        </p:nvSpPr>
        <p:spPr>
          <a:xfrm>
            <a:off x="548640" y="3154680"/>
            <a:ext cx="731520" cy="731520"/>
          </a:xfrm>
          <a:prstGeom prst="ellipse">
            <a:avLst/>
          </a:prstGeom>
          <a:solidFill>
            <a:srgbClr val="76B900"/>
          </a:solidFill>
          <a:ln/>
        </p:spPr>
      </p:sp>
      <p:sp>
        <p:nvSpPr>
          <p:cNvPr id="11" name="Text 9"/>
          <p:cNvSpPr/>
          <p:nvPr/>
        </p:nvSpPr>
        <p:spPr>
          <a:xfrm>
            <a:off x="548640" y="3154680"/>
            <a:ext cx="731520" cy="731520"/>
          </a:xfrm>
          <a:prstGeom prst="rect">
            <a:avLst/>
          </a:prstGeom>
          <a:noFill/>
          <a:ln/>
        </p:spPr>
        <p:txBody>
          <a:bodyPr wrap="square" lIns="0" tIns="0" rIns="0" bIns="0" rtlCol="0" anchor="ctr"/>
          <a:lstStyle/>
          <a:p>
            <a:pPr algn="ctr" indent="0" marL="0">
              <a:buNone/>
            </a:pPr>
            <a:r>
              <a:rPr lang="en-US" sz="2600" b="1" dirty="0">
                <a:solidFill>
                  <a:srgbClr val="1A1A2E"/>
                </a:solidFill>
                <a:latin typeface="Calibri" pitchFamily="34" charset="0"/>
                <a:ea typeface="Calibri" pitchFamily="34" charset="-122"/>
                <a:cs typeface="Calibri" pitchFamily="34" charset="-120"/>
              </a:rPr>
              <a:t>2</a:t>
            </a:r>
            <a:endParaRPr lang="en-US" sz="2600" dirty="0"/>
          </a:p>
        </p:txBody>
      </p:sp>
      <p:sp>
        <p:nvSpPr>
          <p:cNvPr id="12" name="Text 10"/>
          <p:cNvSpPr/>
          <p:nvPr/>
        </p:nvSpPr>
        <p:spPr>
          <a:xfrm>
            <a:off x="1554480" y="3108960"/>
            <a:ext cx="10058400" cy="41148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Topik tipis</a:t>
            </a:r>
            <a:endParaRPr lang="en-US" sz="2100" dirty="0"/>
          </a:p>
        </p:txBody>
      </p:sp>
      <p:sp>
        <p:nvSpPr>
          <p:cNvPr id="13" name="Text 11"/>
          <p:cNvSpPr/>
          <p:nvPr/>
        </p:nvSpPr>
        <p:spPr>
          <a:xfrm>
            <a:off x="1554480" y="3520440"/>
            <a:ext cx="10058400" cy="365760"/>
          </a:xfrm>
          <a:prstGeom prst="rect">
            <a:avLst/>
          </a:prstGeom>
          <a:noFill/>
          <a:ln/>
        </p:spPr>
        <p:txBody>
          <a:bodyPr wrap="square" lIns="0" tIns="0" rIns="0" bIns="0" rtlCol="0" anchor="ctr"/>
          <a:lstStyle/>
          <a:p>
            <a:pPr indent="0" marL="0">
              <a:buNone/>
            </a:pPr>
            <a:r>
              <a:rPr lang="en-US" sz="1700" dirty="0">
                <a:solidFill>
                  <a:srgbClr val="AAAACC"/>
                </a:solidFill>
                <a:latin typeface="Calibri" pitchFamily="34" charset="0"/>
                <a:ea typeface="Calibri" pitchFamily="34" charset="-122"/>
                <a:cs typeface="Calibri" pitchFamily="34" charset="-120"/>
              </a:rPr>
              <a:t>Alignment, desain eksperimen, NeMo Framework, distributed training.</a:t>
            </a:r>
            <a:endParaRPr lang="en-US" sz="1700" dirty="0"/>
          </a:p>
        </p:txBody>
      </p:sp>
      <p:sp>
        <p:nvSpPr>
          <p:cNvPr id="14" name="Shape 12"/>
          <p:cNvSpPr/>
          <p:nvPr/>
        </p:nvSpPr>
        <p:spPr>
          <a:xfrm>
            <a:off x="548640" y="4526280"/>
            <a:ext cx="731520" cy="731520"/>
          </a:xfrm>
          <a:prstGeom prst="ellipse">
            <a:avLst/>
          </a:prstGeom>
          <a:solidFill>
            <a:srgbClr val="76B900"/>
          </a:solidFill>
          <a:ln/>
        </p:spPr>
      </p:sp>
      <p:sp>
        <p:nvSpPr>
          <p:cNvPr id="15" name="Text 13"/>
          <p:cNvSpPr/>
          <p:nvPr/>
        </p:nvSpPr>
        <p:spPr>
          <a:xfrm>
            <a:off x="548640" y="4526280"/>
            <a:ext cx="731520" cy="731520"/>
          </a:xfrm>
          <a:prstGeom prst="rect">
            <a:avLst/>
          </a:prstGeom>
          <a:noFill/>
          <a:ln/>
        </p:spPr>
        <p:txBody>
          <a:bodyPr wrap="square" lIns="0" tIns="0" rIns="0" bIns="0" rtlCol="0" anchor="ctr"/>
          <a:lstStyle/>
          <a:p>
            <a:pPr algn="ctr" indent="0" marL="0">
              <a:buNone/>
            </a:pPr>
            <a:r>
              <a:rPr lang="en-US" sz="2600" b="1" dirty="0">
                <a:solidFill>
                  <a:srgbClr val="1A1A2E"/>
                </a:solidFill>
                <a:latin typeface="Calibri" pitchFamily="34" charset="0"/>
                <a:ea typeface="Calibri" pitchFamily="34" charset="-122"/>
                <a:cs typeface="Calibri" pitchFamily="34" charset="-120"/>
              </a:rPr>
              <a:t>3</a:t>
            </a:r>
            <a:endParaRPr lang="en-US" sz="2600" dirty="0"/>
          </a:p>
        </p:txBody>
      </p:sp>
      <p:sp>
        <p:nvSpPr>
          <p:cNvPr id="16" name="Text 14"/>
          <p:cNvSpPr/>
          <p:nvPr/>
        </p:nvSpPr>
        <p:spPr>
          <a:xfrm>
            <a:off x="1554480" y="4480560"/>
            <a:ext cx="10058400" cy="41148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Latihan soal gaya ujian</a:t>
            </a:r>
            <a:endParaRPr lang="en-US" sz="2100" dirty="0"/>
          </a:p>
        </p:txBody>
      </p:sp>
      <p:sp>
        <p:nvSpPr>
          <p:cNvPr id="17" name="Text 15"/>
          <p:cNvSpPr/>
          <p:nvPr/>
        </p:nvSpPr>
        <p:spPr>
          <a:xfrm>
            <a:off x="1554480" y="4892040"/>
            <a:ext cx="10058400" cy="365760"/>
          </a:xfrm>
          <a:prstGeom prst="rect">
            <a:avLst/>
          </a:prstGeom>
          <a:noFill/>
          <a:ln/>
        </p:spPr>
        <p:txBody>
          <a:bodyPr wrap="square" lIns="0" tIns="0" rIns="0" bIns="0" rtlCol="0" anchor="ctr"/>
          <a:lstStyle/>
          <a:p>
            <a:pPr indent="0" marL="0">
              <a:buNone/>
            </a:pPr>
            <a:r>
              <a:rPr lang="en-US" sz="1700" dirty="0">
                <a:solidFill>
                  <a:srgbClr val="AAAACC"/>
                </a:solidFill>
                <a:latin typeface="Calibri" pitchFamily="34" charset="0"/>
                <a:ea typeface="Calibri" pitchFamily="34" charset="-122"/>
                <a:cs typeface="Calibri" pitchFamily="34" charset="-120"/>
              </a:rPr>
              <a:t>Soal berbahasa Inggris, pilih jawaban yang paling tepat.</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1 · Lulus NCA-GENL</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Taktik di hari ujian</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7</a:t>
            </a:r>
            <a:endParaRPr lang="en-US" sz="1000" dirty="0"/>
          </a:p>
        </p:txBody>
      </p:sp>
      <p:sp>
        <p:nvSpPr>
          <p:cNvPr id="6" name="Text 4"/>
          <p:cNvSpPr/>
          <p:nvPr/>
        </p:nvSpPr>
        <p:spPr>
          <a:xfrm>
            <a:off x="548640" y="1645920"/>
            <a:ext cx="11064240" cy="4480560"/>
          </a:xfrm>
          <a:prstGeom prst="rect">
            <a:avLst/>
          </a:prstGeom>
          <a:noFill/>
          <a:ln/>
        </p:spPr>
        <p:txBody>
          <a:bodyPr wrap="square" rtlCol="0" anchor="t"/>
          <a:lstStyle/>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Baca examination policy NVIDIA dan siapkan perangkat sebelum jadwal ujian.</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Rata-rata sekitar satu menit per soal. Jangan terpaku di satu soal.</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Perhatikan kata kunci soal: best, most likely, first, NOT.</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Singkirkan pilihan yang jelas salah, lalu bandingkan sisanya.</a:t>
            </a:r>
            <a:endParaRPr lang="en-US" sz="2200" dirty="0"/>
          </a:p>
          <a:p>
            <a:pPr marL="342900" indent="-342900">
              <a:spcAft>
                <a:spcPts val="1200"/>
              </a:spcAft>
              <a:buSzPct val="100000"/>
              <a:buChar char="•"/>
            </a:pPr>
            <a:r>
              <a:rPr lang="en-US" sz="2200" dirty="0">
                <a:solidFill>
                  <a:srgbClr val="FFFFFF"/>
                </a:solidFill>
                <a:latin typeface="Calibri" pitchFamily="34" charset="0"/>
                <a:ea typeface="Calibri" pitchFamily="34" charset="-122"/>
                <a:cs typeface="Calibri" pitchFamily="34" charset="-120"/>
              </a:rPr>
              <a:t>Pahami fungsi tiap produk NVIDIA: Triton, TensorRT, NeMo, NIM, RAPIDS.</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2 · Ekosistem NVIDIA</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Jenjang sertifikasi NVIDIA</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8</a:t>
            </a:r>
            <a:endParaRPr lang="en-US" sz="1000" dirty="0"/>
          </a:p>
        </p:txBody>
      </p:sp>
      <p:sp>
        <p:nvSpPr>
          <p:cNvPr id="6" name="Shape 4"/>
          <p:cNvSpPr/>
          <p:nvPr/>
        </p:nvSpPr>
        <p:spPr>
          <a:xfrm>
            <a:off x="548640" y="1600200"/>
            <a:ext cx="4754880" cy="3840480"/>
          </a:xfrm>
          <a:prstGeom prst="roundRect">
            <a:avLst>
              <a:gd name="adj" fmla="val 1905"/>
            </a:avLst>
          </a:prstGeom>
          <a:solidFill>
            <a:srgbClr val="2D2D44"/>
          </a:solidFill>
          <a:ln w="19050">
            <a:solidFill>
              <a:srgbClr val="76B900"/>
            </a:solidFill>
            <a:prstDash val="solid"/>
          </a:ln>
        </p:spPr>
      </p:sp>
      <p:sp>
        <p:nvSpPr>
          <p:cNvPr id="7" name="Text 5"/>
          <p:cNvSpPr/>
          <p:nvPr/>
        </p:nvSpPr>
        <p:spPr>
          <a:xfrm>
            <a:off x="777240" y="1783080"/>
            <a:ext cx="42976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Associate</a:t>
            </a:r>
            <a:endParaRPr lang="en-US" sz="1800" dirty="0"/>
          </a:p>
        </p:txBody>
      </p:sp>
      <p:sp>
        <p:nvSpPr>
          <p:cNvPr id="8" name="Text 6"/>
          <p:cNvSpPr/>
          <p:nvPr/>
        </p:nvSpPr>
        <p:spPr>
          <a:xfrm>
            <a:off x="777240" y="2286000"/>
            <a:ext cx="4297680" cy="301752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NCA-GENL · Generative AI LLMs</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NCA-GENM · Multimodal Generative AI</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NCA-ADS · Accelerated Data Science</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NCA-AIIO · AI Infrastructure &amp; Operations</a:t>
            </a:r>
            <a:endParaRPr lang="en-US" sz="1600" dirty="0"/>
          </a:p>
        </p:txBody>
      </p:sp>
      <p:sp>
        <p:nvSpPr>
          <p:cNvPr id="9" name="Shape 7"/>
          <p:cNvSpPr/>
          <p:nvPr/>
        </p:nvSpPr>
        <p:spPr>
          <a:xfrm>
            <a:off x="5486400" y="1600200"/>
            <a:ext cx="6126480" cy="3840480"/>
          </a:xfrm>
          <a:prstGeom prst="roundRect">
            <a:avLst>
              <a:gd name="adj" fmla="val 1905"/>
            </a:avLst>
          </a:prstGeom>
          <a:solidFill>
            <a:srgbClr val="2D2D44"/>
          </a:solidFill>
          <a:ln w="19050">
            <a:solidFill>
              <a:srgbClr val="42A5F5"/>
            </a:solidFill>
            <a:prstDash val="solid"/>
          </a:ln>
        </p:spPr>
      </p:sp>
      <p:sp>
        <p:nvSpPr>
          <p:cNvPr id="10" name="Text 8"/>
          <p:cNvSpPr/>
          <p:nvPr/>
        </p:nvSpPr>
        <p:spPr>
          <a:xfrm>
            <a:off x="5715000" y="1783080"/>
            <a:ext cx="5669280" cy="411480"/>
          </a:xfrm>
          <a:prstGeom prst="rect">
            <a:avLst/>
          </a:prstGeom>
          <a:noFill/>
          <a:ln/>
        </p:spPr>
        <p:txBody>
          <a:bodyPr wrap="square" lIns="0" tIns="0" rIns="0" bIns="0" rtlCol="0" anchor="ctr"/>
          <a:lstStyle/>
          <a:p>
            <a:pPr indent="0" marL="0">
              <a:buNone/>
            </a:pPr>
            <a:r>
              <a:rPr lang="en-US" sz="1800" b="1" dirty="0">
                <a:solidFill>
                  <a:srgbClr val="42A5F5"/>
                </a:solidFill>
                <a:latin typeface="Calibri" pitchFamily="34" charset="0"/>
                <a:ea typeface="Calibri" pitchFamily="34" charset="-122"/>
                <a:cs typeface="Calibri" pitchFamily="34" charset="-120"/>
              </a:rPr>
              <a:t>Professional</a:t>
            </a:r>
            <a:endParaRPr lang="en-US" sz="1800" dirty="0"/>
          </a:p>
        </p:txBody>
      </p:sp>
      <p:sp>
        <p:nvSpPr>
          <p:cNvPr id="11" name="Text 9"/>
          <p:cNvSpPr/>
          <p:nvPr/>
        </p:nvSpPr>
        <p:spPr>
          <a:xfrm>
            <a:off x="5715000" y="2286000"/>
            <a:ext cx="5669280" cy="301752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NCP-GENL · Generative AI LLMs</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NCP-AAI · Agentic AI</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NCP-ADS · Accelerated Data Science</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NCP-AIO · AI Operations</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NCP-AII · AI Infrastructure</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NCP-AIN · AI Networking</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NCP-ARI · AI Rack &amp; Interconnect</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NCP-OUSD · OpenUSD Development</a:t>
            </a:r>
            <a:endParaRPr lang="en-US" sz="1600" dirty="0"/>
          </a:p>
        </p:txBody>
      </p:sp>
      <p:sp>
        <p:nvSpPr>
          <p:cNvPr id="12" name="Shape 10"/>
          <p:cNvSpPr/>
          <p:nvPr/>
        </p:nvSpPr>
        <p:spPr>
          <a:xfrm>
            <a:off x="548640" y="5669280"/>
            <a:ext cx="73152" cy="502920"/>
          </a:xfrm>
          <a:prstGeom prst="rect">
            <a:avLst/>
          </a:prstGeom>
          <a:solidFill>
            <a:srgbClr val="A3D944"/>
          </a:solidFill>
          <a:ln/>
        </p:spPr>
      </p:sp>
      <p:sp>
        <p:nvSpPr>
          <p:cNvPr id="13" name="Text 11"/>
          <p:cNvSpPr/>
          <p:nvPr/>
        </p:nvSpPr>
        <p:spPr>
          <a:xfrm>
            <a:off x="777240" y="5669280"/>
            <a:ext cx="10881360" cy="502920"/>
          </a:xfrm>
          <a:prstGeom prst="rect">
            <a:avLst/>
          </a:prstGeom>
          <a:noFill/>
          <a:ln/>
        </p:spPr>
        <p:txBody>
          <a:bodyPr wrap="square" lIns="0" tIns="0" rIns="0" bIns="0" rtlCol="0" anchor="ctr"/>
          <a:lstStyle/>
          <a:p>
            <a:pPr indent="0" marL="0">
              <a:buNone/>
            </a:pPr>
            <a:r>
              <a:rPr lang="en-US" sz="1700" b="1" dirty="0">
                <a:solidFill>
                  <a:srgbClr val="A3D944"/>
                </a:solidFill>
                <a:latin typeface="Calibri" pitchFamily="34" charset="0"/>
                <a:ea typeface="Calibri" pitchFamily="34" charset="-122"/>
                <a:cs typeface="Calibri" pitchFamily="34" charset="-120"/>
              </a:rPr>
              <a:t>Lanjutan paling dekat dari bootcamp ini: NCP-GENL dan NCP-AAI.</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2 · Ekosistem NVIDIA</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NVIDIA DLI: kursus langsung dari sumbernya</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9</a:t>
            </a:r>
            <a:endParaRPr lang="en-US" sz="1000" dirty="0"/>
          </a:p>
        </p:txBody>
      </p:sp>
      <p:sp>
        <p:nvSpPr>
          <p:cNvPr id="6" name="Shape 4"/>
          <p:cNvSpPr/>
          <p:nvPr/>
        </p:nvSpPr>
        <p:spPr>
          <a:xfrm>
            <a:off x="548640" y="1600200"/>
            <a:ext cx="5440680" cy="1920240"/>
          </a:xfrm>
          <a:prstGeom prst="roundRect">
            <a:avLst>
              <a:gd name="adj" fmla="val 3810"/>
            </a:avLst>
          </a:prstGeom>
          <a:solidFill>
            <a:srgbClr val="2D2D44"/>
          </a:solidFill>
          <a:ln w="19050">
            <a:solidFill>
              <a:srgbClr val="76B900"/>
            </a:solidFill>
            <a:prstDash val="solid"/>
          </a:ln>
        </p:spPr>
      </p:sp>
      <p:sp>
        <p:nvSpPr>
          <p:cNvPr id="7" name="Text 5"/>
          <p:cNvSpPr/>
          <p:nvPr/>
        </p:nvSpPr>
        <p:spPr>
          <a:xfrm>
            <a:off x="777240" y="1783080"/>
            <a:ext cx="49834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Self-paced</a:t>
            </a:r>
            <a:endParaRPr lang="en-US" sz="1800" dirty="0"/>
          </a:p>
        </p:txBody>
      </p:sp>
      <p:sp>
        <p:nvSpPr>
          <p:cNvPr id="8" name="Text 6"/>
          <p:cNvSpPr/>
          <p:nvPr/>
        </p:nvSpPr>
        <p:spPr>
          <a:xfrm>
            <a:off x="777240" y="228600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Online, bisa diambil kapan saja.</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Banyak kursus populer yang gratis.</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Kursus rekomendasi NCA-GENL: $90 per kursus, ±8 jam.</a:t>
            </a:r>
            <a:endParaRPr lang="en-US" sz="1600" dirty="0"/>
          </a:p>
        </p:txBody>
      </p:sp>
      <p:sp>
        <p:nvSpPr>
          <p:cNvPr id="9" name="Shape 7"/>
          <p:cNvSpPr/>
          <p:nvPr/>
        </p:nvSpPr>
        <p:spPr>
          <a:xfrm>
            <a:off x="6172200" y="1600200"/>
            <a:ext cx="5440680" cy="1920240"/>
          </a:xfrm>
          <a:prstGeom prst="roundRect">
            <a:avLst>
              <a:gd name="adj" fmla="val 3810"/>
            </a:avLst>
          </a:prstGeom>
          <a:solidFill>
            <a:srgbClr val="2D2D44"/>
          </a:solidFill>
          <a:ln w="19050">
            <a:solidFill>
              <a:srgbClr val="42A5F5"/>
            </a:solidFill>
            <a:prstDash val="solid"/>
          </a:ln>
        </p:spPr>
      </p:sp>
      <p:sp>
        <p:nvSpPr>
          <p:cNvPr id="10" name="Text 8"/>
          <p:cNvSpPr/>
          <p:nvPr/>
        </p:nvSpPr>
        <p:spPr>
          <a:xfrm>
            <a:off x="6400800" y="1783080"/>
            <a:ext cx="4983480" cy="411480"/>
          </a:xfrm>
          <a:prstGeom prst="rect">
            <a:avLst/>
          </a:prstGeom>
          <a:noFill/>
          <a:ln/>
        </p:spPr>
        <p:txBody>
          <a:bodyPr wrap="square" lIns="0" tIns="0" rIns="0" bIns="0" rtlCol="0" anchor="ctr"/>
          <a:lstStyle/>
          <a:p>
            <a:pPr indent="0" marL="0">
              <a:buNone/>
            </a:pPr>
            <a:r>
              <a:rPr lang="en-US" sz="1800" b="1" dirty="0">
                <a:solidFill>
                  <a:srgbClr val="42A5F5"/>
                </a:solidFill>
                <a:latin typeface="Calibri" pitchFamily="34" charset="0"/>
                <a:ea typeface="Calibri" pitchFamily="34" charset="-122"/>
                <a:cs typeface="Calibri" pitchFamily="34" charset="-120"/>
              </a:rPr>
              <a:t>Instructor-led workshop</a:t>
            </a:r>
            <a:endParaRPr lang="en-US" sz="1800" dirty="0"/>
          </a:p>
        </p:txBody>
      </p:sp>
      <p:sp>
        <p:nvSpPr>
          <p:cNvPr id="11" name="Text 9"/>
          <p:cNvSpPr/>
          <p:nvPr/>
        </p:nvSpPr>
        <p:spPr>
          <a:xfrm>
            <a:off x="6400800" y="228600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Dipandu instruktur.</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Workshop rekomendasi: $500 per workshop, ±8 jam.</a:t>
            </a:r>
            <a:endParaRPr lang="en-US" sz="1600" dirty="0"/>
          </a:p>
        </p:txBody>
      </p:sp>
      <p:sp>
        <p:nvSpPr>
          <p:cNvPr id="12" name="Shape 10"/>
          <p:cNvSpPr/>
          <p:nvPr/>
        </p:nvSpPr>
        <p:spPr>
          <a:xfrm>
            <a:off x="548640" y="3703320"/>
            <a:ext cx="11064240" cy="2194560"/>
          </a:xfrm>
          <a:prstGeom prst="roundRect">
            <a:avLst>
              <a:gd name="adj" fmla="val 3333"/>
            </a:avLst>
          </a:prstGeom>
          <a:solidFill>
            <a:srgbClr val="2D2D44"/>
          </a:solidFill>
          <a:ln w="19050">
            <a:solidFill>
              <a:srgbClr val="A3D944"/>
            </a:solidFill>
            <a:prstDash val="solid"/>
          </a:ln>
        </p:spPr>
      </p:sp>
      <p:sp>
        <p:nvSpPr>
          <p:cNvPr id="13" name="Text 11"/>
          <p:cNvSpPr/>
          <p:nvPr/>
        </p:nvSpPr>
        <p:spPr>
          <a:xfrm>
            <a:off x="777240" y="3886200"/>
            <a:ext cx="10607040" cy="411480"/>
          </a:xfrm>
          <a:prstGeom prst="rect">
            <a:avLst/>
          </a:prstGeom>
          <a:noFill/>
          <a:ln/>
        </p:spPr>
        <p:txBody>
          <a:bodyPr wrap="square" lIns="0" tIns="0" rIns="0" bIns="0" rtlCol="0" anchor="ctr"/>
          <a:lstStyle/>
          <a:p>
            <a:pPr indent="0" marL="0">
              <a:buNone/>
            </a:pPr>
            <a:r>
              <a:rPr lang="en-US" sz="1800" b="1" dirty="0">
                <a:solidFill>
                  <a:srgbClr val="A3D944"/>
                </a:solidFill>
                <a:latin typeface="Calibri" pitchFamily="34" charset="0"/>
                <a:ea typeface="Calibri" pitchFamily="34" charset="-122"/>
                <a:cs typeface="Calibri" pitchFamily="34" charset="-120"/>
              </a:rPr>
              <a:t>Direkomendasikan di halaman NCA-GENL</a:t>
            </a:r>
            <a:endParaRPr lang="en-US" sz="1800" dirty="0"/>
          </a:p>
        </p:txBody>
      </p:sp>
      <p:sp>
        <p:nvSpPr>
          <p:cNvPr id="14" name="Text 12"/>
          <p:cNvSpPr/>
          <p:nvPr/>
        </p:nvSpPr>
        <p:spPr>
          <a:xfrm>
            <a:off x="777240" y="4389120"/>
            <a:ext cx="10607040" cy="137160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Getting Started With Deep Learning · Accelerating End-to-End Data Science Workflows</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Introduction to Transformer-Based Natural Language Processing</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Building LLM Applications with Prompt Engineering</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Rapid Application Development With Large Language Models (LLMs)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2 · Ekosistem NVIDIA</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Developer Program dan build.nvidia.com</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10</a:t>
            </a:r>
            <a:endParaRPr lang="en-US" sz="1000" dirty="0"/>
          </a:p>
        </p:txBody>
      </p:sp>
      <p:sp>
        <p:nvSpPr>
          <p:cNvPr id="6" name="Shape 4"/>
          <p:cNvSpPr/>
          <p:nvPr/>
        </p:nvSpPr>
        <p:spPr>
          <a:xfrm>
            <a:off x="548640" y="1600200"/>
            <a:ext cx="5440680" cy="2834640"/>
          </a:xfrm>
          <a:prstGeom prst="roundRect">
            <a:avLst>
              <a:gd name="adj" fmla="val 2581"/>
            </a:avLst>
          </a:prstGeom>
          <a:solidFill>
            <a:srgbClr val="2D2D44"/>
          </a:solidFill>
          <a:ln w="19050">
            <a:solidFill>
              <a:srgbClr val="76B900"/>
            </a:solidFill>
            <a:prstDash val="solid"/>
          </a:ln>
        </p:spPr>
      </p:sp>
      <p:sp>
        <p:nvSpPr>
          <p:cNvPr id="7" name="Text 5"/>
          <p:cNvSpPr/>
          <p:nvPr/>
        </p:nvSpPr>
        <p:spPr>
          <a:xfrm>
            <a:off x="777240" y="1783080"/>
            <a:ext cx="49834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NVIDIA Developer Program</a:t>
            </a:r>
            <a:endParaRPr lang="en-US" sz="1800" dirty="0"/>
          </a:p>
        </p:txBody>
      </p:sp>
      <p:sp>
        <p:nvSpPr>
          <p:cNvPr id="8" name="Text 6"/>
          <p:cNvSpPr/>
          <p:nvPr/>
        </p:nvSpPr>
        <p:spPr>
          <a:xfrm>
            <a:off x="777240" y="2286000"/>
            <a:ext cx="4983480" cy="2011680"/>
          </a:xfrm>
          <a:prstGeom prst="rect">
            <a:avLst/>
          </a:prstGeom>
          <a:noFill/>
          <a:ln/>
        </p:spPr>
        <p:txBody>
          <a:bodyPr wrap="square" lIns="0" tIns="0" rIns="0" bIns="0" rtlCol="0" anchor="t"/>
          <a:lstStyle/>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Gratis.</a:t>
            </a:r>
            <a:endParaRPr lang="en-US" sz="1700" dirty="0"/>
          </a:p>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Akses tools, SDK, dan bahan belajar.</a:t>
            </a:r>
            <a:endParaRPr lang="en-US" sz="1700" dirty="0"/>
          </a:p>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Forum dan komunitas developer.</a:t>
            </a:r>
            <a:endParaRPr lang="en-US" sz="1700" dirty="0"/>
          </a:p>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Kredit cloud dari Google Cloud dan NVIDIA setelah mencapai target belajar tertentu.</a:t>
            </a:r>
            <a:endParaRPr lang="en-US" sz="1700" dirty="0"/>
          </a:p>
        </p:txBody>
      </p:sp>
      <p:sp>
        <p:nvSpPr>
          <p:cNvPr id="9" name="Shape 7"/>
          <p:cNvSpPr/>
          <p:nvPr/>
        </p:nvSpPr>
        <p:spPr>
          <a:xfrm>
            <a:off x="6172200" y="1600200"/>
            <a:ext cx="5440680" cy="2834640"/>
          </a:xfrm>
          <a:prstGeom prst="roundRect">
            <a:avLst>
              <a:gd name="adj" fmla="val 2581"/>
            </a:avLst>
          </a:prstGeom>
          <a:solidFill>
            <a:srgbClr val="2D2D44"/>
          </a:solidFill>
          <a:ln w="19050">
            <a:solidFill>
              <a:srgbClr val="42A5F5"/>
            </a:solidFill>
            <a:prstDash val="solid"/>
          </a:ln>
        </p:spPr>
      </p:sp>
      <p:sp>
        <p:nvSpPr>
          <p:cNvPr id="10" name="Text 8"/>
          <p:cNvSpPr/>
          <p:nvPr/>
        </p:nvSpPr>
        <p:spPr>
          <a:xfrm>
            <a:off x="6400800" y="1783080"/>
            <a:ext cx="4983480" cy="411480"/>
          </a:xfrm>
          <a:prstGeom prst="rect">
            <a:avLst/>
          </a:prstGeom>
          <a:noFill/>
          <a:ln/>
        </p:spPr>
        <p:txBody>
          <a:bodyPr wrap="square" lIns="0" tIns="0" rIns="0" bIns="0" rtlCol="0" anchor="ctr"/>
          <a:lstStyle/>
          <a:p>
            <a:pPr indent="0" marL="0">
              <a:buNone/>
            </a:pPr>
            <a:r>
              <a:rPr lang="en-US" sz="1800" b="1" dirty="0">
                <a:solidFill>
                  <a:srgbClr val="42A5F5"/>
                </a:solidFill>
                <a:latin typeface="Calibri" pitchFamily="34" charset="0"/>
                <a:ea typeface="Calibri" pitchFamily="34" charset="-122"/>
                <a:cs typeface="Calibri" pitchFamily="34" charset="-120"/>
              </a:rPr>
              <a:t>build.nvidia.com</a:t>
            </a:r>
            <a:endParaRPr lang="en-US" sz="1800" dirty="0"/>
          </a:p>
        </p:txBody>
      </p:sp>
      <p:sp>
        <p:nvSpPr>
          <p:cNvPr id="11" name="Text 9"/>
          <p:cNvSpPr/>
          <p:nvPr/>
        </p:nvSpPr>
        <p:spPr>
          <a:xfrm>
            <a:off x="6400800" y="2286000"/>
            <a:ext cx="4983480" cy="2011680"/>
          </a:xfrm>
          <a:prstGeom prst="rect">
            <a:avLst/>
          </a:prstGeom>
          <a:noFill/>
          <a:ln/>
        </p:spPr>
        <p:txBody>
          <a:bodyPr wrap="square" lIns="0" tIns="0" rIns="0" bIns="0" rtlCol="0" anchor="t"/>
          <a:lstStyle/>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Katalog NIM API: coba model besar tanpa GPU sendiri.</a:t>
            </a:r>
            <a:endParaRPr lang="en-US" sz="1700" dirty="0"/>
          </a:p>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Endpoint-nya sama dengan yang kita pakai di modul LLM, RAG, dan NVIDIA.</a:t>
            </a:r>
            <a:endParaRPr lang="en-US" sz="1700" dirty="0"/>
          </a:p>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Ada juga blueprint: contoh aplikasi siap pakai.</a:t>
            </a:r>
            <a:endParaRPr lang="en-US" sz="1700" dirty="0"/>
          </a:p>
        </p:txBody>
      </p:sp>
      <p:sp>
        <p:nvSpPr>
          <p:cNvPr id="12" name="Shape 10"/>
          <p:cNvSpPr/>
          <p:nvPr/>
        </p:nvSpPr>
        <p:spPr>
          <a:xfrm>
            <a:off x="548640" y="4754880"/>
            <a:ext cx="73152" cy="502920"/>
          </a:xfrm>
          <a:prstGeom prst="rect">
            <a:avLst/>
          </a:prstGeom>
          <a:solidFill>
            <a:srgbClr val="A3D944"/>
          </a:solidFill>
          <a:ln/>
        </p:spPr>
      </p:sp>
      <p:sp>
        <p:nvSpPr>
          <p:cNvPr id="13" name="Text 11"/>
          <p:cNvSpPr/>
          <p:nvPr/>
        </p:nvSpPr>
        <p:spPr>
          <a:xfrm>
            <a:off x="777240" y="4754880"/>
            <a:ext cx="10881360" cy="502920"/>
          </a:xfrm>
          <a:prstGeom prst="rect">
            <a:avLst/>
          </a:prstGeom>
          <a:noFill/>
          <a:ln/>
        </p:spPr>
        <p:txBody>
          <a:bodyPr wrap="square" lIns="0" tIns="0" rIns="0" bIns="0" rtlCol="0" anchor="ctr"/>
          <a:lstStyle/>
          <a:p>
            <a:pPr indent="0" marL="0">
              <a:buNone/>
            </a:pPr>
            <a:r>
              <a:rPr lang="en-US" sz="1700" b="1" dirty="0">
                <a:solidFill>
                  <a:srgbClr val="A3D944"/>
                </a:solidFill>
                <a:latin typeface="Calibri" pitchFamily="34" charset="0"/>
                <a:ea typeface="Calibri" pitchFamily="34" charset="-122"/>
                <a:cs typeface="Calibri" pitchFamily="34" charset="-120"/>
              </a:rPr>
              <a:t>API key-nya bisa kamu pakai untuk prototipe proyek pribadi. Cek batas pemakaian di akunmu.</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2 · Ekosistem NVIDIA</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Komunitas dan event</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11</a:t>
            </a:r>
            <a:endParaRPr lang="en-US" sz="1000" dirty="0"/>
          </a:p>
        </p:txBody>
      </p:sp>
      <p:sp>
        <p:nvSpPr>
          <p:cNvPr id="6" name="Shape 4"/>
          <p:cNvSpPr/>
          <p:nvPr/>
        </p:nvSpPr>
        <p:spPr>
          <a:xfrm>
            <a:off x="548640" y="1600200"/>
            <a:ext cx="5440680" cy="1920240"/>
          </a:xfrm>
          <a:prstGeom prst="roundRect">
            <a:avLst>
              <a:gd name="adj" fmla="val 3810"/>
            </a:avLst>
          </a:prstGeom>
          <a:solidFill>
            <a:srgbClr val="2D2D44"/>
          </a:solidFill>
          <a:ln w="19050">
            <a:solidFill>
              <a:srgbClr val="76B900"/>
            </a:solidFill>
            <a:prstDash val="solid"/>
          </a:ln>
        </p:spPr>
      </p:sp>
      <p:sp>
        <p:nvSpPr>
          <p:cNvPr id="7" name="Text 5"/>
          <p:cNvSpPr/>
          <p:nvPr/>
        </p:nvSpPr>
        <p:spPr>
          <a:xfrm>
            <a:off x="777240" y="1783080"/>
            <a:ext cx="49834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GTC</a:t>
            </a:r>
            <a:endParaRPr lang="en-US" sz="1800" dirty="0"/>
          </a:p>
        </p:txBody>
      </p:sp>
      <p:sp>
        <p:nvSpPr>
          <p:cNvPr id="8" name="Text 6"/>
          <p:cNvSpPr/>
          <p:nvPr/>
        </p:nvSpPr>
        <p:spPr>
          <a:xfrm>
            <a:off x="777240" y="228600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Konferensi tahunan NVIDIA di San Jose.</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Replay sesinya bisa ditonton on-demand.</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Peserta on-site bisa ujian sertifikasi tanpa biaya.</a:t>
            </a:r>
            <a:endParaRPr lang="en-US" sz="1600" dirty="0"/>
          </a:p>
        </p:txBody>
      </p:sp>
      <p:sp>
        <p:nvSpPr>
          <p:cNvPr id="9" name="Shape 7"/>
          <p:cNvSpPr/>
          <p:nvPr/>
        </p:nvSpPr>
        <p:spPr>
          <a:xfrm>
            <a:off x="6172200" y="1600200"/>
            <a:ext cx="5440680" cy="1920240"/>
          </a:xfrm>
          <a:prstGeom prst="roundRect">
            <a:avLst>
              <a:gd name="adj" fmla="val 3810"/>
            </a:avLst>
          </a:prstGeom>
          <a:solidFill>
            <a:srgbClr val="2D2D44"/>
          </a:solidFill>
          <a:ln w="19050">
            <a:solidFill>
              <a:srgbClr val="A3D944"/>
            </a:solidFill>
            <a:prstDash val="solid"/>
          </a:ln>
        </p:spPr>
      </p:sp>
      <p:sp>
        <p:nvSpPr>
          <p:cNvPr id="10" name="Text 8"/>
          <p:cNvSpPr/>
          <p:nvPr/>
        </p:nvSpPr>
        <p:spPr>
          <a:xfrm>
            <a:off x="6400800" y="1783080"/>
            <a:ext cx="4983480" cy="411480"/>
          </a:xfrm>
          <a:prstGeom prst="rect">
            <a:avLst/>
          </a:prstGeom>
          <a:noFill/>
          <a:ln/>
        </p:spPr>
        <p:txBody>
          <a:bodyPr wrap="square" lIns="0" tIns="0" rIns="0" bIns="0" rtlCol="0" anchor="ctr"/>
          <a:lstStyle/>
          <a:p>
            <a:pPr indent="0" marL="0">
              <a:buNone/>
            </a:pPr>
            <a:r>
              <a:rPr lang="en-US" sz="1800" b="1" dirty="0">
                <a:solidFill>
                  <a:srgbClr val="A3D944"/>
                </a:solidFill>
                <a:latin typeface="Calibri" pitchFamily="34" charset="0"/>
                <a:ea typeface="Calibri" pitchFamily="34" charset="-122"/>
                <a:cs typeface="Calibri" pitchFamily="34" charset="-120"/>
              </a:rPr>
              <a:t>Jetson AI Lab</a:t>
            </a:r>
            <a:endParaRPr lang="en-US" sz="1800" dirty="0"/>
          </a:p>
        </p:txBody>
      </p:sp>
      <p:sp>
        <p:nvSpPr>
          <p:cNvPr id="11" name="Text 9"/>
          <p:cNvSpPr/>
          <p:nvPr/>
        </p:nvSpPr>
        <p:spPr>
          <a:xfrm>
            <a:off x="6400800" y="228600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Tutorial generative AI di perangkat edge.</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Lanjutan dari lab Jetson di modul NVIDIA.</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Ada server Discord untuk tanya jawab.</a:t>
            </a:r>
            <a:endParaRPr lang="en-US" sz="1600" dirty="0"/>
          </a:p>
        </p:txBody>
      </p:sp>
      <p:sp>
        <p:nvSpPr>
          <p:cNvPr id="12" name="Shape 10"/>
          <p:cNvSpPr/>
          <p:nvPr/>
        </p:nvSpPr>
        <p:spPr>
          <a:xfrm>
            <a:off x="548640" y="3703320"/>
            <a:ext cx="5440680" cy="1920240"/>
          </a:xfrm>
          <a:prstGeom prst="roundRect">
            <a:avLst>
              <a:gd name="adj" fmla="val 3810"/>
            </a:avLst>
          </a:prstGeom>
          <a:solidFill>
            <a:srgbClr val="2D2D44"/>
          </a:solidFill>
          <a:ln w="19050">
            <a:solidFill>
              <a:srgbClr val="42A5F5"/>
            </a:solidFill>
            <a:prstDash val="solid"/>
          </a:ln>
        </p:spPr>
      </p:sp>
      <p:sp>
        <p:nvSpPr>
          <p:cNvPr id="13" name="Text 11"/>
          <p:cNvSpPr/>
          <p:nvPr/>
        </p:nvSpPr>
        <p:spPr>
          <a:xfrm>
            <a:off x="777240" y="3886200"/>
            <a:ext cx="4983480" cy="411480"/>
          </a:xfrm>
          <a:prstGeom prst="rect">
            <a:avLst/>
          </a:prstGeom>
          <a:noFill/>
          <a:ln/>
        </p:spPr>
        <p:txBody>
          <a:bodyPr wrap="square" lIns="0" tIns="0" rIns="0" bIns="0" rtlCol="0" anchor="ctr"/>
          <a:lstStyle/>
          <a:p>
            <a:pPr indent="0" marL="0">
              <a:buNone/>
            </a:pPr>
            <a:r>
              <a:rPr lang="en-US" sz="1800" b="1" dirty="0">
                <a:solidFill>
                  <a:srgbClr val="42A5F5"/>
                </a:solidFill>
                <a:latin typeface="Calibri" pitchFamily="34" charset="0"/>
                <a:ea typeface="Calibri" pitchFamily="34" charset="-122"/>
                <a:cs typeface="Calibri" pitchFamily="34" charset="-120"/>
              </a:rPr>
              <a:t>Developer Forums</a:t>
            </a:r>
            <a:endParaRPr lang="en-US" sz="1800" dirty="0"/>
          </a:p>
        </p:txBody>
      </p:sp>
      <p:sp>
        <p:nvSpPr>
          <p:cNvPr id="14" name="Text 12"/>
          <p:cNvSpPr/>
          <p:nvPr/>
        </p:nvSpPr>
        <p:spPr>
          <a:xfrm>
            <a:off x="777240" y="438912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Tanya jawab teknis soal produk NVIDIA.</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Cari dulu: masalahmu mungkin sudah pernah dibahas.</a:t>
            </a:r>
            <a:endParaRPr lang="en-US" sz="1600" dirty="0"/>
          </a:p>
        </p:txBody>
      </p:sp>
      <p:sp>
        <p:nvSpPr>
          <p:cNvPr id="15" name="Shape 13"/>
          <p:cNvSpPr/>
          <p:nvPr/>
        </p:nvSpPr>
        <p:spPr>
          <a:xfrm>
            <a:off x="6172200" y="3703320"/>
            <a:ext cx="5440680" cy="1920240"/>
          </a:xfrm>
          <a:prstGeom prst="roundRect">
            <a:avLst>
              <a:gd name="adj" fmla="val 3810"/>
            </a:avLst>
          </a:prstGeom>
          <a:solidFill>
            <a:srgbClr val="2D2D44"/>
          </a:solidFill>
          <a:ln w="19050">
            <a:solidFill>
              <a:srgbClr val="FF6F00"/>
            </a:solidFill>
            <a:prstDash val="solid"/>
          </a:ln>
        </p:spPr>
      </p:sp>
      <p:sp>
        <p:nvSpPr>
          <p:cNvPr id="16" name="Text 14"/>
          <p:cNvSpPr/>
          <p:nvPr/>
        </p:nvSpPr>
        <p:spPr>
          <a:xfrm>
            <a:off x="6400800" y="3886200"/>
            <a:ext cx="4983480" cy="411480"/>
          </a:xfrm>
          <a:prstGeom prst="rect">
            <a:avLst/>
          </a:prstGeom>
          <a:noFill/>
          <a:ln/>
        </p:spPr>
        <p:txBody>
          <a:bodyPr wrap="square" lIns="0" tIns="0" rIns="0" bIns="0" rtlCol="0" anchor="ctr"/>
          <a:lstStyle/>
          <a:p>
            <a:pPr indent="0" marL="0">
              <a:buNone/>
            </a:pPr>
            <a:r>
              <a:rPr lang="en-US" sz="1800" b="1" dirty="0">
                <a:solidFill>
                  <a:srgbClr val="FF6F00"/>
                </a:solidFill>
                <a:latin typeface="Calibri" pitchFamily="34" charset="0"/>
                <a:ea typeface="Calibri" pitchFamily="34" charset="-122"/>
                <a:cs typeface="Calibri" pitchFamily="34" charset="-120"/>
              </a:rPr>
              <a:t>Inception</a:t>
            </a:r>
            <a:endParaRPr lang="en-US" sz="1800" dirty="0"/>
          </a:p>
        </p:txBody>
      </p:sp>
      <p:sp>
        <p:nvSpPr>
          <p:cNvPr id="17" name="Text 15"/>
          <p:cNvSpPr/>
          <p:nvPr/>
        </p:nvSpPr>
        <p:spPr>
          <a:xfrm>
            <a:off x="6400800" y="4389120"/>
            <a:ext cx="4983480" cy="1097280"/>
          </a:xfrm>
          <a:prstGeom prst="rect">
            <a:avLst/>
          </a:prstGeom>
          <a:noFill/>
          <a:ln/>
        </p:spPr>
        <p:txBody>
          <a:bodyPr wrap="square" lIns="0" tIns="0" rIns="0" bIns="0" rtlCol="0" anchor="t"/>
          <a:lstStyle/>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Program untuk startup AI.</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Boleh join walau belum memakai GPU NVIDIA.</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Kode kursus DLI gratis dan kredit cloud.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3 · Karier dan portofolio</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Pilih arah perannya dulu</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383280"/>
                <a:gridCol w="2926080"/>
                <a:gridCol w="4754880"/>
              </a:tblGrid>
              <a:tr h="0">
                <a:tc>
                  <a:txBody>
                    <a:bodyPr/>
                    <a:lstStyle/>
                    <a:p>
                      <a:pPr indent="0" marL="0">
                        <a:buNone/>
                      </a:pPr>
                      <a:r>
                        <a:rPr lang="en-US" sz="1500" b="1" dirty="0">
                          <a:solidFill>
                            <a:srgbClr val="1A1A2E"/>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76B900"/>
                    </a:solidFill>
                  </a:tcPr>
                </a:tc>
                <a:tc>
                  <a:txBody>
                    <a:bodyPr/>
                    <a:lstStyle/>
                    <a:p>
                      <a:pPr indent="0" marL="0">
                        <a:buNone/>
                      </a:pPr>
                      <a:r>
                        <a:rPr lang="en-US" sz="1500" b="1" dirty="0">
                          <a:solidFill>
                            <a:srgbClr val="1A1A2E"/>
                          </a:solidFill>
                          <a:latin typeface="Calibri" pitchFamily="34" charset="0"/>
                          <a:ea typeface="Calibri" pitchFamily="34" charset="-122"/>
                          <a:cs typeface="Calibri" pitchFamily="34" charset="-120"/>
                        </a:rPr>
                        <a:t>Sertifikasi berikutnya</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76B900"/>
                    </a:solidFill>
                  </a:tcPr>
                </a:tc>
                <a:tc>
                  <a:txBody>
                    <a:bodyPr/>
                    <a:lstStyle/>
                    <a:p>
                      <a:pPr indent="0" marL="0">
                        <a:buNone/>
                      </a:pPr>
                      <a:r>
                        <a:rPr lang="en-US" sz="1500" b="1" dirty="0">
                          <a:solidFill>
                            <a:srgbClr val="1A1A2E"/>
                          </a:solidFill>
                          <a:latin typeface="Calibri" pitchFamily="34" charset="0"/>
                          <a:ea typeface="Calibri" pitchFamily="34" charset="-122"/>
                          <a:cs typeface="Calibri" pitchFamily="34" charset="-120"/>
                        </a:rPr>
                        <a:t>Proyek pertama</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76B900"/>
                    </a:solidFill>
                  </a:tcPr>
                </a:tc>
              </a:tr>
              <a:tr h="0">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LLM / AI application engineer</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NCP-GENL, NCP-AAI</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Agen RAG dengan tool calling dan guardrails</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r>
              <a:tr h="0">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ML engineer (fine-tune &amp; evaluasi)</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NCP-GENL</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Fine-tune SLM untuk satu tugas + laporan evaluasi</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r>
              <a:tr h="0">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Data scientist</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NCA-ADS → NCP-ADS</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Pipeline cuDF/cuML di data nyata + benchmark CPU vs GPU</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r>
              <a:tr h="0">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MLOps / AI infrastructure</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NCA-AIIO → NCP-AIO</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Serving model dengan Triton + pemantauan latensi</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3233A"/>
                    </a:solidFill>
                  </a:tcPr>
                </a:tc>
              </a:tr>
              <a:tr h="0">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Edge AI engineer</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Belajar lewat Jetson AI Lab</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c>
                  <a:txBody>
                    <a:bodyPr/>
                    <a:lstStyle/>
                    <a:p>
                      <a:pPr indent="0" marL="0">
                        <a:buNone/>
                      </a:pPr>
                      <a:r>
                        <a:rPr lang="en-US" sz="1500" dirty="0">
                          <a:solidFill>
                            <a:srgbClr val="FFFFFF"/>
                          </a:solidFill>
                          <a:latin typeface="Calibri" pitchFamily="34" charset="0"/>
                          <a:ea typeface="Calibri" pitchFamily="34" charset="-122"/>
                          <a:cs typeface="Calibri" pitchFamily="34" charset="-120"/>
                        </a:rPr>
                        <a:t>Asisten lokal di Jetson dengan Ollama atau TensorRT</a:t>
                      </a:r>
                      <a:endParaRPr lang="en-US" sz="1500" dirty="0">
                        <a:latin typeface="Calibri" charset="0"/>
                        <a:ea typeface="Calibri" charset="0"/>
                        <a:cs typeface="Calibri" charset="0"/>
                      </a:endParaRPr>
                    </a:p>
                  </a:txBody>
                  <a:tcPr marL="73152" marR="73152" marT="73152" marB="73152" anchor="ctr">
                    <a:lnL w="6350" cap="flat" cmpd="sng" algn="ctr">
                      <a:solidFill>
                        <a:srgbClr val="1A1A2E"/>
                      </a:solidFill>
                      <a:prstDash val="solid"/>
                      <a:round/>
                      <a:headEnd type="none" w="med" len="med"/>
                      <a:tailEnd type="none" w="med" len="med"/>
                    </a:lnL>
                    <a:lnR w="6350" cap="flat" cmpd="sng" algn="ctr">
                      <a:solidFill>
                        <a:srgbClr val="1A1A2E"/>
                      </a:solidFill>
                      <a:prstDash val="solid"/>
                      <a:round/>
                      <a:headEnd type="none" w="med" len="med"/>
                      <a:tailEnd type="none" w="med" len="med"/>
                    </a:lnR>
                    <a:lnT w="6350" cap="flat" cmpd="sng" algn="ctr">
                      <a:solidFill>
                        <a:srgbClr val="1A1A2E"/>
                      </a:solidFill>
                      <a:prstDash val="solid"/>
                      <a:round/>
                      <a:headEnd type="none" w="med" len="med"/>
                      <a:tailEnd type="none" w="med" len="med"/>
                    </a:lnT>
                    <a:lnB w="6350" cap="flat" cmpd="sng" algn="ctr">
                      <a:solidFill>
                        <a:srgbClr val="1A1A2E"/>
                      </a:solidFill>
                      <a:prstDash val="solid"/>
                      <a:round/>
                      <a:headEnd type="none" w="med" len="med"/>
                      <a:tailEnd type="none" w="med" len="med"/>
                    </a:lnB>
                    <a:solidFill>
                      <a:srgbClr val="2D2D44"/>
                    </a:solidFill>
                  </a:tcPr>
                </a:tc>
              </a:tr>
            </a:tbl>
          </a:graphicData>
        </a:graphic>
      </p:graphicFrame>
      <p:sp>
        <p:nvSpPr>
          <p:cNvPr id="7" name="Shape 4"/>
          <p:cNvSpPr/>
          <p:nvPr/>
        </p:nvSpPr>
        <p:spPr>
          <a:xfrm>
            <a:off x="548640" y="5669280"/>
            <a:ext cx="73152" cy="502920"/>
          </a:xfrm>
          <a:prstGeom prst="rect">
            <a:avLst/>
          </a:prstGeom>
          <a:solidFill>
            <a:srgbClr val="A3D944"/>
          </a:solidFill>
          <a:ln/>
        </p:spPr>
      </p:sp>
      <p:sp>
        <p:nvSpPr>
          <p:cNvPr id="8" name="Text 5"/>
          <p:cNvSpPr/>
          <p:nvPr/>
        </p:nvSpPr>
        <p:spPr>
          <a:xfrm>
            <a:off x="777240" y="5669280"/>
            <a:ext cx="10881360" cy="502920"/>
          </a:xfrm>
          <a:prstGeom prst="rect">
            <a:avLst/>
          </a:prstGeom>
          <a:noFill/>
          <a:ln/>
        </p:spPr>
        <p:txBody>
          <a:bodyPr wrap="square" lIns="0" tIns="0" rIns="0" bIns="0" rtlCol="0" anchor="ctr"/>
          <a:lstStyle/>
          <a:p>
            <a:pPr indent="0" marL="0">
              <a:buNone/>
            </a:pPr>
            <a:r>
              <a:rPr lang="en-US" sz="1700" b="1" dirty="0">
                <a:solidFill>
                  <a:srgbClr val="A3D944"/>
                </a:solidFill>
                <a:latin typeface="Calibri" pitchFamily="34" charset="0"/>
                <a:ea typeface="Calibri" pitchFamily="34" charset="-122"/>
                <a:cs typeface="Calibri" pitchFamily="34" charset="-120"/>
              </a:rPr>
              <a:t>Pilih satu peran dan satu proyek. Kedalaman lebih bernilai daripada daftar sertifikat.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Bagian 3 · Karier dan portofolio</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Dari capstone ke portofolio publik</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13</a:t>
            </a:r>
            <a:endParaRPr lang="en-US" sz="1000" dirty="0"/>
          </a:p>
        </p:txBody>
      </p:sp>
      <p:sp>
        <p:nvSpPr>
          <p:cNvPr id="6" name="Shape 4"/>
          <p:cNvSpPr/>
          <p:nvPr/>
        </p:nvSpPr>
        <p:spPr>
          <a:xfrm>
            <a:off x="548640" y="1737360"/>
            <a:ext cx="2468880" cy="2377440"/>
          </a:xfrm>
          <a:prstGeom prst="roundRect">
            <a:avLst>
              <a:gd name="adj" fmla="val 3077"/>
            </a:avLst>
          </a:prstGeom>
          <a:solidFill>
            <a:srgbClr val="2D2D44"/>
          </a:solidFill>
          <a:ln w="19050">
            <a:solidFill>
              <a:srgbClr val="76B900"/>
            </a:solidFill>
            <a:prstDash val="solid"/>
          </a:ln>
        </p:spPr>
      </p:sp>
      <p:sp>
        <p:nvSpPr>
          <p:cNvPr id="7" name="Text 5"/>
          <p:cNvSpPr/>
          <p:nvPr/>
        </p:nvSpPr>
        <p:spPr>
          <a:xfrm>
            <a:off x="777240" y="1920240"/>
            <a:ext cx="20116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Repo yang rapi</a:t>
            </a:r>
            <a:endParaRPr lang="en-US" sz="1800" dirty="0"/>
          </a:p>
        </p:txBody>
      </p:sp>
      <p:sp>
        <p:nvSpPr>
          <p:cNvPr id="8" name="Text 6"/>
          <p:cNvSpPr/>
          <p:nvPr/>
        </p:nvSpPr>
        <p:spPr>
          <a:xfrm>
            <a:off x="777240" y="2423160"/>
            <a:ext cx="2011680" cy="1554480"/>
          </a:xfrm>
          <a:prstGeom prst="rect">
            <a:avLst/>
          </a:prstGeom>
          <a:noFill/>
          <a:ln/>
        </p:spPr>
        <p:txBody>
          <a:bodyPr wrap="square" lIns="0" tIns="0" rIns="0" bIns="0" rtlCol="0" anchor="t"/>
          <a:lstStyle/>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README: masalah, cara menjalankan, dan hasilnya.</a:t>
            </a:r>
            <a:endParaRPr lang="en-US" sz="1700" dirty="0"/>
          </a:p>
        </p:txBody>
      </p:sp>
      <p:sp>
        <p:nvSpPr>
          <p:cNvPr id="9" name="Text 7"/>
          <p:cNvSpPr/>
          <p:nvPr/>
        </p:nvSpPr>
        <p:spPr>
          <a:xfrm>
            <a:off x="3017520" y="2697480"/>
            <a:ext cx="365760" cy="457200"/>
          </a:xfrm>
          <a:prstGeom prst="rect">
            <a:avLst/>
          </a:prstGeom>
          <a:noFill/>
          <a:ln/>
        </p:spPr>
        <p:txBody>
          <a:bodyPr wrap="square" lIns="0" tIns="0" rIns="0" bIns="0" rtlCol="0" anchor="ctr"/>
          <a:lstStyle/>
          <a:p>
            <a:pPr algn="ctr" indent="0" marL="0">
              <a:buNone/>
            </a:pPr>
            <a:r>
              <a:rPr lang="en-US" sz="2000" b="1" dirty="0">
                <a:solidFill>
                  <a:srgbClr val="A3D944"/>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383280" y="1737360"/>
            <a:ext cx="2468880" cy="2377440"/>
          </a:xfrm>
          <a:prstGeom prst="roundRect">
            <a:avLst>
              <a:gd name="adj" fmla="val 3077"/>
            </a:avLst>
          </a:prstGeom>
          <a:solidFill>
            <a:srgbClr val="2D2D44"/>
          </a:solidFill>
          <a:ln w="19050">
            <a:solidFill>
              <a:srgbClr val="76B900"/>
            </a:solidFill>
            <a:prstDash val="solid"/>
          </a:ln>
        </p:spPr>
      </p:sp>
      <p:sp>
        <p:nvSpPr>
          <p:cNvPr id="11" name="Text 9"/>
          <p:cNvSpPr/>
          <p:nvPr/>
        </p:nvSpPr>
        <p:spPr>
          <a:xfrm>
            <a:off x="3611880" y="1920240"/>
            <a:ext cx="20116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Angka yang terukur</a:t>
            </a:r>
            <a:endParaRPr lang="en-US" sz="1800" dirty="0"/>
          </a:p>
        </p:txBody>
      </p:sp>
      <p:sp>
        <p:nvSpPr>
          <p:cNvPr id="12" name="Text 10"/>
          <p:cNvSpPr/>
          <p:nvPr/>
        </p:nvSpPr>
        <p:spPr>
          <a:xfrm>
            <a:off x="3611880" y="2423160"/>
            <a:ext cx="2011680" cy="1554480"/>
          </a:xfrm>
          <a:prstGeom prst="rect">
            <a:avLst/>
          </a:prstGeom>
          <a:noFill/>
          <a:ln/>
        </p:spPr>
        <p:txBody>
          <a:bodyPr wrap="square" lIns="0" tIns="0" rIns="0" bIns="0" rtlCol="0" anchor="t"/>
          <a:lstStyle/>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Metrik, data, dan perangkat yang dipakai, seperti di bootcamp.</a:t>
            </a:r>
            <a:endParaRPr lang="en-US" sz="1700" dirty="0"/>
          </a:p>
        </p:txBody>
      </p:sp>
      <p:sp>
        <p:nvSpPr>
          <p:cNvPr id="13" name="Text 11"/>
          <p:cNvSpPr/>
          <p:nvPr/>
        </p:nvSpPr>
        <p:spPr>
          <a:xfrm>
            <a:off x="5852160" y="2697480"/>
            <a:ext cx="365760" cy="457200"/>
          </a:xfrm>
          <a:prstGeom prst="rect">
            <a:avLst/>
          </a:prstGeom>
          <a:noFill/>
          <a:ln/>
        </p:spPr>
        <p:txBody>
          <a:bodyPr wrap="square" lIns="0" tIns="0" rIns="0" bIns="0" rtlCol="0" anchor="ctr"/>
          <a:lstStyle/>
          <a:p>
            <a:pPr algn="ctr" indent="0" marL="0">
              <a:buNone/>
            </a:pPr>
            <a:r>
              <a:rPr lang="en-US" sz="2000" b="1" dirty="0">
                <a:solidFill>
                  <a:srgbClr val="A3D944"/>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6217920" y="1737360"/>
            <a:ext cx="2468880" cy="2377440"/>
          </a:xfrm>
          <a:prstGeom prst="roundRect">
            <a:avLst>
              <a:gd name="adj" fmla="val 3077"/>
            </a:avLst>
          </a:prstGeom>
          <a:solidFill>
            <a:srgbClr val="2D2D44"/>
          </a:solidFill>
          <a:ln w="19050">
            <a:solidFill>
              <a:srgbClr val="76B900"/>
            </a:solidFill>
            <a:prstDash val="solid"/>
          </a:ln>
        </p:spPr>
      </p:sp>
      <p:sp>
        <p:nvSpPr>
          <p:cNvPr id="15" name="Text 13"/>
          <p:cNvSpPr/>
          <p:nvPr/>
        </p:nvSpPr>
        <p:spPr>
          <a:xfrm>
            <a:off x="6446520" y="1920240"/>
            <a:ext cx="20116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Demo siap coba</a:t>
            </a:r>
            <a:endParaRPr lang="en-US" sz="1800" dirty="0"/>
          </a:p>
        </p:txBody>
      </p:sp>
      <p:sp>
        <p:nvSpPr>
          <p:cNvPr id="16" name="Text 14"/>
          <p:cNvSpPr/>
          <p:nvPr/>
        </p:nvSpPr>
        <p:spPr>
          <a:xfrm>
            <a:off x="6446520" y="2423160"/>
            <a:ext cx="2011680" cy="1554480"/>
          </a:xfrm>
          <a:prstGeom prst="rect">
            <a:avLst/>
          </a:prstGeom>
          <a:noFill/>
          <a:ln/>
        </p:spPr>
        <p:txBody>
          <a:bodyPr wrap="square" lIns="0" tIns="0" rIns="0" bIns="0" rtlCol="0" anchor="t"/>
          <a:lstStyle/>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Hugging Face Space, notebook Colab, atau video pendek.</a:t>
            </a:r>
            <a:endParaRPr lang="en-US" sz="1700" dirty="0"/>
          </a:p>
        </p:txBody>
      </p:sp>
      <p:sp>
        <p:nvSpPr>
          <p:cNvPr id="17" name="Text 15"/>
          <p:cNvSpPr/>
          <p:nvPr/>
        </p:nvSpPr>
        <p:spPr>
          <a:xfrm>
            <a:off x="8686800" y="2697480"/>
            <a:ext cx="365760" cy="457200"/>
          </a:xfrm>
          <a:prstGeom prst="rect">
            <a:avLst/>
          </a:prstGeom>
          <a:noFill/>
          <a:ln/>
        </p:spPr>
        <p:txBody>
          <a:bodyPr wrap="square" lIns="0" tIns="0" rIns="0" bIns="0" rtlCol="0" anchor="ctr"/>
          <a:lstStyle/>
          <a:p>
            <a:pPr algn="ctr" indent="0" marL="0">
              <a:buNone/>
            </a:pPr>
            <a:r>
              <a:rPr lang="en-US" sz="2000" b="1" dirty="0">
                <a:solidFill>
                  <a:srgbClr val="A3D944"/>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9052560" y="1737360"/>
            <a:ext cx="2468880" cy="2377440"/>
          </a:xfrm>
          <a:prstGeom prst="roundRect">
            <a:avLst>
              <a:gd name="adj" fmla="val 3077"/>
            </a:avLst>
          </a:prstGeom>
          <a:solidFill>
            <a:srgbClr val="2D2D44"/>
          </a:solidFill>
          <a:ln w="19050">
            <a:solidFill>
              <a:srgbClr val="76B900"/>
            </a:solidFill>
            <a:prstDash val="solid"/>
          </a:ln>
        </p:spPr>
      </p:sp>
      <p:sp>
        <p:nvSpPr>
          <p:cNvPr id="19" name="Text 17"/>
          <p:cNvSpPr/>
          <p:nvPr/>
        </p:nvSpPr>
        <p:spPr>
          <a:xfrm>
            <a:off x="9281160" y="1920240"/>
            <a:ext cx="2011680" cy="411480"/>
          </a:xfrm>
          <a:prstGeom prst="rect">
            <a:avLst/>
          </a:prstGeom>
          <a:noFill/>
          <a:ln/>
        </p:spPr>
        <p:txBody>
          <a:bodyPr wrap="square" lIns="0" tIns="0" rIns="0" bIns="0" rtlCol="0" anchor="ctr"/>
          <a:lstStyle/>
          <a:p>
            <a:pPr indent="0" marL="0">
              <a:buNone/>
            </a:pPr>
            <a:r>
              <a:rPr lang="en-US" sz="1800" b="1" dirty="0">
                <a:solidFill>
                  <a:srgbClr val="76B900"/>
                </a:solidFill>
                <a:latin typeface="Calibri" pitchFamily="34" charset="0"/>
                <a:ea typeface="Calibri" pitchFamily="34" charset="-122"/>
                <a:cs typeface="Calibri" pitchFamily="34" charset="-120"/>
              </a:rPr>
              <a:t>Tulisan singkat</a:t>
            </a:r>
            <a:endParaRPr lang="en-US" sz="1800" dirty="0"/>
          </a:p>
        </p:txBody>
      </p:sp>
      <p:sp>
        <p:nvSpPr>
          <p:cNvPr id="20" name="Text 18"/>
          <p:cNvSpPr/>
          <p:nvPr/>
        </p:nvSpPr>
        <p:spPr>
          <a:xfrm>
            <a:off x="9281160" y="2423160"/>
            <a:ext cx="2011680" cy="1554480"/>
          </a:xfrm>
          <a:prstGeom prst="rect">
            <a:avLst/>
          </a:prstGeom>
          <a:noFill/>
          <a:ln/>
        </p:spPr>
        <p:txBody>
          <a:bodyPr wrap="square" lIns="0" tIns="0" rIns="0" bIns="0" rtlCol="0" anchor="t"/>
          <a:lstStyle/>
          <a:p>
            <a:pPr indent="0" marL="0">
              <a:spcAft>
                <a:spcPts val="600"/>
              </a:spcAft>
              <a:buNone/>
            </a:pPr>
            <a:r>
              <a:rPr lang="en-US" sz="1700" dirty="0">
                <a:solidFill>
                  <a:srgbClr val="FFFFFF"/>
                </a:solidFill>
                <a:latin typeface="Calibri" pitchFamily="34" charset="0"/>
                <a:ea typeface="Calibri" pitchFamily="34" charset="-122"/>
                <a:cs typeface="Calibri" pitchFamily="34" charset="-120"/>
              </a:rPr>
              <a:t>Apa yang berhasil, apa yang gagal, dan apa yang kamu pelajari.</a:t>
            </a:r>
            <a:endParaRPr lang="en-US" sz="1700" dirty="0"/>
          </a:p>
        </p:txBody>
      </p:sp>
      <p:sp>
        <p:nvSpPr>
          <p:cNvPr id="21" name="Shape 19"/>
          <p:cNvSpPr/>
          <p:nvPr/>
        </p:nvSpPr>
        <p:spPr>
          <a:xfrm>
            <a:off x="548640" y="4572000"/>
            <a:ext cx="73152" cy="502920"/>
          </a:xfrm>
          <a:prstGeom prst="rect">
            <a:avLst/>
          </a:prstGeom>
          <a:solidFill>
            <a:srgbClr val="A3D944"/>
          </a:solidFill>
          <a:ln/>
        </p:spPr>
      </p:sp>
      <p:sp>
        <p:nvSpPr>
          <p:cNvPr id="22" name="Text 20"/>
          <p:cNvSpPr/>
          <p:nvPr/>
        </p:nvSpPr>
        <p:spPr>
          <a:xfrm>
            <a:off x="777240" y="4572000"/>
            <a:ext cx="10881360" cy="502920"/>
          </a:xfrm>
          <a:prstGeom prst="rect">
            <a:avLst/>
          </a:prstGeom>
          <a:noFill/>
          <a:ln/>
        </p:spPr>
        <p:txBody>
          <a:bodyPr wrap="square" lIns="0" tIns="0" rIns="0" bIns="0" rtlCol="0" anchor="ctr"/>
          <a:lstStyle/>
          <a:p>
            <a:pPr indent="0" marL="0">
              <a:buNone/>
            </a:pPr>
            <a:r>
              <a:rPr lang="en-US" sz="1700" b="1" dirty="0">
                <a:solidFill>
                  <a:srgbClr val="A3D944"/>
                </a:solidFill>
                <a:latin typeface="Calibri" pitchFamily="34" charset="0"/>
                <a:ea typeface="Calibri" pitchFamily="34" charset="-122"/>
                <a:cs typeface="Calibri" pitchFamily="34" charset="-120"/>
              </a:rPr>
              <a:t>Capstone yang sudah jadi adalah bahan portofolio pertamamu. Tinggal dipublikasikan.</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76B900"/>
          </a:solidFill>
          <a:ln/>
        </p:spPr>
      </p:sp>
      <p:sp>
        <p:nvSpPr>
          <p:cNvPr id="3" name="Text 1"/>
          <p:cNvSpPr/>
          <p:nvPr/>
        </p:nvSpPr>
        <p:spPr>
          <a:xfrm>
            <a:off x="548640" y="320040"/>
            <a:ext cx="10972800" cy="274320"/>
          </a:xfrm>
          <a:prstGeom prst="rect">
            <a:avLst/>
          </a:prstGeom>
          <a:noFill/>
          <a:ln/>
        </p:spPr>
        <p:txBody>
          <a:bodyPr wrap="square" lIns="0" tIns="0" rIns="0" bIns="0" rtlCol="0" anchor="ctr"/>
          <a:lstStyle/>
          <a:p>
            <a:pPr indent="0" marL="0">
              <a:buNone/>
            </a:pPr>
            <a:r>
              <a:rPr lang="en-US" sz="1300" b="1" dirty="0">
                <a:solidFill>
                  <a:srgbClr val="76B900"/>
                </a:solidFill>
                <a:latin typeface="Calibri" pitchFamily="34" charset="0"/>
                <a:ea typeface="Calibri" pitchFamily="34" charset="-122"/>
                <a:cs typeface="Calibri" pitchFamily="34" charset="-120"/>
              </a:rPr>
              <a:t>Penutup</a:t>
            </a:r>
            <a:endParaRPr lang="en-US" sz="1300" dirty="0"/>
          </a:p>
        </p:txBody>
      </p:sp>
      <p:sp>
        <p:nvSpPr>
          <p:cNvPr id="4" name="Text 2"/>
          <p:cNvSpPr/>
          <p:nvPr/>
        </p:nvSpPr>
        <p:spPr>
          <a:xfrm>
            <a:off x="548640" y="640080"/>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Langkah berikutnya</a:t>
            </a:r>
            <a:endParaRPr lang="en-US" sz="3000" dirty="0"/>
          </a:p>
        </p:txBody>
      </p:sp>
      <p:sp>
        <p:nvSpPr>
          <p:cNvPr id="5" name="Text 3"/>
          <p:cNvSpPr/>
          <p:nvPr/>
        </p:nvSpPr>
        <p:spPr>
          <a:xfrm>
            <a:off x="7955280" y="6446520"/>
            <a:ext cx="3749040" cy="274320"/>
          </a:xfrm>
          <a:prstGeom prst="rect">
            <a:avLst/>
          </a:prstGeom>
          <a:noFill/>
          <a:ln/>
        </p:spPr>
        <p:txBody>
          <a:bodyPr wrap="square" lIns="0" tIns="0" rIns="0" bIns="0" rtlCol="0" anchor="ctr"/>
          <a:lstStyle/>
          <a:p>
            <a:pPr algn="r" indent="0" marL="0">
              <a:buNone/>
            </a:pPr>
            <a:r>
              <a:rPr lang="en-US" sz="1000" dirty="0">
                <a:solidFill>
                  <a:srgbClr val="AAAACC"/>
                </a:solidFill>
                <a:latin typeface="Calibri" pitchFamily="34" charset="0"/>
                <a:ea typeface="Calibri" pitchFamily="34" charset="-122"/>
                <a:cs typeface="Calibri" pitchFamily="34" charset="-120"/>
              </a:rPr>
              <a:t>Navasena · Exam Preparation   14</a:t>
            </a:r>
            <a:endParaRPr lang="en-US" sz="1000" dirty="0"/>
          </a:p>
        </p:txBody>
      </p:sp>
      <p:sp>
        <p:nvSpPr>
          <p:cNvPr id="6" name="Text 4"/>
          <p:cNvSpPr/>
          <p:nvPr/>
        </p:nvSpPr>
        <p:spPr>
          <a:xfrm>
            <a:off x="548640" y="1645920"/>
            <a:ext cx="5760720" cy="4389120"/>
          </a:xfrm>
          <a:prstGeom prst="rect">
            <a:avLst/>
          </a:prstGeom>
          <a:noFill/>
          <a:ln/>
        </p:spPr>
        <p:txBody>
          <a:bodyPr wrap="square" rtlCol="0" anchor="t"/>
          <a:lstStyle/>
          <a:p>
            <a:pPr marL="342900" indent="-342900">
              <a:spcAft>
                <a:spcPts val="1200"/>
              </a:spcAft>
              <a:buSzPct val="100000"/>
              <a:buChar char="•"/>
            </a:pPr>
            <a:r>
              <a:rPr lang="en-US" sz="2000" dirty="0">
                <a:solidFill>
                  <a:srgbClr val="FFFFFF"/>
                </a:solidFill>
                <a:latin typeface="Calibri" pitchFamily="34" charset="0"/>
                <a:ea typeface="Calibri" pitchFamily="34" charset="-122"/>
                <a:cs typeface="Calibri" pitchFamily="34" charset="-120"/>
              </a:rPr>
              <a:t>Bandingkan hasil pre-test dengan peta domain tadi.</a:t>
            </a:r>
            <a:endParaRPr lang="en-US" sz="2000" dirty="0"/>
          </a:p>
          <a:p>
            <a:pPr marL="342900" indent="-342900">
              <a:spcAft>
                <a:spcPts val="1200"/>
              </a:spcAft>
              <a:buSzPct val="100000"/>
              <a:buChar char="•"/>
            </a:pPr>
            <a:r>
              <a:rPr lang="en-US" sz="2000" dirty="0">
                <a:solidFill>
                  <a:srgbClr val="FFFFFF"/>
                </a:solidFill>
                <a:latin typeface="Calibri" pitchFamily="34" charset="0"/>
                <a:ea typeface="Calibri" pitchFamily="34" charset="-122"/>
                <a:cs typeface="Calibri" pitchFamily="34" charset="-120"/>
              </a:rPr>
              <a:t>Pelajari topik tipis, lalu daftar ujian NCA-GENL.</a:t>
            </a:r>
            <a:endParaRPr lang="en-US" sz="2000" dirty="0"/>
          </a:p>
          <a:p>
            <a:pPr marL="342900" indent="-342900">
              <a:spcAft>
                <a:spcPts val="1200"/>
              </a:spcAft>
              <a:buSzPct val="100000"/>
              <a:buChar char="•"/>
            </a:pPr>
            <a:r>
              <a:rPr lang="en-US" sz="2000" dirty="0">
                <a:solidFill>
                  <a:srgbClr val="FFFFFF"/>
                </a:solidFill>
                <a:latin typeface="Calibri" pitchFamily="34" charset="0"/>
                <a:ea typeface="Calibri" pitchFamily="34" charset="-122"/>
                <a:cs typeface="Calibri" pitchFamily="34" charset="-120"/>
              </a:rPr>
              <a:t>Daftar NVIDIA Developer Program (gratis).</a:t>
            </a:r>
            <a:endParaRPr lang="en-US" sz="2000" dirty="0"/>
          </a:p>
          <a:p>
            <a:pPr marL="342900" indent="-342900">
              <a:spcAft>
                <a:spcPts val="1200"/>
              </a:spcAft>
              <a:buSzPct val="100000"/>
              <a:buChar char="•"/>
            </a:pPr>
            <a:r>
              <a:rPr lang="en-US" sz="2000" dirty="0">
                <a:solidFill>
                  <a:srgbClr val="FFFFFF"/>
                </a:solidFill>
                <a:latin typeface="Calibri" pitchFamily="34" charset="0"/>
                <a:ea typeface="Calibri" pitchFamily="34" charset="-122"/>
                <a:cs typeface="Calibri" pitchFamily="34" charset="-120"/>
              </a:rPr>
              <a:t>Pilih satu arah peran dan satu proyek pertama.</a:t>
            </a:r>
            <a:endParaRPr lang="en-US" sz="2000" dirty="0"/>
          </a:p>
          <a:p>
            <a:pPr marL="342900" indent="-342900">
              <a:spcAft>
                <a:spcPts val="1200"/>
              </a:spcAft>
              <a:buSzPct val="100000"/>
              <a:buChar char="•"/>
            </a:pPr>
            <a:r>
              <a:rPr lang="en-US" sz="2000" dirty="0">
                <a:solidFill>
                  <a:srgbClr val="FFFFFF"/>
                </a:solidFill>
                <a:latin typeface="Calibri" pitchFamily="34" charset="0"/>
                <a:ea typeface="Calibri" pitchFamily="34" charset="-122"/>
                <a:cs typeface="Calibri" pitchFamily="34" charset="-120"/>
              </a:rPr>
              <a:t>Rapikan capstone jadi portofolio publik.</a:t>
            </a:r>
            <a:endParaRPr lang="en-US" sz="2000" dirty="0"/>
          </a:p>
        </p:txBody>
      </p:sp>
      <p:sp>
        <p:nvSpPr>
          <p:cNvPr id="7" name="Shape 5"/>
          <p:cNvSpPr/>
          <p:nvPr/>
        </p:nvSpPr>
        <p:spPr>
          <a:xfrm>
            <a:off x="6583680" y="1600200"/>
            <a:ext cx="5029200" cy="4480560"/>
          </a:xfrm>
          <a:prstGeom prst="roundRect">
            <a:avLst>
              <a:gd name="adj" fmla="val 1633"/>
            </a:avLst>
          </a:prstGeom>
          <a:solidFill>
            <a:srgbClr val="2D2D44"/>
          </a:solidFill>
          <a:ln w="19050">
            <a:solidFill>
              <a:srgbClr val="A3D944"/>
            </a:solidFill>
            <a:prstDash val="solid"/>
          </a:ln>
        </p:spPr>
      </p:sp>
      <p:sp>
        <p:nvSpPr>
          <p:cNvPr id="8" name="Text 6"/>
          <p:cNvSpPr/>
          <p:nvPr/>
        </p:nvSpPr>
        <p:spPr>
          <a:xfrm>
            <a:off x="6812280" y="1828800"/>
            <a:ext cx="4572000" cy="320040"/>
          </a:xfrm>
          <a:prstGeom prst="rect">
            <a:avLst/>
          </a:prstGeom>
          <a:noFill/>
          <a:ln/>
        </p:spPr>
        <p:txBody>
          <a:bodyPr wrap="square" lIns="0" tIns="0" rIns="0" bIns="0" rtlCol="0" anchor="ctr"/>
          <a:lstStyle/>
          <a:p>
            <a:pPr indent="0" marL="0">
              <a:buNone/>
            </a:pPr>
            <a:r>
              <a:rPr lang="en-US" sz="1500" b="1" dirty="0">
                <a:solidFill>
                  <a:srgbClr val="A3D944"/>
                </a:solidFill>
                <a:latin typeface="Calibri" pitchFamily="34" charset="0"/>
                <a:ea typeface="Calibri" pitchFamily="34" charset="-122"/>
                <a:cs typeface="Calibri" pitchFamily="34" charset="-120"/>
              </a:rPr>
              <a:t>Sertifikasi NVIDIA</a:t>
            </a:r>
            <a:endParaRPr lang="en-US" sz="1500" dirty="0"/>
          </a:p>
        </p:txBody>
      </p:sp>
      <p:sp>
        <p:nvSpPr>
          <p:cNvPr id="9" name="Text 7"/>
          <p:cNvSpPr/>
          <p:nvPr/>
        </p:nvSpPr>
        <p:spPr>
          <a:xfrm>
            <a:off x="6812280" y="2148840"/>
            <a:ext cx="4572000" cy="365760"/>
          </a:xfrm>
          <a:prstGeom prst="rect">
            <a:avLst/>
          </a:prstGeom>
          <a:noFill/>
          <a:ln/>
        </p:spPr>
        <p:txBody>
          <a:bodyPr wrap="square" lIns="0" tIns="0" rIns="0" bIns="0" rtlCol="0" anchor="ctr"/>
          <a:lstStyle/>
          <a:p>
            <a:pPr indent="0" marL="0">
              <a:buNone/>
            </a:pPr>
            <a:r>
              <a:rPr lang="en-US" sz="15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nvidia.com/en-us/learn/certification</a:t>
            </a:r>
            <a:endParaRPr lang="en-US" sz="1500" dirty="0"/>
          </a:p>
        </p:txBody>
      </p:sp>
      <p:sp>
        <p:nvSpPr>
          <p:cNvPr id="10" name="Text 8"/>
          <p:cNvSpPr/>
          <p:nvPr/>
        </p:nvSpPr>
        <p:spPr>
          <a:xfrm>
            <a:off x="6812280" y="2743200"/>
            <a:ext cx="4572000" cy="320040"/>
          </a:xfrm>
          <a:prstGeom prst="rect">
            <a:avLst/>
          </a:prstGeom>
          <a:noFill/>
          <a:ln/>
        </p:spPr>
        <p:txBody>
          <a:bodyPr wrap="square" lIns="0" tIns="0" rIns="0" bIns="0" rtlCol="0" anchor="ctr"/>
          <a:lstStyle/>
          <a:p>
            <a:pPr indent="0" marL="0">
              <a:buNone/>
            </a:pPr>
            <a:r>
              <a:rPr lang="en-US" sz="1500" b="1" dirty="0">
                <a:solidFill>
                  <a:srgbClr val="A3D944"/>
                </a:solidFill>
                <a:latin typeface="Calibri" pitchFamily="34" charset="0"/>
                <a:ea typeface="Calibri" pitchFamily="34" charset="-122"/>
                <a:cs typeface="Calibri" pitchFamily="34" charset="-120"/>
              </a:rPr>
              <a:t>Kursus DLI</a:t>
            </a:r>
            <a:endParaRPr lang="en-US" sz="1500" dirty="0"/>
          </a:p>
        </p:txBody>
      </p:sp>
      <p:sp>
        <p:nvSpPr>
          <p:cNvPr id="11" name="Text 9"/>
          <p:cNvSpPr/>
          <p:nvPr/>
        </p:nvSpPr>
        <p:spPr>
          <a:xfrm>
            <a:off x="6812280" y="3063240"/>
            <a:ext cx="4572000" cy="365760"/>
          </a:xfrm>
          <a:prstGeom prst="rect">
            <a:avLst/>
          </a:prstGeom>
          <a:noFill/>
          <a:ln/>
        </p:spPr>
        <p:txBody>
          <a:bodyPr wrap="square" lIns="0" tIns="0" rIns="0" bIns="0" rtlCol="0" anchor="ctr"/>
          <a:lstStyle/>
          <a:p>
            <a:pPr indent="0" marL="0">
              <a:buNone/>
            </a:pPr>
            <a:r>
              <a:rPr lang="en-US" sz="1500"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nvidia.com/en-us/training/self-paced-courses</a:t>
            </a:r>
            <a:endParaRPr lang="en-US" sz="1500" dirty="0"/>
          </a:p>
        </p:txBody>
      </p:sp>
      <p:sp>
        <p:nvSpPr>
          <p:cNvPr id="12" name="Text 10"/>
          <p:cNvSpPr/>
          <p:nvPr/>
        </p:nvSpPr>
        <p:spPr>
          <a:xfrm>
            <a:off x="6812280" y="3657600"/>
            <a:ext cx="4572000" cy="320040"/>
          </a:xfrm>
          <a:prstGeom prst="rect">
            <a:avLst/>
          </a:prstGeom>
          <a:noFill/>
          <a:ln/>
        </p:spPr>
        <p:txBody>
          <a:bodyPr wrap="square" lIns="0" tIns="0" rIns="0" bIns="0" rtlCol="0" anchor="ctr"/>
          <a:lstStyle/>
          <a:p>
            <a:pPr indent="0" marL="0">
              <a:buNone/>
            </a:pPr>
            <a:r>
              <a:rPr lang="en-US" sz="1500" b="1" dirty="0">
                <a:solidFill>
                  <a:srgbClr val="A3D944"/>
                </a:solidFill>
                <a:latin typeface="Calibri" pitchFamily="34" charset="0"/>
                <a:ea typeface="Calibri" pitchFamily="34" charset="-122"/>
                <a:cs typeface="Calibri" pitchFamily="34" charset="-120"/>
              </a:rPr>
              <a:t>Developer Program</a:t>
            </a:r>
            <a:endParaRPr lang="en-US" sz="1500" dirty="0"/>
          </a:p>
        </p:txBody>
      </p:sp>
      <p:sp>
        <p:nvSpPr>
          <p:cNvPr id="13" name="Text 11"/>
          <p:cNvSpPr/>
          <p:nvPr/>
        </p:nvSpPr>
        <p:spPr>
          <a:xfrm>
            <a:off x="6812280" y="3977640"/>
            <a:ext cx="4572000" cy="365760"/>
          </a:xfrm>
          <a:prstGeom prst="rect">
            <a:avLst/>
          </a:prstGeom>
          <a:noFill/>
          <a:ln/>
        </p:spPr>
        <p:txBody>
          <a:bodyPr wrap="square" lIns="0" tIns="0" rIns="0" bIns="0" rtlCol="0" anchor="ctr"/>
          <a:lstStyle/>
          <a:p>
            <a:pPr indent="0" marL="0">
              <a:buNone/>
            </a:pPr>
            <a:r>
              <a:rPr lang="en-US" sz="1500"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developer.nvidia.com/developer-program</a:t>
            </a:r>
            <a:endParaRPr lang="en-US" sz="1500" dirty="0"/>
          </a:p>
        </p:txBody>
      </p:sp>
      <p:sp>
        <p:nvSpPr>
          <p:cNvPr id="14" name="Text 12"/>
          <p:cNvSpPr/>
          <p:nvPr/>
        </p:nvSpPr>
        <p:spPr>
          <a:xfrm>
            <a:off x="6812280" y="4572000"/>
            <a:ext cx="4572000" cy="320040"/>
          </a:xfrm>
          <a:prstGeom prst="rect">
            <a:avLst/>
          </a:prstGeom>
          <a:noFill/>
          <a:ln/>
        </p:spPr>
        <p:txBody>
          <a:bodyPr wrap="square" lIns="0" tIns="0" rIns="0" bIns="0" rtlCol="0" anchor="ctr"/>
          <a:lstStyle/>
          <a:p>
            <a:pPr indent="0" marL="0">
              <a:buNone/>
            </a:pPr>
            <a:r>
              <a:rPr lang="en-US" sz="1500" b="1" dirty="0">
                <a:solidFill>
                  <a:srgbClr val="A3D944"/>
                </a:solidFill>
                <a:latin typeface="Calibri" pitchFamily="34" charset="0"/>
                <a:ea typeface="Calibri" pitchFamily="34" charset="-122"/>
                <a:cs typeface="Calibri" pitchFamily="34" charset="-120"/>
              </a:rPr>
              <a:t>NIM API</a:t>
            </a:r>
            <a:endParaRPr lang="en-US" sz="1500" dirty="0"/>
          </a:p>
        </p:txBody>
      </p:sp>
      <p:sp>
        <p:nvSpPr>
          <p:cNvPr id="15" name="Text 13"/>
          <p:cNvSpPr/>
          <p:nvPr/>
        </p:nvSpPr>
        <p:spPr>
          <a:xfrm>
            <a:off x="6812280" y="4892040"/>
            <a:ext cx="4572000" cy="365760"/>
          </a:xfrm>
          <a:prstGeom prst="rect">
            <a:avLst/>
          </a:prstGeom>
          <a:noFill/>
          <a:ln/>
        </p:spPr>
        <p:txBody>
          <a:bodyPr wrap="square" lIns="0" tIns="0" rIns="0" bIns="0" rtlCol="0" anchor="ctr"/>
          <a:lstStyle/>
          <a:p>
            <a:pPr indent="0" marL="0">
              <a:buNone/>
            </a:pPr>
            <a:r>
              <a:rPr lang="en-US" sz="1500" u="sng" dirty="0">
                <a:solidFill>
                  <a:srgbClr val="FFFFF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build.nvidia.com</a:t>
            </a:r>
            <a:endParaRPr lang="en-US" sz="1500" dirty="0"/>
          </a:p>
        </p:txBody>
      </p:sp>
      <p:sp>
        <p:nvSpPr>
          <p:cNvPr id="16" name="Text 14"/>
          <p:cNvSpPr/>
          <p:nvPr/>
        </p:nvSpPr>
        <p:spPr>
          <a:xfrm>
            <a:off x="6812280" y="5486400"/>
            <a:ext cx="4572000" cy="365760"/>
          </a:xfrm>
          <a:prstGeom prst="rect">
            <a:avLst/>
          </a:prstGeom>
          <a:noFill/>
          <a:ln/>
        </p:spPr>
        <p:txBody>
          <a:bodyPr wrap="square" lIns="0" tIns="0" rIns="0" bIns="0" rtlCol="0" anchor="ctr"/>
          <a:lstStyle/>
          <a:p>
            <a:pPr indent="0" marL="0">
              <a:buNone/>
            </a:pPr>
            <a:r>
              <a:rPr lang="en-US" sz="1300" i="1" dirty="0">
                <a:solidFill>
                  <a:srgbClr val="AAAACC"/>
                </a:solidFill>
                <a:latin typeface="Calibri" pitchFamily="34" charset="0"/>
                <a:ea typeface="Calibri" pitchFamily="34" charset="-122"/>
                <a:cs typeface="Calibri" pitchFamily="34" charset="-120"/>
              </a:rPr>
              <a:t>Detail tiap domain: deck NCA-GENL (materi pendamping).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 Preparation — dan Langkah Setelahnya</dc:title>
  <dc:subject>PptxGenJS Presentation</dc:subject>
  <dc:creator>PptxGenJS</dc:creator>
  <cp:lastModifiedBy>PptxGenJS</cp:lastModifiedBy>
  <cp:revision>1</cp:revision>
  <dcterms:created xsi:type="dcterms:W3CDTF">2026-09-24T02:27:39Z</dcterms:created>
  <dcterms:modified xsi:type="dcterms:W3CDTF">2026-09-24T02:27:39Z</dcterms:modified>
</cp:coreProperties>
</file>