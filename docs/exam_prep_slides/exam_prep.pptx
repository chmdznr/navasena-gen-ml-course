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Sesi ini dibagi tiga bagian. Pertama, cara lulus ujian NCA-GENL: formatnya, domain mana yang sudah tercakup bootcamp, dan apa yang masih perlu kamu pelajari sendiri. Kedua, apa saja yang disediakan NVIDIA di luar ujian: sertifikasi lanjutan, kursus DLI, Developer Program, dan komunitasnya. Ketiga, arah karier dan cara mengubah capstone jadi portofolio.
Pesan utamanya: sertifikat itu satu langkah, bukan tujuan akhir. Kita ingin kamu pulang dengan langkah berikutnya yang jelas, bukan hanya daftar tips ujian.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Mulai dari apa yang sudah kamu bangun, bukan dari apa yang belum. Enam kotak ini merangkum isi modul 01 sampai 06. Hampir semua ini muncul di blueprint NCA-GENL.
[Arahan: minta peserta membuka hasil pre-test.] Buka lagi hasil pre-test kamu. Domain yang dulu nilainya paling rendah dan sekarang sudah dibahas di bootcamp adalah bukti kemajuan. Domain yang dulu rendah dan belum banyak dibahas adalah prioritas belajar berikutnya. Kita bahas petanya di slide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Semua angka di slide ini dari halaman resmi NCA-GENL. Dicek 24 September 2026.
Sumber: https://www.nvidia.com/en-us/learn/certification/generative-ai-llm-associate/
Level Associate, entry-level. Pendaftaran lewat tombol Register for Exam di halaman itu (platform Certiverse). Lulus mendapat digital badge dan sertifikat opsional. Setelah dua tahun, sertifikasi diperbarui dengan mengikuti ujian lagi.
Soal passing score pasti ditanyakan. Jawabannya: NVIDIA tidak memublikasikannya. Angka batas lulus yang beredar di internet tidak punya dasar resmi. Strategi yang aman adalah menguasai materinya, bukan mengejar batas minimal. Satu lagi: baca examination policy NVIDIA sebelum menjadwalkan ujian.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Bobot domain dari blueprint resmi NCA-GENL. Dicek 24 September 2026.
Sumber: https://www.nvidia.com/en-us/learn/certification/generative-ai-llm-associate/
Status diambil dari isi notebook bootcamp. "Tercakup" artinya ada notebook yang membahas topik itu secara langsung. Experimentation hanya sebagian: kita sudah mengevaluasi model dan RAG, tapi belum membahas desain eksperimen, A/B test, atau experiment tracking. Topik ini dan beberapa topik lain kita bahas di slide berikutnya.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Topik tipis adalah topik yang belum punya notebook sendiri di bootcamp. Oranye untuk yang paling mungkin keluar di soal, biru untuk yang cukup dipahami konsepnya.
Alignment disebut langsung di daftar topik resmi NCA-GENL. Desain eksperimen bagian dari domain Experimentation yang bobotnya 22%. NeMo Framework dan distributed training adalah konteks ekosistem yang wajar dipahami: cukup tahu fungsinya dan kapan dipakai, bukan menulis kodenya.
Sumber belajar: cari di katalog DLI (ada filter Free Courses) dan cek silabusnya dulu sebelum mendaftar. Sumber topik resmi: https://www.nvidia.com/en-us/learn/certification/generative-ai-llm-associate/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Urutannya disusun berdasarkan pengaruhnya ke skor, bukan dari yang paling mudah. Domain berbobot besar yang masih lemah menyumbang paling banyak soal, jadi itu dulu.
Langkah pertama berbeda untuk tiap orang. Experimentation jadi prioritas kita semua karena baru tercakup sebagian. Selain itu, hasil pre-test menunjukkan domain terlemahmu sendiri; kalau itu Core ML yang bobotnya 30%, dahulukan juga.
Langkah terakhir penting karena soal ujian berbahasa Inggris. Membiasakan diri membaca soal pilihan ganda teknis dalam bahasa Inggris sama pentingnya dengan menguasai materinya.
Bahan latihan yang sudah kamu punya: quiz tiap modul (file *-quiz.html di folder modul 01–06), misalnya llm-fundamentals-quiz.html dan nvidia-ecosystem-quiz.html.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Taktik ini umum untuk ujian pilihan ganda berbatas waktu, disesuaikan dengan format NCA-GENL.
Satu menit per soal berasal dari 60 menit untuk 50 sampai 60 soal. Kalau satu soal terasa buntu, pilih jawaban terbaik yang kamu punya lalu lanjut.
Kata kunci seperti "most likely" atau "first" sering membedakan dua pilihan yang sama-sama benar secara teknis. Soal dengan "NOT" mudah terlewat kalau membaca terburu-buru.
Soal tentang produk NVIDIA kemungkinan besar menanyakan fungsinya: mana untuk serving, mana untuk optimasi inferensi, mana untuk guardrails. Kamu sudah memakai hampir semuanya di bootcamp.
Latih tempo satu menit per soal dengan quiz modul (*-quiz.html) sebelum hari ujian.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Daftar dari katalog sertifikasi resmi NVIDIA. Dicek 24 September 2026.
Sumber: https://www.nvidia.com/en-us/learn/certification/
Associate menguji pemahaman konsep. Professional menguji kemampuan membangun dan mengoperasikan sistem nyata, jadi butuh pengalaman praktik. Ujian Associate yang dicek berbiaya $125. Harga Professional berbeda-beda per ujian, cek di halaman masing-masing.
NCP-GENL adalah versi lanjutan dari ujian yang sedang kita siapkan. NCP-AAI (Agentic AI) cocok untuk yang ingin mendalami agen berbasis LLM, lanjutan alami dari modul RAG. Katalog ini sering berubah, jadi selalu cek halaman resminya.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 Learning Institute adalah unit pelatihan resmi NVIDIA. Dicek 24 September 2026.
Sumber: https://www.nvidia.com/en-us/training/self-paced-courses/ dan https://www.nvidia.com/en-us/learn/certification/generative-ai-llm-associate/
Halaman self-paced punya filter Free Courses. Mulai dari yang gratis. Harga $90 dan $500 di slide adalah harga kursus yang direkomendasikan untuk NCA-GENL, bukan harga semua kursus DLI.
Di halaman NCA-GENL, NVIDIA memetakan kursus-kursus ini ke domain ujian. Sebelum membeli, cek silabusnya: pilih yang menutup domain terlemahmu.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Dua akses yang paling berguna setelah bootcamp selesai. Dicek 24 September 2026.
Sumber: https://developer.nvidia.com/developer-program dan https://build.nvidia.com/
Developer Program gratis dan jadi pintu masuk ke banyak sumber daya NVIDIA lain. Kredit cloud diberikan setelah pencapaian belajar tertentu, jadi syaratnya bisa berubah.
build.nvidia.com sudah kamu kenal: generator di modul RAG dan NVIDIA memanggil NIM lewat endpoint integrate.api.nvidia.com. Artinya kamu tidak perlu GPU besar untuk mencoba model 70B. Batas pemakaiannya bisa berubah, jadi cek di akun masing-masing.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Dicek 24 September 2026. Sumber:
GTC: https://www.nvidia.com/gtc/
Jetson AI Lab: https://www.jetson-ai-lab.com/
Developer Forums: https://forums.developer.nvidia.com/
Inception: https://www.nvidia.com/en-us/startups/
Informasi ujian gratis untuk peserta GTC on-site ada di halaman training NVIDIA (https://www.nvidia.com/en-us/training/). Ketentuannya bisa berubah tiap tahun.
Jetson AI Lab cocok untuk yang tertarik edge AI. Di modul NVIDIA kita sudah menjalankan LLM di Jetson Orin Nano. Inception relevan kalau kamu sedang atau ingin membangun startup; manfaat investor bergantung pada kelayakan.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Tabel ini bukan daftar wajib. Tujuannya membantu kamu memilih satu arah dulu.
Sertifikasi di kolom tengah mengacu ke katalog NVIDIA: https://www.nvidia.com/en-us/learn/certification/ . Tanda panah artinya mulai dari Associate, lalu naik ke Professional.
Proyek pertama sengaja dipilih yang bisa dimulai dari notebook bootcamp: agen RAG dari modul RAG, fine-tune SLM dari modul LLM, RAPIDS dari modul 01 dan 03, Triton dari modul NVIDIA, dan Jetson dari lab edge. Rekruter lebih mudah menilai satu proyek yang dalam dan terukur daripada lima sertifikat tanpa bukti kerja.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Capstone sudah berisi kerja nyata; yang kurang biasanya hanya kemasannya.
Repo yang rapi dimulai dari README yang menjawab tiga pertanyaan: masalah apa, bagaimana menjalankannya, dan apa hasilnya. Angka yang terukur adalah kebiasaan yang kita pakai sepanjang bootcamp: setiap klaim performa disertai data dan perangkatnya.
Demo tidak harus rumit. Notebook Colab yang langsung bisa dijalankan sudah cukup. Tulisan singkat, misalnya di LinkedIn atau blog, membantu orang lain memahami keputusan teknis yang kamu ambil, termasuk yang gagal.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Lima langkah ini sengaja tanpa tanggal: urutannya yang penting, bukan kecepatannya.
Tautan di kanan bisa diklik saat deck dibagikan. Deck sertifikasi NCA-GENL (file nca_genl_slides.pdf, di repo: docs/nca_genl_slides/) membahas kelima domain ujian satu per satu dan cocok dipakai sebagai bahan belajar mandiri.
[Arahan: tutup sesi dengan pesan pembuka.] Ingat lagi pesan di awal: sertifikat itu satu langkah. Yang membuat kamu dipercaya adalah proyek yang bisa ditunjukkan dan dijelaskan.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www.nvidia.com/en-us/learn/certification/" TargetMode="External"/><Relationship Id="rId2" Type="http://schemas.openxmlformats.org/officeDocument/2006/relationships/hyperlink" Target="https://www.nvidia.com/en-us/training/self-paced-courses/" TargetMode="External"/><Relationship Id="rId3" Type="http://schemas.openxmlformats.org/officeDocument/2006/relationships/hyperlink" Target="https://developer.nvidia.com/developer-program" TargetMode="External"/><Relationship Id="rId4" Type="http://schemas.openxmlformats.org/officeDocument/2006/relationships/hyperlink" Target="https://build.nvidia.com/" TargetMode="External"/><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76B900"/>
          </a:solidFill>
          <a:ln/>
        </p:spPr>
      </p:sp>
      <p:sp>
        <p:nvSpPr>
          <p:cNvPr id="3" name="Text 1"/>
          <p:cNvSpPr/>
          <p:nvPr/>
        </p:nvSpPr>
        <p:spPr>
          <a:xfrm>
            <a:off x="7955280" y="6446520"/>
            <a:ext cx="3749040" cy="274320"/>
          </a:xfrm>
          <a:prstGeom prst="rect">
            <a:avLst/>
          </a:prstGeom>
          <a:noFill/>
          <a:ln/>
        </p:spPr>
        <p:txBody>
          <a:bodyPr wrap="square" lIns="0" tIns="0" rIns="0" bIns="0" rtlCol="0" anchor="ctr"/>
          <a:lstStyle/>
          <a:p>
            <a:pPr algn="r" indent="0" marL="0">
              <a:buNone/>
            </a:pPr>
            <a:r>
              <a:rPr lang="en-US" sz="1000" dirty="0">
                <a:solidFill>
                  <a:srgbClr val="AAAACC"/>
                </a:solidFill>
                <a:latin typeface="Calibri" pitchFamily="34" charset="0"/>
                <a:ea typeface="Calibri" pitchFamily="34" charset="-122"/>
                <a:cs typeface="Calibri" pitchFamily="34" charset="-120"/>
              </a:rPr>
              <a:t>Navasena · Exam Preparation   1</a:t>
            </a:r>
            <a:endParaRPr lang="en-US" sz="1000" dirty="0"/>
          </a:p>
        </p:txBody>
      </p:sp>
      <p:sp>
        <p:nvSpPr>
          <p:cNvPr id="4" name="Shape 2"/>
          <p:cNvSpPr/>
          <p:nvPr/>
        </p:nvSpPr>
        <p:spPr>
          <a:xfrm>
            <a:off x="548640" y="2011680"/>
            <a:ext cx="109728" cy="2103120"/>
          </a:xfrm>
          <a:prstGeom prst="rect">
            <a:avLst/>
          </a:prstGeom>
          <a:solidFill>
            <a:srgbClr val="76B900"/>
          </a:solidFill>
          <a:ln/>
        </p:spPr>
      </p:sp>
      <p:sp>
        <p:nvSpPr>
          <p:cNvPr id="5" name="Text 3"/>
          <p:cNvSpPr/>
          <p:nvPr/>
        </p:nvSpPr>
        <p:spPr>
          <a:xfrm>
            <a:off x="868680" y="1920240"/>
            <a:ext cx="10515600" cy="1005840"/>
          </a:xfrm>
          <a:prstGeom prst="rect">
            <a:avLst/>
          </a:prstGeom>
          <a:noFill/>
          <a:ln/>
        </p:spPr>
        <p:txBody>
          <a:bodyPr wrap="square" lIns="0" tIns="0" rIns="0" bIns="0" rtlCol="0" anchor="ctr"/>
          <a:lstStyle/>
          <a:p>
            <a:pPr indent="0" marL="0">
              <a:buNone/>
            </a:pPr>
            <a:r>
              <a:rPr lang="en-US" sz="5400" b="1" dirty="0">
                <a:solidFill>
                  <a:srgbClr val="FFFFFF"/>
                </a:solidFill>
                <a:latin typeface="Calibri" pitchFamily="34" charset="0"/>
                <a:ea typeface="Calibri" pitchFamily="34" charset="-122"/>
                <a:cs typeface="Calibri" pitchFamily="34" charset="-120"/>
              </a:rPr>
              <a:t>Exam Preparation</a:t>
            </a:r>
            <a:endParaRPr lang="en-US" sz="5400" dirty="0"/>
          </a:p>
        </p:txBody>
      </p:sp>
      <p:sp>
        <p:nvSpPr>
          <p:cNvPr id="6" name="Text 4"/>
          <p:cNvSpPr/>
          <p:nvPr/>
        </p:nvSpPr>
        <p:spPr>
          <a:xfrm>
            <a:off x="868680" y="2880360"/>
            <a:ext cx="10515600" cy="548640"/>
          </a:xfrm>
          <a:prstGeom prst="rect">
            <a:avLst/>
          </a:prstGeom>
          <a:noFill/>
          <a:ln/>
        </p:spPr>
        <p:txBody>
          <a:bodyPr wrap="square" lIns="0" tIns="0" rIns="0" bIns="0" rtlCol="0" anchor="ctr"/>
          <a:lstStyle/>
          <a:p>
            <a:pPr indent="0" marL="0">
              <a:buNone/>
            </a:pPr>
            <a:r>
              <a:rPr lang="en-US" sz="2800" dirty="0">
                <a:solidFill>
                  <a:srgbClr val="A3D944"/>
                </a:solidFill>
                <a:latin typeface="Calibri" pitchFamily="34" charset="0"/>
                <a:ea typeface="Calibri" pitchFamily="34" charset="-122"/>
                <a:cs typeface="Calibri" pitchFamily="34" charset="-120"/>
              </a:rPr>
              <a:t>— dan langkah setelahnya</a:t>
            </a:r>
            <a:endParaRPr lang="en-US" sz="2800" dirty="0"/>
          </a:p>
        </p:txBody>
      </p:sp>
      <p:sp>
        <p:nvSpPr>
          <p:cNvPr id="7" name="Text 5"/>
          <p:cNvSpPr/>
          <p:nvPr/>
        </p:nvSpPr>
        <p:spPr>
          <a:xfrm>
            <a:off x="868680" y="3566160"/>
            <a:ext cx="10515600" cy="457200"/>
          </a:xfrm>
          <a:prstGeom prst="rect">
            <a:avLst/>
          </a:prstGeom>
          <a:noFill/>
          <a:ln/>
        </p:spPr>
        <p:txBody>
          <a:bodyPr wrap="square" lIns="0" tIns="0" rIns="0" bIns="0" rtlCol="0" anchor="ctr"/>
          <a:lstStyle/>
          <a:p>
            <a:pPr indent="0" marL="0">
              <a:buNone/>
            </a:pPr>
            <a:r>
              <a:rPr lang="en-US" sz="2000" dirty="0">
                <a:solidFill>
                  <a:srgbClr val="AAAACC"/>
                </a:solidFill>
                <a:latin typeface="Calibri" pitchFamily="34" charset="0"/>
                <a:ea typeface="Calibri" pitchFamily="34" charset="-122"/>
                <a:cs typeface="Calibri" pitchFamily="34" charset="-120"/>
              </a:rPr>
              <a:t>Lulus NCA-GENL, lalu ke mana?</a:t>
            </a:r>
            <a:endParaRPr lang="en-US" sz="2000" dirty="0"/>
          </a:p>
        </p:txBody>
      </p:sp>
      <p:sp>
        <p:nvSpPr>
          <p:cNvPr id="8" name="Text 6"/>
          <p:cNvSpPr/>
          <p:nvPr/>
        </p:nvSpPr>
        <p:spPr>
          <a:xfrm>
            <a:off x="868680" y="5760720"/>
            <a:ext cx="7315200" cy="365760"/>
          </a:xfrm>
          <a:prstGeom prst="rect">
            <a:avLst/>
          </a:prstGeom>
          <a:noFill/>
          <a:ln/>
        </p:spPr>
        <p:txBody>
          <a:bodyPr wrap="square" lIns="0" tIns="0" rIns="0" bIns="0" rtlCol="0" anchor="ctr"/>
          <a:lstStyle/>
          <a:p>
            <a:pPr indent="0" marL="0">
              <a:buNone/>
            </a:pPr>
            <a:r>
              <a:rPr lang="en-US" sz="1600" dirty="0">
                <a:solidFill>
                  <a:srgbClr val="AAAACC"/>
                </a:solidFill>
                <a:latin typeface="Calibri" pitchFamily="34" charset="0"/>
                <a:ea typeface="Calibri" pitchFamily="34" charset="-122"/>
                <a:cs typeface="Calibri" pitchFamily="34" charset="-120"/>
              </a:rPr>
              <a:t>Navasena · NCA-GENL Bootcamp</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76B900"/>
          </a:solidFill>
          <a:ln/>
        </p:spPr>
      </p:sp>
      <p:sp>
        <p:nvSpPr>
          <p:cNvPr id="3" name="Text 1"/>
          <p:cNvSpPr/>
          <p:nvPr/>
        </p:nvSpPr>
        <p:spPr>
          <a:xfrm>
            <a:off x="548640" y="320040"/>
            <a:ext cx="10972800" cy="274320"/>
          </a:xfrm>
          <a:prstGeom prst="rect">
            <a:avLst/>
          </a:prstGeom>
          <a:noFill/>
          <a:ln/>
        </p:spPr>
        <p:txBody>
          <a:bodyPr wrap="square" lIns="0" tIns="0" rIns="0" bIns="0" rtlCol="0" anchor="ctr"/>
          <a:lstStyle/>
          <a:p>
            <a:pPr indent="0" marL="0">
              <a:buNone/>
            </a:pPr>
            <a:r>
              <a:rPr lang="en-US" sz="1300" b="1" dirty="0">
                <a:solidFill>
                  <a:srgbClr val="76B900"/>
                </a:solidFill>
                <a:latin typeface="Calibri" pitchFamily="34" charset="0"/>
                <a:ea typeface="Calibri" pitchFamily="34" charset="-122"/>
                <a:cs typeface="Calibri" pitchFamily="34" charset="-120"/>
              </a:rPr>
              <a:t>Pembuka</a:t>
            </a:r>
            <a:endParaRPr lang="en-US" sz="1300" dirty="0"/>
          </a:p>
        </p:txBody>
      </p:sp>
      <p:sp>
        <p:nvSpPr>
          <p:cNvPr id="4" name="Text 2"/>
          <p:cNvSpPr/>
          <p:nvPr/>
        </p:nvSpPr>
        <p:spPr>
          <a:xfrm>
            <a:off x="548640" y="640080"/>
            <a:ext cx="11064240" cy="68580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Posisi kamu sekarang</a:t>
            </a:r>
            <a:endParaRPr lang="en-US" sz="3000" dirty="0"/>
          </a:p>
        </p:txBody>
      </p:sp>
      <p:sp>
        <p:nvSpPr>
          <p:cNvPr id="5" name="Text 3"/>
          <p:cNvSpPr/>
          <p:nvPr/>
        </p:nvSpPr>
        <p:spPr>
          <a:xfrm>
            <a:off x="7955280" y="6446520"/>
            <a:ext cx="3749040" cy="274320"/>
          </a:xfrm>
          <a:prstGeom prst="rect">
            <a:avLst/>
          </a:prstGeom>
          <a:noFill/>
          <a:ln/>
        </p:spPr>
        <p:txBody>
          <a:bodyPr wrap="square" lIns="0" tIns="0" rIns="0" bIns="0" rtlCol="0" anchor="ctr"/>
          <a:lstStyle/>
          <a:p>
            <a:pPr algn="r" indent="0" marL="0">
              <a:buNone/>
            </a:pPr>
            <a:r>
              <a:rPr lang="en-US" sz="1000" dirty="0">
                <a:solidFill>
                  <a:srgbClr val="AAAACC"/>
                </a:solidFill>
                <a:latin typeface="Calibri" pitchFamily="34" charset="0"/>
                <a:ea typeface="Calibri" pitchFamily="34" charset="-122"/>
                <a:cs typeface="Calibri" pitchFamily="34" charset="-120"/>
              </a:rPr>
              <a:t>Navasena · Exam Preparation   2</a:t>
            </a:r>
            <a:endParaRPr lang="en-US" sz="1000" dirty="0"/>
          </a:p>
        </p:txBody>
      </p:sp>
      <p:sp>
        <p:nvSpPr>
          <p:cNvPr id="6" name="Shape 4"/>
          <p:cNvSpPr/>
          <p:nvPr/>
        </p:nvSpPr>
        <p:spPr>
          <a:xfrm>
            <a:off x="548640" y="1600200"/>
            <a:ext cx="3566160" cy="1691640"/>
          </a:xfrm>
          <a:prstGeom prst="roundRect">
            <a:avLst>
              <a:gd name="adj" fmla="val 4324"/>
            </a:avLst>
          </a:prstGeom>
          <a:solidFill>
            <a:srgbClr val="2D2D44"/>
          </a:solidFill>
          <a:ln w="19050">
            <a:solidFill>
              <a:srgbClr val="76B900"/>
            </a:solidFill>
            <a:prstDash val="solid"/>
          </a:ln>
        </p:spPr>
      </p:sp>
      <p:sp>
        <p:nvSpPr>
          <p:cNvPr id="7" name="Text 5"/>
          <p:cNvSpPr/>
          <p:nvPr/>
        </p:nvSpPr>
        <p:spPr>
          <a:xfrm>
            <a:off x="777240" y="1783080"/>
            <a:ext cx="3108960" cy="411480"/>
          </a:xfrm>
          <a:prstGeom prst="rect">
            <a:avLst/>
          </a:prstGeom>
          <a:noFill/>
          <a:ln/>
        </p:spPr>
        <p:txBody>
          <a:bodyPr wrap="square" lIns="0" tIns="0" rIns="0" bIns="0" rtlCol="0" anchor="ctr"/>
          <a:lstStyle/>
          <a:p>
            <a:pPr indent="0" marL="0">
              <a:buNone/>
            </a:pPr>
            <a:r>
              <a:rPr lang="en-US" sz="1800" b="1" dirty="0">
                <a:solidFill>
                  <a:srgbClr val="76B900"/>
                </a:solidFill>
                <a:latin typeface="Calibri" pitchFamily="34" charset="0"/>
                <a:ea typeface="Calibri" pitchFamily="34" charset="-122"/>
                <a:cs typeface="Calibri" pitchFamily="34" charset="-120"/>
              </a:rPr>
              <a:t>Model klasik</a:t>
            </a:r>
            <a:endParaRPr lang="en-US" sz="1800" dirty="0"/>
          </a:p>
        </p:txBody>
      </p:sp>
      <p:sp>
        <p:nvSpPr>
          <p:cNvPr id="8" name="Text 6"/>
          <p:cNvSpPr/>
          <p:nvPr/>
        </p:nvSpPr>
        <p:spPr>
          <a:xfrm>
            <a:off x="777240" y="2286000"/>
            <a:ext cx="3108960" cy="868680"/>
          </a:xfrm>
          <a:prstGeom prst="rect">
            <a:avLst/>
          </a:prstGeom>
          <a:noFill/>
          <a:ln/>
        </p:spPr>
        <p:txBody>
          <a:bodyPr wrap="square" lIns="0" tIns="0" rIns="0" bIns="0" rtlCol="0" anchor="t"/>
          <a:lstStyle/>
          <a:p>
            <a:pPr indent="0" marL="0">
              <a:spcAft>
                <a:spcPts val="600"/>
              </a:spcAft>
              <a:buNone/>
            </a:pPr>
            <a:r>
              <a:rPr lang="en-US" sz="1800" dirty="0">
                <a:solidFill>
                  <a:srgbClr val="FFFFFF"/>
                </a:solidFill>
                <a:latin typeface="Calibri" pitchFamily="34" charset="0"/>
                <a:ea typeface="Calibri" pitchFamily="34" charset="-122"/>
                <a:cs typeface="Calibri" pitchFamily="34" charset="-120"/>
              </a:rPr>
              <a:t>Regresi, klasifikasi, clustering, ensemble, time series</a:t>
            </a:r>
            <a:endParaRPr lang="en-US" sz="1800" dirty="0"/>
          </a:p>
        </p:txBody>
      </p:sp>
      <p:sp>
        <p:nvSpPr>
          <p:cNvPr id="9" name="Shape 7"/>
          <p:cNvSpPr/>
          <p:nvPr/>
        </p:nvSpPr>
        <p:spPr>
          <a:xfrm>
            <a:off x="4297680" y="1600200"/>
            <a:ext cx="3566160" cy="1691640"/>
          </a:xfrm>
          <a:prstGeom prst="roundRect">
            <a:avLst>
              <a:gd name="adj" fmla="val 4324"/>
            </a:avLst>
          </a:prstGeom>
          <a:solidFill>
            <a:srgbClr val="2D2D44"/>
          </a:solidFill>
          <a:ln w="19050">
            <a:solidFill>
              <a:srgbClr val="76B900"/>
            </a:solidFill>
            <a:prstDash val="solid"/>
          </a:ln>
        </p:spPr>
      </p:sp>
      <p:sp>
        <p:nvSpPr>
          <p:cNvPr id="10" name="Text 8"/>
          <p:cNvSpPr/>
          <p:nvPr/>
        </p:nvSpPr>
        <p:spPr>
          <a:xfrm>
            <a:off x="4526280" y="1783080"/>
            <a:ext cx="3108960" cy="411480"/>
          </a:xfrm>
          <a:prstGeom prst="rect">
            <a:avLst/>
          </a:prstGeom>
          <a:noFill/>
          <a:ln/>
        </p:spPr>
        <p:txBody>
          <a:bodyPr wrap="square" lIns="0" tIns="0" rIns="0" bIns="0" rtlCol="0" anchor="ctr"/>
          <a:lstStyle/>
          <a:p>
            <a:pPr indent="0" marL="0">
              <a:buNone/>
            </a:pPr>
            <a:r>
              <a:rPr lang="en-US" sz="1800" b="1" dirty="0">
                <a:solidFill>
                  <a:srgbClr val="76B900"/>
                </a:solidFill>
                <a:latin typeface="Calibri" pitchFamily="34" charset="0"/>
                <a:ea typeface="Calibri" pitchFamily="34" charset="-122"/>
                <a:cs typeface="Calibri" pitchFamily="34" charset="-120"/>
              </a:rPr>
              <a:t>Deep learning</a:t>
            </a:r>
            <a:endParaRPr lang="en-US" sz="1800" dirty="0"/>
          </a:p>
        </p:txBody>
      </p:sp>
      <p:sp>
        <p:nvSpPr>
          <p:cNvPr id="11" name="Text 9"/>
          <p:cNvSpPr/>
          <p:nvPr/>
        </p:nvSpPr>
        <p:spPr>
          <a:xfrm>
            <a:off x="4526280" y="2286000"/>
            <a:ext cx="3108960" cy="868680"/>
          </a:xfrm>
          <a:prstGeom prst="rect">
            <a:avLst/>
          </a:prstGeom>
          <a:noFill/>
          <a:ln/>
        </p:spPr>
        <p:txBody>
          <a:bodyPr wrap="square" lIns="0" tIns="0" rIns="0" bIns="0" rtlCol="0" anchor="t"/>
          <a:lstStyle/>
          <a:p>
            <a:pPr indent="0" marL="0">
              <a:spcAft>
                <a:spcPts val="600"/>
              </a:spcAft>
              <a:buNone/>
            </a:pPr>
            <a:r>
              <a:rPr lang="en-US" sz="1800" dirty="0">
                <a:solidFill>
                  <a:srgbClr val="FFFFFF"/>
                </a:solidFill>
                <a:latin typeface="Calibri" pitchFamily="34" charset="0"/>
                <a:ea typeface="Calibri" pitchFamily="34" charset="-122"/>
                <a:cs typeface="Calibri" pitchFamily="34" charset="-120"/>
              </a:rPr>
              <a:t>Neural network, CNN, LSTM, transfer learning di GPU</a:t>
            </a:r>
            <a:endParaRPr lang="en-US" sz="1800" dirty="0"/>
          </a:p>
        </p:txBody>
      </p:sp>
      <p:sp>
        <p:nvSpPr>
          <p:cNvPr id="12" name="Shape 10"/>
          <p:cNvSpPr/>
          <p:nvPr/>
        </p:nvSpPr>
        <p:spPr>
          <a:xfrm>
            <a:off x="8046720" y="1600200"/>
            <a:ext cx="3566160" cy="1691640"/>
          </a:xfrm>
          <a:prstGeom prst="roundRect">
            <a:avLst>
              <a:gd name="adj" fmla="val 4324"/>
            </a:avLst>
          </a:prstGeom>
          <a:solidFill>
            <a:srgbClr val="2D2D44"/>
          </a:solidFill>
          <a:ln w="19050">
            <a:solidFill>
              <a:srgbClr val="76B900"/>
            </a:solidFill>
            <a:prstDash val="solid"/>
          </a:ln>
        </p:spPr>
      </p:sp>
      <p:sp>
        <p:nvSpPr>
          <p:cNvPr id="13" name="Text 11"/>
          <p:cNvSpPr/>
          <p:nvPr/>
        </p:nvSpPr>
        <p:spPr>
          <a:xfrm>
            <a:off x="8275320" y="1783080"/>
            <a:ext cx="3108960" cy="411480"/>
          </a:xfrm>
          <a:prstGeom prst="rect">
            <a:avLst/>
          </a:prstGeom>
          <a:noFill/>
          <a:ln/>
        </p:spPr>
        <p:txBody>
          <a:bodyPr wrap="square" lIns="0" tIns="0" rIns="0" bIns="0" rtlCol="0" anchor="ctr"/>
          <a:lstStyle/>
          <a:p>
            <a:pPr indent="0" marL="0">
              <a:buNone/>
            </a:pPr>
            <a:r>
              <a:rPr lang="en-US" sz="1800" b="1" dirty="0">
                <a:solidFill>
                  <a:srgbClr val="76B900"/>
                </a:solidFill>
                <a:latin typeface="Calibri" pitchFamily="34" charset="0"/>
                <a:ea typeface="Calibri" pitchFamily="34" charset="-122"/>
                <a:cs typeface="Calibri" pitchFamily="34" charset="-120"/>
              </a:rPr>
              <a:t>Transformer &amp; LLM</a:t>
            </a:r>
            <a:endParaRPr lang="en-US" sz="1800" dirty="0"/>
          </a:p>
        </p:txBody>
      </p:sp>
      <p:sp>
        <p:nvSpPr>
          <p:cNvPr id="14" name="Text 12"/>
          <p:cNvSpPr/>
          <p:nvPr/>
        </p:nvSpPr>
        <p:spPr>
          <a:xfrm>
            <a:off x="8275320" y="2286000"/>
            <a:ext cx="3108960" cy="868680"/>
          </a:xfrm>
          <a:prstGeom prst="rect">
            <a:avLst/>
          </a:prstGeom>
          <a:noFill/>
          <a:ln/>
        </p:spPr>
        <p:txBody>
          <a:bodyPr wrap="square" lIns="0" tIns="0" rIns="0" bIns="0" rtlCol="0" anchor="t"/>
          <a:lstStyle/>
          <a:p>
            <a:pPr indent="0" marL="0">
              <a:spcAft>
                <a:spcPts val="600"/>
              </a:spcAft>
              <a:buNone/>
            </a:pPr>
            <a:r>
              <a:rPr lang="en-US" sz="1800" dirty="0">
                <a:solidFill>
                  <a:srgbClr val="FFFFFF"/>
                </a:solidFill>
                <a:latin typeface="Calibri" pitchFamily="34" charset="0"/>
                <a:ea typeface="Calibri" pitchFamily="34" charset="-122"/>
                <a:cs typeface="Calibri" pitchFamily="34" charset="-120"/>
              </a:rPr>
              <a:t>Transformer dari nol, fine-tune LoRA, evaluasi, SLM</a:t>
            </a:r>
            <a:endParaRPr lang="en-US" sz="1800" dirty="0"/>
          </a:p>
        </p:txBody>
      </p:sp>
      <p:sp>
        <p:nvSpPr>
          <p:cNvPr id="15" name="Shape 13"/>
          <p:cNvSpPr/>
          <p:nvPr/>
        </p:nvSpPr>
        <p:spPr>
          <a:xfrm>
            <a:off x="548640" y="3474720"/>
            <a:ext cx="3566160" cy="1691640"/>
          </a:xfrm>
          <a:prstGeom prst="roundRect">
            <a:avLst>
              <a:gd name="adj" fmla="val 4324"/>
            </a:avLst>
          </a:prstGeom>
          <a:solidFill>
            <a:srgbClr val="2D2D44"/>
          </a:solidFill>
          <a:ln w="19050">
            <a:solidFill>
              <a:srgbClr val="76B900"/>
            </a:solidFill>
            <a:prstDash val="solid"/>
          </a:ln>
        </p:spPr>
      </p:sp>
      <p:sp>
        <p:nvSpPr>
          <p:cNvPr id="16" name="Text 14"/>
          <p:cNvSpPr/>
          <p:nvPr/>
        </p:nvSpPr>
        <p:spPr>
          <a:xfrm>
            <a:off x="777240" y="3657600"/>
            <a:ext cx="3108960" cy="411480"/>
          </a:xfrm>
          <a:prstGeom prst="rect">
            <a:avLst/>
          </a:prstGeom>
          <a:noFill/>
          <a:ln/>
        </p:spPr>
        <p:txBody>
          <a:bodyPr wrap="square" lIns="0" tIns="0" rIns="0" bIns="0" rtlCol="0" anchor="ctr"/>
          <a:lstStyle/>
          <a:p>
            <a:pPr indent="0" marL="0">
              <a:buNone/>
            </a:pPr>
            <a:r>
              <a:rPr lang="en-US" sz="1800" b="1" dirty="0">
                <a:solidFill>
                  <a:srgbClr val="76B900"/>
                </a:solidFill>
                <a:latin typeface="Calibri" pitchFamily="34" charset="0"/>
                <a:ea typeface="Calibri" pitchFamily="34" charset="-122"/>
                <a:cs typeface="Calibri" pitchFamily="34" charset="-120"/>
              </a:rPr>
              <a:t>RAG</a:t>
            </a:r>
            <a:endParaRPr lang="en-US" sz="1800" dirty="0"/>
          </a:p>
        </p:txBody>
      </p:sp>
      <p:sp>
        <p:nvSpPr>
          <p:cNvPr id="17" name="Text 15"/>
          <p:cNvSpPr/>
          <p:nvPr/>
        </p:nvSpPr>
        <p:spPr>
          <a:xfrm>
            <a:off x="777240" y="4160520"/>
            <a:ext cx="3108960" cy="868680"/>
          </a:xfrm>
          <a:prstGeom prst="rect">
            <a:avLst/>
          </a:prstGeom>
          <a:noFill/>
          <a:ln/>
        </p:spPr>
        <p:txBody>
          <a:bodyPr wrap="square" lIns="0" tIns="0" rIns="0" bIns="0" rtlCol="0" anchor="t"/>
          <a:lstStyle/>
          <a:p>
            <a:pPr indent="0" marL="0">
              <a:spcAft>
                <a:spcPts val="600"/>
              </a:spcAft>
              <a:buNone/>
            </a:pPr>
            <a:r>
              <a:rPr lang="en-US" sz="1800" dirty="0">
                <a:solidFill>
                  <a:srgbClr val="FFFFFF"/>
                </a:solidFill>
                <a:latin typeface="Calibri" pitchFamily="34" charset="0"/>
                <a:ea typeface="Calibri" pitchFamily="34" charset="-122"/>
                <a:cs typeface="Calibri" pitchFamily="34" charset="-120"/>
              </a:rPr>
              <a:t>Chunking, reranking, evaluasi RAGAS, deploy sebagai API</a:t>
            </a:r>
            <a:endParaRPr lang="en-US" sz="1800" dirty="0"/>
          </a:p>
        </p:txBody>
      </p:sp>
      <p:sp>
        <p:nvSpPr>
          <p:cNvPr id="18" name="Shape 16"/>
          <p:cNvSpPr/>
          <p:nvPr/>
        </p:nvSpPr>
        <p:spPr>
          <a:xfrm>
            <a:off x="4297680" y="3474720"/>
            <a:ext cx="3566160" cy="1691640"/>
          </a:xfrm>
          <a:prstGeom prst="roundRect">
            <a:avLst>
              <a:gd name="adj" fmla="val 4324"/>
            </a:avLst>
          </a:prstGeom>
          <a:solidFill>
            <a:srgbClr val="2D2D44"/>
          </a:solidFill>
          <a:ln w="19050">
            <a:solidFill>
              <a:srgbClr val="76B900"/>
            </a:solidFill>
            <a:prstDash val="solid"/>
          </a:ln>
        </p:spPr>
      </p:sp>
      <p:sp>
        <p:nvSpPr>
          <p:cNvPr id="19" name="Text 17"/>
          <p:cNvSpPr/>
          <p:nvPr/>
        </p:nvSpPr>
        <p:spPr>
          <a:xfrm>
            <a:off x="4526280" y="3657600"/>
            <a:ext cx="3108960" cy="411480"/>
          </a:xfrm>
          <a:prstGeom prst="rect">
            <a:avLst/>
          </a:prstGeom>
          <a:noFill/>
          <a:ln/>
        </p:spPr>
        <p:txBody>
          <a:bodyPr wrap="square" lIns="0" tIns="0" rIns="0" bIns="0" rtlCol="0" anchor="ctr"/>
          <a:lstStyle/>
          <a:p>
            <a:pPr indent="0" marL="0">
              <a:buNone/>
            </a:pPr>
            <a:r>
              <a:rPr lang="en-US" sz="1800" b="1" dirty="0">
                <a:solidFill>
                  <a:srgbClr val="76B900"/>
                </a:solidFill>
                <a:latin typeface="Calibri" pitchFamily="34" charset="0"/>
                <a:ea typeface="Calibri" pitchFamily="34" charset="-122"/>
                <a:cs typeface="Calibri" pitchFamily="34" charset="-120"/>
              </a:rPr>
              <a:t>Ekosistem NVIDIA</a:t>
            </a:r>
            <a:endParaRPr lang="en-US" sz="1800" dirty="0"/>
          </a:p>
        </p:txBody>
      </p:sp>
      <p:sp>
        <p:nvSpPr>
          <p:cNvPr id="20" name="Text 18"/>
          <p:cNvSpPr/>
          <p:nvPr/>
        </p:nvSpPr>
        <p:spPr>
          <a:xfrm>
            <a:off x="4526280" y="4160520"/>
            <a:ext cx="3108960" cy="868680"/>
          </a:xfrm>
          <a:prstGeom prst="rect">
            <a:avLst/>
          </a:prstGeom>
          <a:noFill/>
          <a:ln/>
        </p:spPr>
        <p:txBody>
          <a:bodyPr wrap="square" lIns="0" tIns="0" rIns="0" bIns="0" rtlCol="0" anchor="t"/>
          <a:lstStyle/>
          <a:p>
            <a:pPr indent="0" marL="0">
              <a:spcAft>
                <a:spcPts val="600"/>
              </a:spcAft>
              <a:buNone/>
            </a:pPr>
            <a:r>
              <a:rPr lang="en-US" sz="1800" dirty="0">
                <a:solidFill>
                  <a:srgbClr val="FFFFFF"/>
                </a:solidFill>
                <a:latin typeface="Calibri" pitchFamily="34" charset="0"/>
                <a:ea typeface="Calibri" pitchFamily="34" charset="-122"/>
                <a:cs typeface="Calibri" pitchFamily="34" charset="-120"/>
              </a:rPr>
              <a:t>RAPIDS, TensorRT, Triton, NIM, NeMo Guardrails, Jetson</a:t>
            </a:r>
            <a:endParaRPr lang="en-US" sz="1800" dirty="0"/>
          </a:p>
        </p:txBody>
      </p:sp>
      <p:sp>
        <p:nvSpPr>
          <p:cNvPr id="21" name="Shape 19"/>
          <p:cNvSpPr/>
          <p:nvPr/>
        </p:nvSpPr>
        <p:spPr>
          <a:xfrm>
            <a:off x="8046720" y="3474720"/>
            <a:ext cx="3566160" cy="1691640"/>
          </a:xfrm>
          <a:prstGeom prst="roundRect">
            <a:avLst>
              <a:gd name="adj" fmla="val 4324"/>
            </a:avLst>
          </a:prstGeom>
          <a:solidFill>
            <a:srgbClr val="2D2D44"/>
          </a:solidFill>
          <a:ln w="19050">
            <a:solidFill>
              <a:srgbClr val="76B900"/>
            </a:solidFill>
            <a:prstDash val="solid"/>
          </a:ln>
        </p:spPr>
      </p:sp>
      <p:sp>
        <p:nvSpPr>
          <p:cNvPr id="22" name="Text 20"/>
          <p:cNvSpPr/>
          <p:nvPr/>
        </p:nvSpPr>
        <p:spPr>
          <a:xfrm>
            <a:off x="8275320" y="3657600"/>
            <a:ext cx="3108960" cy="411480"/>
          </a:xfrm>
          <a:prstGeom prst="rect">
            <a:avLst/>
          </a:prstGeom>
          <a:noFill/>
          <a:ln/>
        </p:spPr>
        <p:txBody>
          <a:bodyPr wrap="square" lIns="0" tIns="0" rIns="0" bIns="0" rtlCol="0" anchor="ctr"/>
          <a:lstStyle/>
          <a:p>
            <a:pPr indent="0" marL="0">
              <a:buNone/>
            </a:pPr>
            <a:r>
              <a:rPr lang="en-US" sz="1800" b="1" dirty="0">
                <a:solidFill>
                  <a:srgbClr val="76B900"/>
                </a:solidFill>
                <a:latin typeface="Calibri" pitchFamily="34" charset="0"/>
                <a:ea typeface="Calibri" pitchFamily="34" charset="-122"/>
                <a:cs typeface="Calibri" pitchFamily="34" charset="-120"/>
              </a:rPr>
              <a:t>Trustworthy AI</a:t>
            </a:r>
            <a:endParaRPr lang="en-US" sz="1800" dirty="0"/>
          </a:p>
        </p:txBody>
      </p:sp>
      <p:sp>
        <p:nvSpPr>
          <p:cNvPr id="23" name="Text 21"/>
          <p:cNvSpPr/>
          <p:nvPr/>
        </p:nvSpPr>
        <p:spPr>
          <a:xfrm>
            <a:off x="8275320" y="4160520"/>
            <a:ext cx="3108960" cy="868680"/>
          </a:xfrm>
          <a:prstGeom prst="rect">
            <a:avLst/>
          </a:prstGeom>
          <a:noFill/>
          <a:ln/>
        </p:spPr>
        <p:txBody>
          <a:bodyPr wrap="square" lIns="0" tIns="0" rIns="0" bIns="0" rtlCol="0" anchor="t"/>
          <a:lstStyle/>
          <a:p>
            <a:pPr indent="0" marL="0">
              <a:spcAft>
                <a:spcPts val="600"/>
              </a:spcAft>
              <a:buNone/>
            </a:pPr>
            <a:r>
              <a:rPr lang="en-US" sz="1800" dirty="0">
                <a:solidFill>
                  <a:srgbClr val="FFFFFF"/>
                </a:solidFill>
                <a:latin typeface="Calibri" pitchFamily="34" charset="0"/>
                <a:ea typeface="Calibri" pitchFamily="34" charset="-122"/>
                <a:cs typeface="Calibri" pitchFamily="34" charset="-120"/>
              </a:rPr>
              <a:t>Fairness, guardrails, privasi data</a:t>
            </a:r>
            <a:endParaRPr lang="en-US" sz="1800" dirty="0"/>
          </a:p>
        </p:txBody>
      </p:sp>
      <p:sp>
        <p:nvSpPr>
          <p:cNvPr id="24" name="Shape 22"/>
          <p:cNvSpPr/>
          <p:nvPr/>
        </p:nvSpPr>
        <p:spPr>
          <a:xfrm>
            <a:off x="548640" y="5669280"/>
            <a:ext cx="73152" cy="502920"/>
          </a:xfrm>
          <a:prstGeom prst="rect">
            <a:avLst/>
          </a:prstGeom>
          <a:solidFill>
            <a:srgbClr val="A3D944"/>
          </a:solidFill>
          <a:ln/>
        </p:spPr>
      </p:sp>
      <p:sp>
        <p:nvSpPr>
          <p:cNvPr id="25" name="Text 23"/>
          <p:cNvSpPr/>
          <p:nvPr/>
        </p:nvSpPr>
        <p:spPr>
          <a:xfrm>
            <a:off x="777240" y="5669280"/>
            <a:ext cx="10881360" cy="502920"/>
          </a:xfrm>
          <a:prstGeom prst="rect">
            <a:avLst/>
          </a:prstGeom>
          <a:noFill/>
          <a:ln/>
        </p:spPr>
        <p:txBody>
          <a:bodyPr wrap="square" lIns="0" tIns="0" rIns="0" bIns="0" rtlCol="0" anchor="ctr"/>
          <a:lstStyle/>
          <a:p>
            <a:pPr indent="0" marL="0">
              <a:buNone/>
            </a:pPr>
            <a:r>
              <a:rPr lang="en-US" sz="1700" b="1" dirty="0">
                <a:solidFill>
                  <a:srgbClr val="A3D944"/>
                </a:solidFill>
                <a:latin typeface="Calibri" pitchFamily="34" charset="0"/>
                <a:ea typeface="Calibri" pitchFamily="34" charset="-122"/>
                <a:cs typeface="Calibri" pitchFamily="34" charset="-120"/>
              </a:rPr>
              <a:t>Buka lagi hasil pre-test kamu: domain mana yang dulu paling lemah?</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76B900"/>
          </a:solidFill>
          <a:ln/>
        </p:spPr>
      </p:sp>
      <p:sp>
        <p:nvSpPr>
          <p:cNvPr id="3" name="Text 1"/>
          <p:cNvSpPr/>
          <p:nvPr/>
        </p:nvSpPr>
        <p:spPr>
          <a:xfrm>
            <a:off x="548640" y="320040"/>
            <a:ext cx="10972800" cy="274320"/>
          </a:xfrm>
          <a:prstGeom prst="rect">
            <a:avLst/>
          </a:prstGeom>
          <a:noFill/>
          <a:ln/>
        </p:spPr>
        <p:txBody>
          <a:bodyPr wrap="square" lIns="0" tIns="0" rIns="0" bIns="0" rtlCol="0" anchor="ctr"/>
          <a:lstStyle/>
          <a:p>
            <a:pPr indent="0" marL="0">
              <a:buNone/>
            </a:pPr>
            <a:r>
              <a:rPr lang="en-US" sz="1300" b="1" dirty="0">
                <a:solidFill>
                  <a:srgbClr val="76B900"/>
                </a:solidFill>
                <a:latin typeface="Calibri" pitchFamily="34" charset="0"/>
                <a:ea typeface="Calibri" pitchFamily="34" charset="-122"/>
                <a:cs typeface="Calibri" pitchFamily="34" charset="-120"/>
              </a:rPr>
              <a:t>Bagian 1 · Lulus NCA-GENL</a:t>
            </a:r>
            <a:endParaRPr lang="en-US" sz="1300" dirty="0"/>
          </a:p>
        </p:txBody>
      </p:sp>
      <p:sp>
        <p:nvSpPr>
          <p:cNvPr id="4" name="Text 2"/>
          <p:cNvSpPr/>
          <p:nvPr/>
        </p:nvSpPr>
        <p:spPr>
          <a:xfrm>
            <a:off x="548640" y="640080"/>
            <a:ext cx="11064240" cy="68580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Format ujian dalam satu slide</a:t>
            </a:r>
            <a:endParaRPr lang="en-US" sz="3000" dirty="0"/>
          </a:p>
        </p:txBody>
      </p:sp>
      <p:sp>
        <p:nvSpPr>
          <p:cNvPr id="5" name="Text 3"/>
          <p:cNvSpPr/>
          <p:nvPr/>
        </p:nvSpPr>
        <p:spPr>
          <a:xfrm>
            <a:off x="7955280" y="6446520"/>
            <a:ext cx="3749040" cy="274320"/>
          </a:xfrm>
          <a:prstGeom prst="rect">
            <a:avLst/>
          </a:prstGeom>
          <a:noFill/>
          <a:ln/>
        </p:spPr>
        <p:txBody>
          <a:bodyPr wrap="square" lIns="0" tIns="0" rIns="0" bIns="0" rtlCol="0" anchor="ctr"/>
          <a:lstStyle/>
          <a:p>
            <a:pPr algn="r" indent="0" marL="0">
              <a:buNone/>
            </a:pPr>
            <a:r>
              <a:rPr lang="en-US" sz="1000" dirty="0">
                <a:solidFill>
                  <a:srgbClr val="AAAACC"/>
                </a:solidFill>
                <a:latin typeface="Calibri" pitchFamily="34" charset="0"/>
                <a:ea typeface="Calibri" pitchFamily="34" charset="-122"/>
                <a:cs typeface="Calibri" pitchFamily="34" charset="-120"/>
              </a:rPr>
              <a:t>Navasena · Exam Preparation   3</a:t>
            </a:r>
            <a:endParaRPr lang="en-US" sz="1000" dirty="0"/>
          </a:p>
        </p:txBody>
      </p:sp>
      <p:sp>
        <p:nvSpPr>
          <p:cNvPr id="6" name="Shape 4"/>
          <p:cNvSpPr/>
          <p:nvPr/>
        </p:nvSpPr>
        <p:spPr>
          <a:xfrm>
            <a:off x="548640" y="1600200"/>
            <a:ext cx="3566160" cy="1691640"/>
          </a:xfrm>
          <a:prstGeom prst="roundRect">
            <a:avLst>
              <a:gd name="adj" fmla="val 4324"/>
            </a:avLst>
          </a:prstGeom>
          <a:solidFill>
            <a:srgbClr val="2D2D44"/>
          </a:solidFill>
          <a:ln w="12700">
            <a:solidFill>
              <a:srgbClr val="2D2D44"/>
            </a:solidFill>
            <a:prstDash val="solid"/>
          </a:ln>
        </p:spPr>
      </p:sp>
      <p:sp>
        <p:nvSpPr>
          <p:cNvPr id="7" name="Text 5"/>
          <p:cNvSpPr/>
          <p:nvPr/>
        </p:nvSpPr>
        <p:spPr>
          <a:xfrm>
            <a:off x="548640" y="1874520"/>
            <a:ext cx="3566160" cy="731520"/>
          </a:xfrm>
          <a:prstGeom prst="rect">
            <a:avLst/>
          </a:prstGeom>
          <a:noFill/>
          <a:ln/>
        </p:spPr>
        <p:txBody>
          <a:bodyPr wrap="square" lIns="0" tIns="0" rIns="0" bIns="0" rtlCol="0" anchor="ctr"/>
          <a:lstStyle/>
          <a:p>
            <a:pPr algn="ctr" indent="0" marL="0">
              <a:buNone/>
            </a:pPr>
            <a:r>
              <a:rPr lang="en-US" sz="3600" b="1" dirty="0">
                <a:solidFill>
                  <a:srgbClr val="76B900"/>
                </a:solidFill>
                <a:latin typeface="Calibri" pitchFamily="34" charset="0"/>
                <a:ea typeface="Calibri" pitchFamily="34" charset="-122"/>
                <a:cs typeface="Calibri" pitchFamily="34" charset="-120"/>
              </a:rPr>
              <a:t>50–60</a:t>
            </a:r>
            <a:endParaRPr lang="en-US" sz="3600" dirty="0"/>
          </a:p>
        </p:txBody>
      </p:sp>
      <p:sp>
        <p:nvSpPr>
          <p:cNvPr id="8" name="Text 6"/>
          <p:cNvSpPr/>
          <p:nvPr/>
        </p:nvSpPr>
        <p:spPr>
          <a:xfrm>
            <a:off x="548640" y="2606040"/>
            <a:ext cx="3566160" cy="411480"/>
          </a:xfrm>
          <a:prstGeom prst="rect">
            <a:avLst/>
          </a:prstGeom>
          <a:noFill/>
          <a:ln/>
        </p:spPr>
        <p:txBody>
          <a:bodyPr wrap="square" lIns="0" tIns="0" rIns="0" bIns="0" rtlCol="0" anchor="ctr"/>
          <a:lstStyle/>
          <a:p>
            <a:pPr algn="ctr" indent="0" marL="0">
              <a:buNone/>
            </a:pPr>
            <a:r>
              <a:rPr lang="en-US" sz="1700" dirty="0">
                <a:solidFill>
                  <a:srgbClr val="AAAACC"/>
                </a:solidFill>
                <a:latin typeface="Calibri" pitchFamily="34" charset="0"/>
                <a:ea typeface="Calibri" pitchFamily="34" charset="-122"/>
                <a:cs typeface="Calibri" pitchFamily="34" charset="-120"/>
              </a:rPr>
              <a:t>soal pilihan ganda</a:t>
            </a:r>
            <a:endParaRPr lang="en-US" sz="1700" dirty="0"/>
          </a:p>
        </p:txBody>
      </p:sp>
      <p:sp>
        <p:nvSpPr>
          <p:cNvPr id="9" name="Shape 7"/>
          <p:cNvSpPr/>
          <p:nvPr/>
        </p:nvSpPr>
        <p:spPr>
          <a:xfrm>
            <a:off x="4297680" y="1600200"/>
            <a:ext cx="3566160" cy="1691640"/>
          </a:xfrm>
          <a:prstGeom prst="roundRect">
            <a:avLst>
              <a:gd name="adj" fmla="val 4324"/>
            </a:avLst>
          </a:prstGeom>
          <a:solidFill>
            <a:srgbClr val="2D2D44"/>
          </a:solidFill>
          <a:ln w="12700">
            <a:solidFill>
              <a:srgbClr val="2D2D44"/>
            </a:solidFill>
            <a:prstDash val="solid"/>
          </a:ln>
        </p:spPr>
      </p:sp>
      <p:sp>
        <p:nvSpPr>
          <p:cNvPr id="10" name="Text 8"/>
          <p:cNvSpPr/>
          <p:nvPr/>
        </p:nvSpPr>
        <p:spPr>
          <a:xfrm>
            <a:off x="4297680" y="1874520"/>
            <a:ext cx="3566160" cy="731520"/>
          </a:xfrm>
          <a:prstGeom prst="rect">
            <a:avLst/>
          </a:prstGeom>
          <a:noFill/>
          <a:ln/>
        </p:spPr>
        <p:txBody>
          <a:bodyPr wrap="square" lIns="0" tIns="0" rIns="0" bIns="0" rtlCol="0" anchor="ctr"/>
          <a:lstStyle/>
          <a:p>
            <a:pPr algn="ctr" indent="0" marL="0">
              <a:buNone/>
            </a:pPr>
            <a:r>
              <a:rPr lang="en-US" sz="3600" b="1" dirty="0">
                <a:solidFill>
                  <a:srgbClr val="76B900"/>
                </a:solidFill>
                <a:latin typeface="Calibri" pitchFamily="34" charset="0"/>
                <a:ea typeface="Calibri" pitchFamily="34" charset="-122"/>
                <a:cs typeface="Calibri" pitchFamily="34" charset="-120"/>
              </a:rPr>
              <a:t>60 menit</a:t>
            </a:r>
            <a:endParaRPr lang="en-US" sz="3600" dirty="0"/>
          </a:p>
        </p:txBody>
      </p:sp>
      <p:sp>
        <p:nvSpPr>
          <p:cNvPr id="11" name="Text 9"/>
          <p:cNvSpPr/>
          <p:nvPr/>
        </p:nvSpPr>
        <p:spPr>
          <a:xfrm>
            <a:off x="4297680" y="2606040"/>
            <a:ext cx="3566160" cy="411480"/>
          </a:xfrm>
          <a:prstGeom prst="rect">
            <a:avLst/>
          </a:prstGeom>
          <a:noFill/>
          <a:ln/>
        </p:spPr>
        <p:txBody>
          <a:bodyPr wrap="square" lIns="0" tIns="0" rIns="0" bIns="0" rtlCol="0" anchor="ctr"/>
          <a:lstStyle/>
          <a:p>
            <a:pPr algn="ctr" indent="0" marL="0">
              <a:buNone/>
            </a:pPr>
            <a:r>
              <a:rPr lang="en-US" sz="1700" dirty="0">
                <a:solidFill>
                  <a:srgbClr val="AAAACC"/>
                </a:solidFill>
                <a:latin typeface="Calibri" pitchFamily="34" charset="0"/>
                <a:ea typeface="Calibri" pitchFamily="34" charset="-122"/>
                <a:cs typeface="Calibri" pitchFamily="34" charset="-120"/>
              </a:rPr>
              <a:t>durasi ujian</a:t>
            </a:r>
            <a:endParaRPr lang="en-US" sz="1700" dirty="0"/>
          </a:p>
        </p:txBody>
      </p:sp>
      <p:sp>
        <p:nvSpPr>
          <p:cNvPr id="12" name="Shape 10"/>
          <p:cNvSpPr/>
          <p:nvPr/>
        </p:nvSpPr>
        <p:spPr>
          <a:xfrm>
            <a:off x="8046720" y="1600200"/>
            <a:ext cx="3566160" cy="1691640"/>
          </a:xfrm>
          <a:prstGeom prst="roundRect">
            <a:avLst>
              <a:gd name="adj" fmla="val 4324"/>
            </a:avLst>
          </a:prstGeom>
          <a:solidFill>
            <a:srgbClr val="2D2D44"/>
          </a:solidFill>
          <a:ln w="12700">
            <a:solidFill>
              <a:srgbClr val="2D2D44"/>
            </a:solidFill>
            <a:prstDash val="solid"/>
          </a:ln>
        </p:spPr>
      </p:sp>
      <p:sp>
        <p:nvSpPr>
          <p:cNvPr id="13" name="Text 11"/>
          <p:cNvSpPr/>
          <p:nvPr/>
        </p:nvSpPr>
        <p:spPr>
          <a:xfrm>
            <a:off x="8046720" y="1874520"/>
            <a:ext cx="3566160" cy="731520"/>
          </a:xfrm>
          <a:prstGeom prst="rect">
            <a:avLst/>
          </a:prstGeom>
          <a:noFill/>
          <a:ln/>
        </p:spPr>
        <p:txBody>
          <a:bodyPr wrap="square" lIns="0" tIns="0" rIns="0" bIns="0" rtlCol="0" anchor="ctr"/>
          <a:lstStyle/>
          <a:p>
            <a:pPr algn="ctr" indent="0" marL="0">
              <a:buNone/>
            </a:pPr>
            <a:r>
              <a:rPr lang="en-US" sz="3600" b="1" dirty="0">
                <a:solidFill>
                  <a:srgbClr val="76B900"/>
                </a:solidFill>
                <a:latin typeface="Calibri" pitchFamily="34" charset="0"/>
                <a:ea typeface="Calibri" pitchFamily="34" charset="-122"/>
                <a:cs typeface="Calibri" pitchFamily="34" charset="-120"/>
              </a:rPr>
              <a:t>$125</a:t>
            </a:r>
            <a:endParaRPr lang="en-US" sz="3600" dirty="0"/>
          </a:p>
        </p:txBody>
      </p:sp>
      <p:sp>
        <p:nvSpPr>
          <p:cNvPr id="14" name="Text 12"/>
          <p:cNvSpPr/>
          <p:nvPr/>
        </p:nvSpPr>
        <p:spPr>
          <a:xfrm>
            <a:off x="8046720" y="2606040"/>
            <a:ext cx="3566160" cy="411480"/>
          </a:xfrm>
          <a:prstGeom prst="rect">
            <a:avLst/>
          </a:prstGeom>
          <a:noFill/>
          <a:ln/>
        </p:spPr>
        <p:txBody>
          <a:bodyPr wrap="square" lIns="0" tIns="0" rIns="0" bIns="0" rtlCol="0" anchor="ctr"/>
          <a:lstStyle/>
          <a:p>
            <a:pPr algn="ctr" indent="0" marL="0">
              <a:buNone/>
            </a:pPr>
            <a:r>
              <a:rPr lang="en-US" sz="1700" dirty="0">
                <a:solidFill>
                  <a:srgbClr val="AAAACC"/>
                </a:solidFill>
                <a:latin typeface="Calibri" pitchFamily="34" charset="0"/>
                <a:ea typeface="Calibri" pitchFamily="34" charset="-122"/>
                <a:cs typeface="Calibri" pitchFamily="34" charset="-120"/>
              </a:rPr>
              <a:t>biaya ujian</a:t>
            </a:r>
            <a:endParaRPr lang="en-US" sz="1700" dirty="0"/>
          </a:p>
        </p:txBody>
      </p:sp>
      <p:sp>
        <p:nvSpPr>
          <p:cNvPr id="15" name="Shape 13"/>
          <p:cNvSpPr/>
          <p:nvPr/>
        </p:nvSpPr>
        <p:spPr>
          <a:xfrm>
            <a:off x="548640" y="3474720"/>
            <a:ext cx="3566160" cy="1691640"/>
          </a:xfrm>
          <a:prstGeom prst="roundRect">
            <a:avLst>
              <a:gd name="adj" fmla="val 4324"/>
            </a:avLst>
          </a:prstGeom>
          <a:solidFill>
            <a:srgbClr val="2D2D44"/>
          </a:solidFill>
          <a:ln w="12700">
            <a:solidFill>
              <a:srgbClr val="2D2D44"/>
            </a:solidFill>
            <a:prstDash val="solid"/>
          </a:ln>
        </p:spPr>
      </p:sp>
      <p:sp>
        <p:nvSpPr>
          <p:cNvPr id="16" name="Text 14"/>
          <p:cNvSpPr/>
          <p:nvPr/>
        </p:nvSpPr>
        <p:spPr>
          <a:xfrm>
            <a:off x="548640" y="3749040"/>
            <a:ext cx="3566160" cy="731520"/>
          </a:xfrm>
          <a:prstGeom prst="rect">
            <a:avLst/>
          </a:prstGeom>
          <a:noFill/>
          <a:ln/>
        </p:spPr>
        <p:txBody>
          <a:bodyPr wrap="square" lIns="0" tIns="0" rIns="0" bIns="0" rtlCol="0" anchor="ctr"/>
          <a:lstStyle/>
          <a:p>
            <a:pPr algn="ctr" indent="0" marL="0">
              <a:buNone/>
            </a:pPr>
            <a:r>
              <a:rPr lang="en-US" sz="3600" b="1" dirty="0">
                <a:solidFill>
                  <a:srgbClr val="76B900"/>
                </a:solidFill>
                <a:latin typeface="Calibri" pitchFamily="34" charset="0"/>
                <a:ea typeface="Calibri" pitchFamily="34" charset="-122"/>
                <a:cs typeface="Calibri" pitchFamily="34" charset="-120"/>
              </a:rPr>
              <a:t>Online</a:t>
            </a:r>
            <a:endParaRPr lang="en-US" sz="3600" dirty="0"/>
          </a:p>
        </p:txBody>
      </p:sp>
      <p:sp>
        <p:nvSpPr>
          <p:cNvPr id="17" name="Text 15"/>
          <p:cNvSpPr/>
          <p:nvPr/>
        </p:nvSpPr>
        <p:spPr>
          <a:xfrm>
            <a:off x="548640" y="4480560"/>
            <a:ext cx="3566160" cy="411480"/>
          </a:xfrm>
          <a:prstGeom prst="rect">
            <a:avLst/>
          </a:prstGeom>
          <a:noFill/>
          <a:ln/>
        </p:spPr>
        <p:txBody>
          <a:bodyPr wrap="square" lIns="0" tIns="0" rIns="0" bIns="0" rtlCol="0" anchor="ctr"/>
          <a:lstStyle/>
          <a:p>
            <a:pPr algn="ctr" indent="0" marL="0">
              <a:buNone/>
            </a:pPr>
            <a:r>
              <a:rPr lang="en-US" sz="1700" dirty="0">
                <a:solidFill>
                  <a:srgbClr val="AAAACC"/>
                </a:solidFill>
                <a:latin typeface="Calibri" pitchFamily="34" charset="0"/>
                <a:ea typeface="Calibri" pitchFamily="34" charset="-122"/>
                <a:cs typeface="Calibri" pitchFamily="34" charset="-120"/>
              </a:rPr>
              <a:t>proctored secara remote</a:t>
            </a:r>
            <a:endParaRPr lang="en-US" sz="1700" dirty="0"/>
          </a:p>
        </p:txBody>
      </p:sp>
      <p:sp>
        <p:nvSpPr>
          <p:cNvPr id="18" name="Shape 16"/>
          <p:cNvSpPr/>
          <p:nvPr/>
        </p:nvSpPr>
        <p:spPr>
          <a:xfrm>
            <a:off x="4297680" y="3474720"/>
            <a:ext cx="3566160" cy="1691640"/>
          </a:xfrm>
          <a:prstGeom prst="roundRect">
            <a:avLst>
              <a:gd name="adj" fmla="val 4324"/>
            </a:avLst>
          </a:prstGeom>
          <a:solidFill>
            <a:srgbClr val="2D2D44"/>
          </a:solidFill>
          <a:ln w="12700">
            <a:solidFill>
              <a:srgbClr val="2D2D44"/>
            </a:solidFill>
            <a:prstDash val="solid"/>
          </a:ln>
        </p:spPr>
      </p:sp>
      <p:sp>
        <p:nvSpPr>
          <p:cNvPr id="19" name="Text 17"/>
          <p:cNvSpPr/>
          <p:nvPr/>
        </p:nvSpPr>
        <p:spPr>
          <a:xfrm>
            <a:off x="4297680" y="3749040"/>
            <a:ext cx="3566160" cy="731520"/>
          </a:xfrm>
          <a:prstGeom prst="rect">
            <a:avLst/>
          </a:prstGeom>
          <a:noFill/>
          <a:ln/>
        </p:spPr>
        <p:txBody>
          <a:bodyPr wrap="square" lIns="0" tIns="0" rIns="0" bIns="0" rtlCol="0" anchor="ctr"/>
          <a:lstStyle/>
          <a:p>
            <a:pPr algn="ctr" indent="0" marL="0">
              <a:buNone/>
            </a:pPr>
            <a:r>
              <a:rPr lang="en-US" sz="3600" b="1" dirty="0">
                <a:solidFill>
                  <a:srgbClr val="76B900"/>
                </a:solidFill>
                <a:latin typeface="Calibri" pitchFamily="34" charset="0"/>
                <a:ea typeface="Calibri" pitchFamily="34" charset="-122"/>
                <a:cs typeface="Calibri" pitchFamily="34" charset="-120"/>
              </a:rPr>
              <a:t>Inggris</a:t>
            </a:r>
            <a:endParaRPr lang="en-US" sz="3600" dirty="0"/>
          </a:p>
        </p:txBody>
      </p:sp>
      <p:sp>
        <p:nvSpPr>
          <p:cNvPr id="20" name="Text 18"/>
          <p:cNvSpPr/>
          <p:nvPr/>
        </p:nvSpPr>
        <p:spPr>
          <a:xfrm>
            <a:off x="4297680" y="4480560"/>
            <a:ext cx="3566160" cy="411480"/>
          </a:xfrm>
          <a:prstGeom prst="rect">
            <a:avLst/>
          </a:prstGeom>
          <a:noFill/>
          <a:ln/>
        </p:spPr>
        <p:txBody>
          <a:bodyPr wrap="square" lIns="0" tIns="0" rIns="0" bIns="0" rtlCol="0" anchor="ctr"/>
          <a:lstStyle/>
          <a:p>
            <a:pPr algn="ctr" indent="0" marL="0">
              <a:buNone/>
            </a:pPr>
            <a:r>
              <a:rPr lang="en-US" sz="1700" dirty="0">
                <a:solidFill>
                  <a:srgbClr val="AAAACC"/>
                </a:solidFill>
                <a:latin typeface="Calibri" pitchFamily="34" charset="0"/>
                <a:ea typeface="Calibri" pitchFamily="34" charset="-122"/>
                <a:cs typeface="Calibri" pitchFamily="34" charset="-120"/>
              </a:rPr>
              <a:t>bahasa soal</a:t>
            </a:r>
            <a:endParaRPr lang="en-US" sz="1700" dirty="0"/>
          </a:p>
        </p:txBody>
      </p:sp>
      <p:sp>
        <p:nvSpPr>
          <p:cNvPr id="21" name="Shape 19"/>
          <p:cNvSpPr/>
          <p:nvPr/>
        </p:nvSpPr>
        <p:spPr>
          <a:xfrm>
            <a:off x="8046720" y="3474720"/>
            <a:ext cx="3566160" cy="1691640"/>
          </a:xfrm>
          <a:prstGeom prst="roundRect">
            <a:avLst>
              <a:gd name="adj" fmla="val 4324"/>
            </a:avLst>
          </a:prstGeom>
          <a:solidFill>
            <a:srgbClr val="2D2D44"/>
          </a:solidFill>
          <a:ln w="12700">
            <a:solidFill>
              <a:srgbClr val="2D2D44"/>
            </a:solidFill>
            <a:prstDash val="solid"/>
          </a:ln>
        </p:spPr>
      </p:sp>
      <p:sp>
        <p:nvSpPr>
          <p:cNvPr id="22" name="Text 20"/>
          <p:cNvSpPr/>
          <p:nvPr/>
        </p:nvSpPr>
        <p:spPr>
          <a:xfrm>
            <a:off x="8046720" y="3749040"/>
            <a:ext cx="3566160" cy="731520"/>
          </a:xfrm>
          <a:prstGeom prst="rect">
            <a:avLst/>
          </a:prstGeom>
          <a:noFill/>
          <a:ln/>
        </p:spPr>
        <p:txBody>
          <a:bodyPr wrap="square" lIns="0" tIns="0" rIns="0" bIns="0" rtlCol="0" anchor="ctr"/>
          <a:lstStyle/>
          <a:p>
            <a:pPr algn="ctr" indent="0" marL="0">
              <a:buNone/>
            </a:pPr>
            <a:r>
              <a:rPr lang="en-US" sz="3600" b="1" dirty="0">
                <a:solidFill>
                  <a:srgbClr val="76B900"/>
                </a:solidFill>
                <a:latin typeface="Calibri" pitchFamily="34" charset="0"/>
                <a:ea typeface="Calibri" pitchFamily="34" charset="-122"/>
                <a:cs typeface="Calibri" pitchFamily="34" charset="-120"/>
              </a:rPr>
              <a:t>2 tahun</a:t>
            </a:r>
            <a:endParaRPr lang="en-US" sz="3600" dirty="0"/>
          </a:p>
        </p:txBody>
      </p:sp>
      <p:sp>
        <p:nvSpPr>
          <p:cNvPr id="23" name="Text 21"/>
          <p:cNvSpPr/>
          <p:nvPr/>
        </p:nvSpPr>
        <p:spPr>
          <a:xfrm>
            <a:off x="8046720" y="4480560"/>
            <a:ext cx="3566160" cy="411480"/>
          </a:xfrm>
          <a:prstGeom prst="rect">
            <a:avLst/>
          </a:prstGeom>
          <a:noFill/>
          <a:ln/>
        </p:spPr>
        <p:txBody>
          <a:bodyPr wrap="square" lIns="0" tIns="0" rIns="0" bIns="0" rtlCol="0" anchor="ctr"/>
          <a:lstStyle/>
          <a:p>
            <a:pPr algn="ctr" indent="0" marL="0">
              <a:buNone/>
            </a:pPr>
            <a:r>
              <a:rPr lang="en-US" sz="1700" dirty="0">
                <a:solidFill>
                  <a:srgbClr val="AAAACC"/>
                </a:solidFill>
                <a:latin typeface="Calibri" pitchFamily="34" charset="0"/>
                <a:ea typeface="Calibri" pitchFamily="34" charset="-122"/>
                <a:cs typeface="Calibri" pitchFamily="34" charset="-120"/>
              </a:rPr>
              <a:t>masa berlaku</a:t>
            </a:r>
            <a:endParaRPr lang="en-US" sz="1700" dirty="0"/>
          </a:p>
        </p:txBody>
      </p:sp>
      <p:sp>
        <p:nvSpPr>
          <p:cNvPr id="24" name="Shape 22"/>
          <p:cNvSpPr/>
          <p:nvPr/>
        </p:nvSpPr>
        <p:spPr>
          <a:xfrm>
            <a:off x="548640" y="5669280"/>
            <a:ext cx="73152" cy="502920"/>
          </a:xfrm>
          <a:prstGeom prst="rect">
            <a:avLst/>
          </a:prstGeom>
          <a:solidFill>
            <a:srgbClr val="FF6F00"/>
          </a:solidFill>
          <a:ln/>
        </p:spPr>
      </p:sp>
      <p:sp>
        <p:nvSpPr>
          <p:cNvPr id="25" name="Text 23"/>
          <p:cNvSpPr/>
          <p:nvPr/>
        </p:nvSpPr>
        <p:spPr>
          <a:xfrm>
            <a:off x="777240" y="5669280"/>
            <a:ext cx="10881360" cy="502920"/>
          </a:xfrm>
          <a:prstGeom prst="rect">
            <a:avLst/>
          </a:prstGeom>
          <a:noFill/>
          <a:ln/>
        </p:spPr>
        <p:txBody>
          <a:bodyPr wrap="square" lIns="0" tIns="0" rIns="0" bIns="0" rtlCol="0" anchor="ctr"/>
          <a:lstStyle/>
          <a:p>
            <a:pPr indent="0" marL="0">
              <a:buNone/>
            </a:pPr>
            <a:r>
              <a:rPr lang="en-US" sz="1700" b="1" dirty="0">
                <a:solidFill>
                  <a:srgbClr val="FF6F00"/>
                </a:solidFill>
                <a:latin typeface="Calibri" pitchFamily="34" charset="0"/>
                <a:ea typeface="Calibri" pitchFamily="34" charset="-122"/>
                <a:cs typeface="Calibri" pitchFamily="34" charset="-120"/>
              </a:rPr>
              <a:t>Passing score tidak dipublikasikan NVIDIA. Abaikan angka dari sumber tak resmi.</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76B900"/>
          </a:solidFill>
          <a:ln/>
        </p:spPr>
      </p:sp>
      <p:sp>
        <p:nvSpPr>
          <p:cNvPr id="3" name="Text 1"/>
          <p:cNvSpPr/>
          <p:nvPr/>
        </p:nvSpPr>
        <p:spPr>
          <a:xfrm>
            <a:off x="548640" y="320040"/>
            <a:ext cx="10972800" cy="274320"/>
          </a:xfrm>
          <a:prstGeom prst="rect">
            <a:avLst/>
          </a:prstGeom>
          <a:noFill/>
          <a:ln/>
        </p:spPr>
        <p:txBody>
          <a:bodyPr wrap="square" lIns="0" tIns="0" rIns="0" bIns="0" rtlCol="0" anchor="ctr"/>
          <a:lstStyle/>
          <a:p>
            <a:pPr indent="0" marL="0">
              <a:buNone/>
            </a:pPr>
            <a:r>
              <a:rPr lang="en-US" sz="1300" b="1" dirty="0">
                <a:solidFill>
                  <a:srgbClr val="76B900"/>
                </a:solidFill>
                <a:latin typeface="Calibri" pitchFamily="34" charset="0"/>
                <a:ea typeface="Calibri" pitchFamily="34" charset="-122"/>
                <a:cs typeface="Calibri" pitchFamily="34" charset="-120"/>
              </a:rPr>
              <a:t>Bagian 1 · Lulus NCA-GENL</a:t>
            </a:r>
            <a:endParaRPr lang="en-US" sz="1300" dirty="0"/>
          </a:p>
        </p:txBody>
      </p:sp>
      <p:sp>
        <p:nvSpPr>
          <p:cNvPr id="4" name="Text 2"/>
          <p:cNvSpPr/>
          <p:nvPr/>
        </p:nvSpPr>
        <p:spPr>
          <a:xfrm>
            <a:off x="548640" y="640080"/>
            <a:ext cx="11064240" cy="68580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Modul bootcamp → domain ujian</a:t>
            </a:r>
            <a:endParaRPr lang="en-US" sz="3000" dirty="0"/>
          </a:p>
        </p:txBody>
      </p:sp>
      <p:sp>
        <p:nvSpPr>
          <p:cNvPr id="5" name="Text 3"/>
          <p:cNvSpPr/>
          <p:nvPr/>
        </p:nvSpPr>
        <p:spPr>
          <a:xfrm>
            <a:off x="7955280" y="6446520"/>
            <a:ext cx="3749040" cy="274320"/>
          </a:xfrm>
          <a:prstGeom prst="rect">
            <a:avLst/>
          </a:prstGeom>
          <a:noFill/>
          <a:ln/>
        </p:spPr>
        <p:txBody>
          <a:bodyPr wrap="square" lIns="0" tIns="0" rIns="0" bIns="0" rtlCol="0" anchor="ctr"/>
          <a:lstStyle/>
          <a:p>
            <a:pPr algn="r" indent="0" marL="0">
              <a:buNone/>
            </a:pPr>
            <a:r>
              <a:rPr lang="en-US" sz="1000" dirty="0">
                <a:solidFill>
                  <a:srgbClr val="AAAACC"/>
                </a:solidFill>
                <a:latin typeface="Calibri" pitchFamily="34" charset="0"/>
                <a:ea typeface="Calibri" pitchFamily="34" charset="-122"/>
                <a:cs typeface="Calibri" pitchFamily="34" charset="-120"/>
              </a:rPr>
              <a:t>Navasena · Exam Preparation   4</a:t>
            </a:r>
            <a:endParaRPr lang="en-US" sz="1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3931920"/>
                <a:gridCol w="1005840"/>
                <a:gridCol w="4572000"/>
                <a:gridCol w="1554480"/>
              </a:tblGrid>
              <a:tr h="594360">
                <a:tc>
                  <a:txBody>
                    <a:bodyPr/>
                    <a:lstStyle/>
                    <a:p>
                      <a:pPr indent="0" marL="0">
                        <a:buNone/>
                      </a:pPr>
                      <a:r>
                        <a:rPr lang="en-US" sz="1900" b="1" dirty="0">
                          <a:solidFill>
                            <a:srgbClr val="1A1A2E"/>
                          </a:solidFill>
                          <a:latin typeface="Calibri" pitchFamily="34" charset="0"/>
                          <a:ea typeface="Calibri" pitchFamily="34" charset="-122"/>
                          <a:cs typeface="Calibri" pitchFamily="34" charset="-120"/>
                        </a:rPr>
                        <a:t>Domain ujian</a:t>
                      </a:r>
                      <a:endParaRPr lang="en-US" sz="1900" dirty="0">
                        <a:latin typeface="Calibri" charset="0"/>
                        <a:ea typeface="Calibri" charset="0"/>
                        <a:cs typeface="Calibri" charset="0"/>
                      </a:endParaRPr>
                    </a:p>
                  </a:txBody>
                  <a:tcPr marL="73152" marR="73152" marT="73152" marB="73152"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76B900"/>
                    </a:solidFill>
                  </a:tcPr>
                </a:tc>
                <a:tc>
                  <a:txBody>
                    <a:bodyPr/>
                    <a:lstStyle/>
                    <a:p>
                      <a:pPr indent="0" marL="0">
                        <a:buNone/>
                      </a:pPr>
                      <a:r>
                        <a:rPr lang="en-US" sz="1900" b="1" dirty="0">
                          <a:solidFill>
                            <a:srgbClr val="1A1A2E"/>
                          </a:solidFill>
                          <a:latin typeface="Calibri" pitchFamily="34" charset="0"/>
                          <a:ea typeface="Calibri" pitchFamily="34" charset="-122"/>
                          <a:cs typeface="Calibri" pitchFamily="34" charset="-120"/>
                        </a:rPr>
                        <a:t>Bobot</a:t>
                      </a:r>
                      <a:endParaRPr lang="en-US" sz="1900" dirty="0">
                        <a:latin typeface="Calibri" charset="0"/>
                        <a:ea typeface="Calibri" charset="0"/>
                        <a:cs typeface="Calibri" charset="0"/>
                      </a:endParaRPr>
                    </a:p>
                  </a:txBody>
                  <a:tcPr marL="73152" marR="73152" marT="73152" marB="73152"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76B900"/>
                    </a:solidFill>
                  </a:tcPr>
                </a:tc>
                <a:tc>
                  <a:txBody>
                    <a:bodyPr/>
                    <a:lstStyle/>
                    <a:p>
                      <a:pPr indent="0" marL="0">
                        <a:buNone/>
                      </a:pPr>
                      <a:r>
                        <a:rPr lang="en-US" sz="1900" b="1" dirty="0">
                          <a:solidFill>
                            <a:srgbClr val="1A1A2E"/>
                          </a:solidFill>
                          <a:latin typeface="Calibri" pitchFamily="34" charset="0"/>
                          <a:ea typeface="Calibri" pitchFamily="34" charset="-122"/>
                          <a:cs typeface="Calibri" pitchFamily="34" charset="-120"/>
                        </a:rPr>
                        <a:t>Dibahas di modul</a:t>
                      </a:r>
                      <a:endParaRPr lang="en-US" sz="1900" dirty="0">
                        <a:latin typeface="Calibri" charset="0"/>
                        <a:ea typeface="Calibri" charset="0"/>
                        <a:cs typeface="Calibri" charset="0"/>
                      </a:endParaRPr>
                    </a:p>
                  </a:txBody>
                  <a:tcPr marL="73152" marR="73152" marT="73152" marB="73152"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76B900"/>
                    </a:solidFill>
                  </a:tcPr>
                </a:tc>
                <a:tc>
                  <a:txBody>
                    <a:bodyPr/>
                    <a:lstStyle/>
                    <a:p>
                      <a:pPr indent="0" marL="0">
                        <a:buNone/>
                      </a:pPr>
                      <a:r>
                        <a:rPr lang="en-US" sz="1900" b="1" dirty="0">
                          <a:solidFill>
                            <a:srgbClr val="1A1A2E"/>
                          </a:solidFill>
                          <a:latin typeface="Calibri" pitchFamily="34" charset="0"/>
                          <a:ea typeface="Calibri" pitchFamily="34" charset="-122"/>
                          <a:cs typeface="Calibri" pitchFamily="34" charset="-120"/>
                        </a:rPr>
                        <a:t>Status</a:t>
                      </a:r>
                      <a:endParaRPr lang="en-US" sz="1900" dirty="0">
                        <a:latin typeface="Calibri" charset="0"/>
                        <a:ea typeface="Calibri" charset="0"/>
                        <a:cs typeface="Calibri" charset="0"/>
                      </a:endParaRPr>
                    </a:p>
                  </a:txBody>
                  <a:tcPr marL="73152" marR="73152" marT="73152" marB="73152"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76B900"/>
                    </a:solidFill>
                  </a:tcPr>
                </a:tc>
              </a:tr>
              <a:tr h="594360">
                <a:tc>
                  <a:txBody>
                    <a:bodyPr/>
                    <a:lstStyle/>
                    <a:p>
                      <a:pPr indent="0" marL="0">
                        <a:buNone/>
                      </a:pPr>
                      <a:r>
                        <a:rPr lang="en-US" sz="1900" dirty="0">
                          <a:solidFill>
                            <a:srgbClr val="FFFFFF"/>
                          </a:solidFill>
                          <a:latin typeface="Calibri" pitchFamily="34" charset="0"/>
                          <a:ea typeface="Calibri" pitchFamily="34" charset="-122"/>
                          <a:cs typeface="Calibri" pitchFamily="34" charset="-120"/>
                        </a:rPr>
                        <a:t>Core Machine Learning &amp; AI Knowledge</a:t>
                      </a:r>
                      <a:endParaRPr lang="en-US" sz="1900" dirty="0">
                        <a:latin typeface="Calibri" charset="0"/>
                        <a:ea typeface="Calibri" charset="0"/>
                        <a:cs typeface="Calibri" charset="0"/>
                      </a:endParaRPr>
                    </a:p>
                  </a:txBody>
                  <a:tcPr marL="73152" marR="73152" marT="73152" marB="73152"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2D2D44"/>
                    </a:solidFill>
                  </a:tcPr>
                </a:tc>
                <a:tc>
                  <a:txBody>
                    <a:bodyPr/>
                    <a:lstStyle/>
                    <a:p>
                      <a:pPr indent="0" marL="0">
                        <a:buNone/>
                      </a:pPr>
                      <a:r>
                        <a:rPr lang="en-US" sz="1900" dirty="0">
                          <a:solidFill>
                            <a:srgbClr val="FFFFFF"/>
                          </a:solidFill>
                          <a:latin typeface="Calibri" pitchFamily="34" charset="0"/>
                          <a:ea typeface="Calibri" pitchFamily="34" charset="-122"/>
                          <a:cs typeface="Calibri" pitchFamily="34" charset="-120"/>
                        </a:rPr>
                        <a:t>30%</a:t>
                      </a:r>
                      <a:endParaRPr lang="en-US" sz="1900" dirty="0">
                        <a:latin typeface="Calibri" charset="0"/>
                        <a:ea typeface="Calibri" charset="0"/>
                        <a:cs typeface="Calibri" charset="0"/>
                      </a:endParaRPr>
                    </a:p>
                  </a:txBody>
                  <a:tcPr marL="73152" marR="73152" marT="73152" marB="73152"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2D2D44"/>
                    </a:solidFill>
                  </a:tcPr>
                </a:tc>
                <a:tc>
                  <a:txBody>
                    <a:bodyPr/>
                    <a:lstStyle/>
                    <a:p>
                      <a:pPr indent="0" marL="0">
                        <a:buNone/>
                      </a:pPr>
                      <a:r>
                        <a:rPr lang="en-US" sz="1900" dirty="0">
                          <a:solidFill>
                            <a:srgbClr val="FFFFFF"/>
                          </a:solidFill>
                          <a:latin typeface="Calibri" pitchFamily="34" charset="0"/>
                          <a:ea typeface="Calibri" pitchFamily="34" charset="-122"/>
                          <a:cs typeface="Calibri" pitchFamily="34" charset="-120"/>
                        </a:rPr>
                        <a:t>M01 ML, M02 DL, M04 transformer &amp; LLM</a:t>
                      </a:r>
                      <a:endParaRPr lang="en-US" sz="1900" dirty="0">
                        <a:latin typeface="Calibri" charset="0"/>
                        <a:ea typeface="Calibri" charset="0"/>
                        <a:cs typeface="Calibri" charset="0"/>
                      </a:endParaRPr>
                    </a:p>
                  </a:txBody>
                  <a:tcPr marL="73152" marR="73152" marT="73152" marB="73152"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2D2D44"/>
                    </a:solidFill>
                  </a:tcPr>
                </a:tc>
                <a:tc>
                  <a:txBody>
                    <a:bodyPr/>
                    <a:lstStyle/>
                    <a:p>
                      <a:pPr indent="0" marL="0">
                        <a:buNone/>
                      </a:pPr>
                      <a:r>
                        <a:rPr lang="en-US" sz="1900" b="1" dirty="0">
                          <a:solidFill>
                            <a:srgbClr val="76B900"/>
                          </a:solidFill>
                          <a:latin typeface="Calibri" pitchFamily="34" charset="0"/>
                          <a:ea typeface="Calibri" pitchFamily="34" charset="-122"/>
                          <a:cs typeface="Calibri" pitchFamily="34" charset="-120"/>
                        </a:rPr>
                        <a:t>Tercakup</a:t>
                      </a:r>
                      <a:endParaRPr lang="en-US" sz="1900" dirty="0">
                        <a:latin typeface="Calibri" charset="0"/>
                        <a:ea typeface="Calibri" charset="0"/>
                        <a:cs typeface="Calibri" charset="0"/>
                      </a:endParaRPr>
                    </a:p>
                  </a:txBody>
                  <a:tcPr marL="73152" marR="73152" marT="73152" marB="73152"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2D2D44"/>
                    </a:solidFill>
                  </a:tcPr>
                </a:tc>
              </a:tr>
              <a:tr h="594360">
                <a:tc>
                  <a:txBody>
                    <a:bodyPr/>
                    <a:lstStyle/>
                    <a:p>
                      <a:pPr indent="0" marL="0">
                        <a:buNone/>
                      </a:pPr>
                      <a:r>
                        <a:rPr lang="en-US" sz="1900" dirty="0">
                          <a:solidFill>
                            <a:srgbClr val="FFFFFF"/>
                          </a:solidFill>
                          <a:latin typeface="Calibri" pitchFamily="34" charset="0"/>
                          <a:ea typeface="Calibri" pitchFamily="34" charset="-122"/>
                          <a:cs typeface="Calibri" pitchFamily="34" charset="-120"/>
                        </a:rPr>
                        <a:t>Software Development</a:t>
                      </a:r>
                      <a:endParaRPr lang="en-US" sz="1900" dirty="0">
                        <a:latin typeface="Calibri" charset="0"/>
                        <a:ea typeface="Calibri" charset="0"/>
                        <a:cs typeface="Calibri" charset="0"/>
                      </a:endParaRPr>
                    </a:p>
                  </a:txBody>
                  <a:tcPr marL="73152" marR="73152" marT="73152" marB="73152"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23233A"/>
                    </a:solidFill>
                  </a:tcPr>
                </a:tc>
                <a:tc>
                  <a:txBody>
                    <a:bodyPr/>
                    <a:lstStyle/>
                    <a:p>
                      <a:pPr indent="0" marL="0">
                        <a:buNone/>
                      </a:pPr>
                      <a:r>
                        <a:rPr lang="en-US" sz="1900" dirty="0">
                          <a:solidFill>
                            <a:srgbClr val="FFFFFF"/>
                          </a:solidFill>
                          <a:latin typeface="Calibri" pitchFamily="34" charset="0"/>
                          <a:ea typeface="Calibri" pitchFamily="34" charset="-122"/>
                          <a:cs typeface="Calibri" pitchFamily="34" charset="-120"/>
                        </a:rPr>
                        <a:t>24%</a:t>
                      </a:r>
                      <a:endParaRPr lang="en-US" sz="1900" dirty="0">
                        <a:latin typeface="Calibri" charset="0"/>
                        <a:ea typeface="Calibri" charset="0"/>
                        <a:cs typeface="Calibri" charset="0"/>
                      </a:endParaRPr>
                    </a:p>
                  </a:txBody>
                  <a:tcPr marL="73152" marR="73152" marT="73152" marB="73152"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23233A"/>
                    </a:solidFill>
                  </a:tcPr>
                </a:tc>
                <a:tc>
                  <a:txBody>
                    <a:bodyPr/>
                    <a:lstStyle/>
                    <a:p>
                      <a:pPr indent="0" marL="0">
                        <a:buNone/>
                      </a:pPr>
                      <a:r>
                        <a:rPr lang="en-US" sz="1900" dirty="0">
                          <a:solidFill>
                            <a:srgbClr val="FFFFFF"/>
                          </a:solidFill>
                          <a:latin typeface="Calibri" pitchFamily="34" charset="0"/>
                          <a:ea typeface="Calibri" pitchFamily="34" charset="-122"/>
                          <a:cs typeface="Calibri" pitchFamily="34" charset="-120"/>
                        </a:rPr>
                        <a:t>M04 produksi LLM, M05 RAG API, M06 serving</a:t>
                      </a:r>
                      <a:endParaRPr lang="en-US" sz="1900" dirty="0">
                        <a:latin typeface="Calibri" charset="0"/>
                        <a:ea typeface="Calibri" charset="0"/>
                        <a:cs typeface="Calibri" charset="0"/>
                      </a:endParaRPr>
                    </a:p>
                  </a:txBody>
                  <a:tcPr marL="73152" marR="73152" marT="73152" marB="73152"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23233A"/>
                    </a:solidFill>
                  </a:tcPr>
                </a:tc>
                <a:tc>
                  <a:txBody>
                    <a:bodyPr/>
                    <a:lstStyle/>
                    <a:p>
                      <a:pPr indent="0" marL="0">
                        <a:buNone/>
                      </a:pPr>
                      <a:r>
                        <a:rPr lang="en-US" sz="1900" b="1" dirty="0">
                          <a:solidFill>
                            <a:srgbClr val="76B900"/>
                          </a:solidFill>
                          <a:latin typeface="Calibri" pitchFamily="34" charset="0"/>
                          <a:ea typeface="Calibri" pitchFamily="34" charset="-122"/>
                          <a:cs typeface="Calibri" pitchFamily="34" charset="-120"/>
                        </a:rPr>
                        <a:t>Tercakup</a:t>
                      </a:r>
                      <a:endParaRPr lang="en-US" sz="1900" dirty="0">
                        <a:latin typeface="Calibri" charset="0"/>
                        <a:ea typeface="Calibri" charset="0"/>
                        <a:cs typeface="Calibri" charset="0"/>
                      </a:endParaRPr>
                    </a:p>
                  </a:txBody>
                  <a:tcPr marL="73152" marR="73152" marT="73152" marB="73152"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23233A"/>
                    </a:solidFill>
                  </a:tcPr>
                </a:tc>
              </a:tr>
              <a:tr h="594360">
                <a:tc>
                  <a:txBody>
                    <a:bodyPr/>
                    <a:lstStyle/>
                    <a:p>
                      <a:pPr indent="0" marL="0">
                        <a:buNone/>
                      </a:pPr>
                      <a:r>
                        <a:rPr lang="en-US" sz="1900" dirty="0">
                          <a:solidFill>
                            <a:srgbClr val="FFFFFF"/>
                          </a:solidFill>
                          <a:latin typeface="Calibri" pitchFamily="34" charset="0"/>
                          <a:ea typeface="Calibri" pitchFamily="34" charset="-122"/>
                          <a:cs typeface="Calibri" pitchFamily="34" charset="-120"/>
                        </a:rPr>
                        <a:t>Experimentation</a:t>
                      </a:r>
                      <a:endParaRPr lang="en-US" sz="1900" dirty="0">
                        <a:latin typeface="Calibri" charset="0"/>
                        <a:ea typeface="Calibri" charset="0"/>
                        <a:cs typeface="Calibri" charset="0"/>
                      </a:endParaRPr>
                    </a:p>
                  </a:txBody>
                  <a:tcPr marL="73152" marR="73152" marT="73152" marB="73152"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2D2D44"/>
                    </a:solidFill>
                  </a:tcPr>
                </a:tc>
                <a:tc>
                  <a:txBody>
                    <a:bodyPr/>
                    <a:lstStyle/>
                    <a:p>
                      <a:pPr indent="0" marL="0">
                        <a:buNone/>
                      </a:pPr>
                      <a:r>
                        <a:rPr lang="en-US" sz="1900" dirty="0">
                          <a:solidFill>
                            <a:srgbClr val="FFFFFF"/>
                          </a:solidFill>
                          <a:latin typeface="Calibri" pitchFamily="34" charset="0"/>
                          <a:ea typeface="Calibri" pitchFamily="34" charset="-122"/>
                          <a:cs typeface="Calibri" pitchFamily="34" charset="-120"/>
                        </a:rPr>
                        <a:t>22%</a:t>
                      </a:r>
                      <a:endParaRPr lang="en-US" sz="1900" dirty="0">
                        <a:latin typeface="Calibri" charset="0"/>
                        <a:ea typeface="Calibri" charset="0"/>
                        <a:cs typeface="Calibri" charset="0"/>
                      </a:endParaRPr>
                    </a:p>
                  </a:txBody>
                  <a:tcPr marL="73152" marR="73152" marT="73152" marB="73152"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2D2D44"/>
                    </a:solidFill>
                  </a:tcPr>
                </a:tc>
                <a:tc>
                  <a:txBody>
                    <a:bodyPr/>
                    <a:lstStyle/>
                    <a:p>
                      <a:pPr indent="0" marL="0">
                        <a:buNone/>
                      </a:pPr>
                      <a:r>
                        <a:rPr lang="en-US" sz="1900" dirty="0">
                          <a:solidFill>
                            <a:srgbClr val="FFFFFF"/>
                          </a:solidFill>
                          <a:latin typeface="Calibri" pitchFamily="34" charset="0"/>
                          <a:ea typeface="Calibri" pitchFamily="34" charset="-122"/>
                          <a:cs typeface="Calibri" pitchFamily="34" charset="-120"/>
                        </a:rPr>
                        <a:t>M04 LoRA &amp; evaluasi, M05 RAGAS</a:t>
                      </a:r>
                      <a:endParaRPr lang="en-US" sz="1900" dirty="0">
                        <a:latin typeface="Calibri" charset="0"/>
                        <a:ea typeface="Calibri" charset="0"/>
                        <a:cs typeface="Calibri" charset="0"/>
                      </a:endParaRPr>
                    </a:p>
                  </a:txBody>
                  <a:tcPr marL="73152" marR="73152" marT="73152" marB="73152"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2D2D44"/>
                    </a:solidFill>
                  </a:tcPr>
                </a:tc>
                <a:tc>
                  <a:txBody>
                    <a:bodyPr/>
                    <a:lstStyle/>
                    <a:p>
                      <a:pPr indent="0" marL="0">
                        <a:buNone/>
                      </a:pPr>
                      <a:r>
                        <a:rPr lang="en-US" sz="1900" b="1" dirty="0">
                          <a:solidFill>
                            <a:srgbClr val="FF6F00"/>
                          </a:solidFill>
                          <a:latin typeface="Calibri" pitchFamily="34" charset="0"/>
                          <a:ea typeface="Calibri" pitchFamily="34" charset="-122"/>
                          <a:cs typeface="Calibri" pitchFamily="34" charset="-120"/>
                        </a:rPr>
                        <a:t>Sebagian</a:t>
                      </a:r>
                      <a:endParaRPr lang="en-US" sz="1900" dirty="0">
                        <a:latin typeface="Calibri" charset="0"/>
                        <a:ea typeface="Calibri" charset="0"/>
                        <a:cs typeface="Calibri" charset="0"/>
                      </a:endParaRPr>
                    </a:p>
                  </a:txBody>
                  <a:tcPr marL="73152" marR="73152" marT="73152" marB="73152"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2D2D44"/>
                    </a:solidFill>
                  </a:tcPr>
                </a:tc>
              </a:tr>
              <a:tr h="594360">
                <a:tc>
                  <a:txBody>
                    <a:bodyPr/>
                    <a:lstStyle/>
                    <a:p>
                      <a:pPr indent="0" marL="0">
                        <a:buNone/>
                      </a:pPr>
                      <a:r>
                        <a:rPr lang="en-US" sz="1900" dirty="0">
                          <a:solidFill>
                            <a:srgbClr val="FFFFFF"/>
                          </a:solidFill>
                          <a:latin typeface="Calibri" pitchFamily="34" charset="0"/>
                          <a:ea typeface="Calibri" pitchFamily="34" charset="-122"/>
                          <a:cs typeface="Calibri" pitchFamily="34" charset="-120"/>
                        </a:rPr>
                        <a:t>Data Analysis &amp; Visualization</a:t>
                      </a:r>
                      <a:endParaRPr lang="en-US" sz="1900" dirty="0">
                        <a:latin typeface="Calibri" charset="0"/>
                        <a:ea typeface="Calibri" charset="0"/>
                        <a:cs typeface="Calibri" charset="0"/>
                      </a:endParaRPr>
                    </a:p>
                  </a:txBody>
                  <a:tcPr marL="73152" marR="73152" marT="73152" marB="73152"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23233A"/>
                    </a:solidFill>
                  </a:tcPr>
                </a:tc>
                <a:tc>
                  <a:txBody>
                    <a:bodyPr/>
                    <a:lstStyle/>
                    <a:p>
                      <a:pPr indent="0" marL="0">
                        <a:buNone/>
                      </a:pPr>
                      <a:r>
                        <a:rPr lang="en-US" sz="1900" dirty="0">
                          <a:solidFill>
                            <a:srgbClr val="FFFFFF"/>
                          </a:solidFill>
                          <a:latin typeface="Calibri" pitchFamily="34" charset="0"/>
                          <a:ea typeface="Calibri" pitchFamily="34" charset="-122"/>
                          <a:cs typeface="Calibri" pitchFamily="34" charset="-120"/>
                        </a:rPr>
                        <a:t>14%</a:t>
                      </a:r>
                      <a:endParaRPr lang="en-US" sz="1900" dirty="0">
                        <a:latin typeface="Calibri" charset="0"/>
                        <a:ea typeface="Calibri" charset="0"/>
                        <a:cs typeface="Calibri" charset="0"/>
                      </a:endParaRPr>
                    </a:p>
                  </a:txBody>
                  <a:tcPr marL="73152" marR="73152" marT="73152" marB="73152"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23233A"/>
                    </a:solidFill>
                  </a:tcPr>
                </a:tc>
                <a:tc>
                  <a:txBody>
                    <a:bodyPr/>
                    <a:lstStyle/>
                    <a:p>
                      <a:pPr indent="0" marL="0">
                        <a:buNone/>
                      </a:pPr>
                      <a:r>
                        <a:rPr lang="en-US" sz="1900" dirty="0">
                          <a:solidFill>
                            <a:srgbClr val="FFFFFF"/>
                          </a:solidFill>
                          <a:latin typeface="Calibri" pitchFamily="34" charset="0"/>
                          <a:ea typeface="Calibri" pitchFamily="34" charset="-122"/>
                          <a:cs typeface="Calibri" pitchFamily="34" charset="-120"/>
                        </a:rPr>
                        <a:t>M01 EDA, M03 NLP, RAPIDS</a:t>
                      </a:r>
                      <a:endParaRPr lang="en-US" sz="1900" dirty="0">
                        <a:latin typeface="Calibri" charset="0"/>
                        <a:ea typeface="Calibri" charset="0"/>
                        <a:cs typeface="Calibri" charset="0"/>
                      </a:endParaRPr>
                    </a:p>
                  </a:txBody>
                  <a:tcPr marL="73152" marR="73152" marT="73152" marB="73152"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23233A"/>
                    </a:solidFill>
                  </a:tcPr>
                </a:tc>
                <a:tc>
                  <a:txBody>
                    <a:bodyPr/>
                    <a:lstStyle/>
                    <a:p>
                      <a:pPr indent="0" marL="0">
                        <a:buNone/>
                      </a:pPr>
                      <a:r>
                        <a:rPr lang="en-US" sz="1900" b="1" dirty="0">
                          <a:solidFill>
                            <a:srgbClr val="76B900"/>
                          </a:solidFill>
                          <a:latin typeface="Calibri" pitchFamily="34" charset="0"/>
                          <a:ea typeface="Calibri" pitchFamily="34" charset="-122"/>
                          <a:cs typeface="Calibri" pitchFamily="34" charset="-120"/>
                        </a:rPr>
                        <a:t>Tercakup</a:t>
                      </a:r>
                      <a:endParaRPr lang="en-US" sz="1900" dirty="0">
                        <a:latin typeface="Calibri" charset="0"/>
                        <a:ea typeface="Calibri" charset="0"/>
                        <a:cs typeface="Calibri" charset="0"/>
                      </a:endParaRPr>
                    </a:p>
                  </a:txBody>
                  <a:tcPr marL="73152" marR="73152" marT="73152" marB="73152"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23233A"/>
                    </a:solidFill>
                  </a:tcPr>
                </a:tc>
              </a:tr>
              <a:tr h="594360">
                <a:tc>
                  <a:txBody>
                    <a:bodyPr/>
                    <a:lstStyle/>
                    <a:p>
                      <a:pPr indent="0" marL="0">
                        <a:buNone/>
                      </a:pPr>
                      <a:r>
                        <a:rPr lang="en-US" sz="1900" dirty="0">
                          <a:solidFill>
                            <a:srgbClr val="FFFFFF"/>
                          </a:solidFill>
                          <a:latin typeface="Calibri" pitchFamily="34" charset="0"/>
                          <a:ea typeface="Calibri" pitchFamily="34" charset="-122"/>
                          <a:cs typeface="Calibri" pitchFamily="34" charset="-120"/>
                        </a:rPr>
                        <a:t>Trustworthy AI</a:t>
                      </a:r>
                      <a:endParaRPr lang="en-US" sz="1900" dirty="0">
                        <a:latin typeface="Calibri" charset="0"/>
                        <a:ea typeface="Calibri" charset="0"/>
                        <a:cs typeface="Calibri" charset="0"/>
                      </a:endParaRPr>
                    </a:p>
                  </a:txBody>
                  <a:tcPr marL="73152" marR="73152" marT="73152" marB="73152"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2D2D44"/>
                    </a:solidFill>
                  </a:tcPr>
                </a:tc>
                <a:tc>
                  <a:txBody>
                    <a:bodyPr/>
                    <a:lstStyle/>
                    <a:p>
                      <a:pPr indent="0" marL="0">
                        <a:buNone/>
                      </a:pPr>
                      <a:r>
                        <a:rPr lang="en-US" sz="1900" dirty="0">
                          <a:solidFill>
                            <a:srgbClr val="FFFFFF"/>
                          </a:solidFill>
                          <a:latin typeface="Calibri" pitchFamily="34" charset="0"/>
                          <a:ea typeface="Calibri" pitchFamily="34" charset="-122"/>
                          <a:cs typeface="Calibri" pitchFamily="34" charset="-120"/>
                        </a:rPr>
                        <a:t>10%</a:t>
                      </a:r>
                      <a:endParaRPr lang="en-US" sz="1900" dirty="0">
                        <a:latin typeface="Calibri" charset="0"/>
                        <a:ea typeface="Calibri" charset="0"/>
                        <a:cs typeface="Calibri" charset="0"/>
                      </a:endParaRPr>
                    </a:p>
                  </a:txBody>
                  <a:tcPr marL="73152" marR="73152" marT="73152" marB="73152"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2D2D44"/>
                    </a:solidFill>
                  </a:tcPr>
                </a:tc>
                <a:tc>
                  <a:txBody>
                    <a:bodyPr/>
                    <a:lstStyle/>
                    <a:p>
                      <a:pPr indent="0" marL="0">
                        <a:buNone/>
                      </a:pPr>
                      <a:r>
                        <a:rPr lang="en-US" sz="1900" dirty="0">
                          <a:solidFill>
                            <a:srgbClr val="FFFFFF"/>
                          </a:solidFill>
                          <a:latin typeface="Calibri" pitchFamily="34" charset="0"/>
                          <a:ea typeface="Calibri" pitchFamily="34" charset="-122"/>
                          <a:cs typeface="Calibri" pitchFamily="34" charset="-120"/>
                        </a:rPr>
                        <a:t>M06 fairness, guardrails, privasi</a:t>
                      </a:r>
                      <a:endParaRPr lang="en-US" sz="1900" dirty="0">
                        <a:latin typeface="Calibri" charset="0"/>
                        <a:ea typeface="Calibri" charset="0"/>
                        <a:cs typeface="Calibri" charset="0"/>
                      </a:endParaRPr>
                    </a:p>
                  </a:txBody>
                  <a:tcPr marL="73152" marR="73152" marT="73152" marB="73152"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2D2D44"/>
                    </a:solidFill>
                  </a:tcPr>
                </a:tc>
                <a:tc>
                  <a:txBody>
                    <a:bodyPr/>
                    <a:lstStyle/>
                    <a:p>
                      <a:pPr indent="0" marL="0">
                        <a:buNone/>
                      </a:pPr>
                      <a:r>
                        <a:rPr lang="en-US" sz="1900" b="1" dirty="0">
                          <a:solidFill>
                            <a:srgbClr val="76B900"/>
                          </a:solidFill>
                          <a:latin typeface="Calibri" pitchFamily="34" charset="0"/>
                          <a:ea typeface="Calibri" pitchFamily="34" charset="-122"/>
                          <a:cs typeface="Calibri" pitchFamily="34" charset="-120"/>
                        </a:rPr>
                        <a:t>Tercakup</a:t>
                      </a:r>
                      <a:endParaRPr lang="en-US" sz="1900" dirty="0">
                        <a:latin typeface="Calibri" charset="0"/>
                        <a:ea typeface="Calibri" charset="0"/>
                        <a:cs typeface="Calibri" charset="0"/>
                      </a:endParaRPr>
                    </a:p>
                  </a:txBody>
                  <a:tcPr marL="73152" marR="73152" marT="73152" marB="73152"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2D2D44"/>
                    </a:solidFill>
                  </a:tcPr>
                </a:tc>
              </a:tr>
            </a:tbl>
          </a:graphicData>
        </a:graphic>
      </p:graphicFrame>
      <p:sp>
        <p:nvSpPr>
          <p:cNvPr id="7" name="Shape 4"/>
          <p:cNvSpPr/>
          <p:nvPr/>
        </p:nvSpPr>
        <p:spPr>
          <a:xfrm>
            <a:off x="548640" y="5669280"/>
            <a:ext cx="73152" cy="502920"/>
          </a:xfrm>
          <a:prstGeom prst="rect">
            <a:avLst/>
          </a:prstGeom>
          <a:solidFill>
            <a:srgbClr val="A3D944"/>
          </a:solidFill>
          <a:ln/>
        </p:spPr>
      </p:sp>
      <p:sp>
        <p:nvSpPr>
          <p:cNvPr id="8" name="Text 5"/>
          <p:cNvSpPr/>
          <p:nvPr/>
        </p:nvSpPr>
        <p:spPr>
          <a:xfrm>
            <a:off x="777240" y="5669280"/>
            <a:ext cx="10881360" cy="502920"/>
          </a:xfrm>
          <a:prstGeom prst="rect">
            <a:avLst/>
          </a:prstGeom>
          <a:noFill/>
          <a:ln/>
        </p:spPr>
        <p:txBody>
          <a:bodyPr wrap="square" lIns="0" tIns="0" rIns="0" bIns="0" rtlCol="0" anchor="ctr"/>
          <a:lstStyle/>
          <a:p>
            <a:pPr indent="0" marL="0">
              <a:buNone/>
            </a:pPr>
            <a:r>
              <a:rPr lang="en-US" sz="1700" b="1" dirty="0">
                <a:solidFill>
                  <a:srgbClr val="A3D944"/>
                </a:solidFill>
                <a:latin typeface="Calibri" pitchFamily="34" charset="0"/>
                <a:ea typeface="Calibri" pitchFamily="34" charset="-122"/>
                <a:cs typeface="Calibri" pitchFamily="34" charset="-120"/>
              </a:rPr>
              <a:t>Celah terbesar ada di Experimentation: bobotnya 22%, tapi baru tercakup sebagian.</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76B900"/>
          </a:solidFill>
          <a:ln/>
        </p:spPr>
      </p:sp>
      <p:sp>
        <p:nvSpPr>
          <p:cNvPr id="3" name="Text 1"/>
          <p:cNvSpPr/>
          <p:nvPr/>
        </p:nvSpPr>
        <p:spPr>
          <a:xfrm>
            <a:off x="548640" y="320040"/>
            <a:ext cx="10972800" cy="274320"/>
          </a:xfrm>
          <a:prstGeom prst="rect">
            <a:avLst/>
          </a:prstGeom>
          <a:noFill/>
          <a:ln/>
        </p:spPr>
        <p:txBody>
          <a:bodyPr wrap="square" lIns="0" tIns="0" rIns="0" bIns="0" rtlCol="0" anchor="ctr"/>
          <a:lstStyle/>
          <a:p>
            <a:pPr indent="0" marL="0">
              <a:buNone/>
            </a:pPr>
            <a:r>
              <a:rPr lang="en-US" sz="1300" b="1" dirty="0">
                <a:solidFill>
                  <a:srgbClr val="76B900"/>
                </a:solidFill>
                <a:latin typeface="Calibri" pitchFamily="34" charset="0"/>
                <a:ea typeface="Calibri" pitchFamily="34" charset="-122"/>
                <a:cs typeface="Calibri" pitchFamily="34" charset="-120"/>
              </a:rPr>
              <a:t>Bagian 1 · Lulus NCA-GENL</a:t>
            </a:r>
            <a:endParaRPr lang="en-US" sz="1300" dirty="0"/>
          </a:p>
        </p:txBody>
      </p:sp>
      <p:sp>
        <p:nvSpPr>
          <p:cNvPr id="4" name="Text 2"/>
          <p:cNvSpPr/>
          <p:nvPr/>
        </p:nvSpPr>
        <p:spPr>
          <a:xfrm>
            <a:off x="548640" y="640080"/>
            <a:ext cx="11064240" cy="68580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Topik tipis: pelajari sendiri</a:t>
            </a:r>
            <a:endParaRPr lang="en-US" sz="3000" dirty="0"/>
          </a:p>
        </p:txBody>
      </p:sp>
      <p:sp>
        <p:nvSpPr>
          <p:cNvPr id="5" name="Text 3"/>
          <p:cNvSpPr/>
          <p:nvPr/>
        </p:nvSpPr>
        <p:spPr>
          <a:xfrm>
            <a:off x="7955280" y="6446520"/>
            <a:ext cx="3749040" cy="274320"/>
          </a:xfrm>
          <a:prstGeom prst="rect">
            <a:avLst/>
          </a:prstGeom>
          <a:noFill/>
          <a:ln/>
        </p:spPr>
        <p:txBody>
          <a:bodyPr wrap="square" lIns="0" tIns="0" rIns="0" bIns="0" rtlCol="0" anchor="ctr"/>
          <a:lstStyle/>
          <a:p>
            <a:pPr algn="r" indent="0" marL="0">
              <a:buNone/>
            </a:pPr>
            <a:r>
              <a:rPr lang="en-US" sz="1000" dirty="0">
                <a:solidFill>
                  <a:srgbClr val="AAAACC"/>
                </a:solidFill>
                <a:latin typeface="Calibri" pitchFamily="34" charset="0"/>
                <a:ea typeface="Calibri" pitchFamily="34" charset="-122"/>
                <a:cs typeface="Calibri" pitchFamily="34" charset="-120"/>
              </a:rPr>
              <a:t>Navasena · Exam Preparation   5</a:t>
            </a:r>
            <a:endParaRPr lang="en-US" sz="1000" dirty="0"/>
          </a:p>
        </p:txBody>
      </p:sp>
      <p:sp>
        <p:nvSpPr>
          <p:cNvPr id="6" name="Shape 4"/>
          <p:cNvSpPr/>
          <p:nvPr/>
        </p:nvSpPr>
        <p:spPr>
          <a:xfrm>
            <a:off x="548640" y="1600200"/>
            <a:ext cx="5440680" cy="1828800"/>
          </a:xfrm>
          <a:prstGeom prst="roundRect">
            <a:avLst>
              <a:gd name="adj" fmla="val 4000"/>
            </a:avLst>
          </a:prstGeom>
          <a:solidFill>
            <a:srgbClr val="2D2D44"/>
          </a:solidFill>
          <a:ln w="19050">
            <a:solidFill>
              <a:srgbClr val="FF6F00"/>
            </a:solidFill>
            <a:prstDash val="solid"/>
          </a:ln>
        </p:spPr>
      </p:sp>
      <p:sp>
        <p:nvSpPr>
          <p:cNvPr id="7" name="Text 5"/>
          <p:cNvSpPr/>
          <p:nvPr/>
        </p:nvSpPr>
        <p:spPr>
          <a:xfrm>
            <a:off x="777240" y="1783080"/>
            <a:ext cx="4983480" cy="411480"/>
          </a:xfrm>
          <a:prstGeom prst="rect">
            <a:avLst/>
          </a:prstGeom>
          <a:noFill/>
          <a:ln/>
        </p:spPr>
        <p:txBody>
          <a:bodyPr wrap="square" lIns="0" tIns="0" rIns="0" bIns="0" rtlCol="0" anchor="ctr"/>
          <a:lstStyle/>
          <a:p>
            <a:pPr indent="0" marL="0">
              <a:buNone/>
            </a:pPr>
            <a:r>
              <a:rPr lang="en-US" sz="1800" b="1" dirty="0">
                <a:solidFill>
                  <a:srgbClr val="FF6F00"/>
                </a:solidFill>
                <a:latin typeface="Calibri" pitchFamily="34" charset="0"/>
                <a:ea typeface="Calibri" pitchFamily="34" charset="-122"/>
                <a:cs typeface="Calibri" pitchFamily="34" charset="-120"/>
              </a:rPr>
              <a:t>Alignment: RLHF &amp; DPO</a:t>
            </a:r>
            <a:endParaRPr lang="en-US" sz="1800" dirty="0"/>
          </a:p>
        </p:txBody>
      </p:sp>
      <p:sp>
        <p:nvSpPr>
          <p:cNvPr id="8" name="Text 6"/>
          <p:cNvSpPr/>
          <p:nvPr/>
        </p:nvSpPr>
        <p:spPr>
          <a:xfrm>
            <a:off x="777240" y="2286000"/>
            <a:ext cx="4983480" cy="1005840"/>
          </a:xfrm>
          <a:prstGeom prst="rect">
            <a:avLst/>
          </a:prstGeom>
          <a:noFill/>
          <a:ln/>
        </p:spPr>
        <p:txBody>
          <a:bodyPr wrap="square" lIns="0" tIns="0" rIns="0" bIns="0" rtlCol="0" anchor="t"/>
          <a:lstStyle/>
          <a:p>
            <a:pPr indent="0" marL="0">
              <a:spcAft>
                <a:spcPts val="600"/>
              </a:spcAft>
              <a:buNone/>
            </a:pPr>
            <a:r>
              <a:rPr lang="en-US" sz="1600" dirty="0">
                <a:solidFill>
                  <a:srgbClr val="FFFFFF"/>
                </a:solidFill>
                <a:latin typeface="Calibri" pitchFamily="34" charset="0"/>
                <a:ea typeface="Calibri" pitchFamily="34" charset="-122"/>
                <a:cs typeface="Calibri" pitchFamily="34" charset="-120"/>
              </a:rPr>
              <a:t>Kenapa model chat mengikuti instruksi.</a:t>
            </a:r>
            <a:endParaRPr lang="en-US" sz="1600" dirty="0"/>
          </a:p>
          <a:p>
            <a:pPr indent="0" marL="0">
              <a:spcAft>
                <a:spcPts val="600"/>
              </a:spcAft>
              <a:buNone/>
            </a:pPr>
            <a:r>
              <a:rPr lang="en-US" sz="1600" dirty="0">
                <a:solidFill>
                  <a:srgbClr val="FFFFFF"/>
                </a:solidFill>
                <a:latin typeface="Calibri" pitchFamily="34" charset="0"/>
                <a:ea typeface="Calibri" pitchFamily="34" charset="-122"/>
                <a:cs typeface="Calibri" pitchFamily="34" charset="-120"/>
              </a:rPr>
              <a:t>Reward model, data preferensi, beda RLHF dan DPO.</a:t>
            </a:r>
            <a:endParaRPr lang="en-US" sz="1600" dirty="0"/>
          </a:p>
          <a:p>
            <a:pPr indent="0" marL="0">
              <a:spcAft>
                <a:spcPts val="600"/>
              </a:spcAft>
              <a:buNone/>
            </a:pPr>
            <a:r>
              <a:rPr lang="en-US" sz="1600" dirty="0">
                <a:solidFill>
                  <a:srgbClr val="FFFFFF"/>
                </a:solidFill>
                <a:latin typeface="Calibri" pitchFamily="34" charset="0"/>
                <a:ea typeface="Calibri" pitchFamily="34" charset="-122"/>
                <a:cs typeface="Calibri" pitchFamily="34" charset="-120"/>
              </a:rPr>
              <a:t>Alignment disebut di topik resmi.</a:t>
            </a:r>
            <a:endParaRPr lang="en-US" sz="1600" dirty="0"/>
          </a:p>
        </p:txBody>
      </p:sp>
      <p:sp>
        <p:nvSpPr>
          <p:cNvPr id="9" name="Shape 7"/>
          <p:cNvSpPr/>
          <p:nvPr/>
        </p:nvSpPr>
        <p:spPr>
          <a:xfrm>
            <a:off x="6172200" y="1600200"/>
            <a:ext cx="5440680" cy="1828800"/>
          </a:xfrm>
          <a:prstGeom prst="roundRect">
            <a:avLst>
              <a:gd name="adj" fmla="val 4000"/>
            </a:avLst>
          </a:prstGeom>
          <a:solidFill>
            <a:srgbClr val="2D2D44"/>
          </a:solidFill>
          <a:ln w="19050">
            <a:solidFill>
              <a:srgbClr val="FF6F00"/>
            </a:solidFill>
            <a:prstDash val="solid"/>
          </a:ln>
        </p:spPr>
      </p:sp>
      <p:sp>
        <p:nvSpPr>
          <p:cNvPr id="10" name="Text 8"/>
          <p:cNvSpPr/>
          <p:nvPr/>
        </p:nvSpPr>
        <p:spPr>
          <a:xfrm>
            <a:off x="6400800" y="1783080"/>
            <a:ext cx="4983480" cy="411480"/>
          </a:xfrm>
          <a:prstGeom prst="rect">
            <a:avLst/>
          </a:prstGeom>
          <a:noFill/>
          <a:ln/>
        </p:spPr>
        <p:txBody>
          <a:bodyPr wrap="square" lIns="0" tIns="0" rIns="0" bIns="0" rtlCol="0" anchor="ctr"/>
          <a:lstStyle/>
          <a:p>
            <a:pPr indent="0" marL="0">
              <a:buNone/>
            </a:pPr>
            <a:r>
              <a:rPr lang="en-US" sz="1800" b="1" dirty="0">
                <a:solidFill>
                  <a:srgbClr val="FF6F00"/>
                </a:solidFill>
                <a:latin typeface="Calibri" pitchFamily="34" charset="0"/>
                <a:ea typeface="Calibri" pitchFamily="34" charset="-122"/>
                <a:cs typeface="Calibri" pitchFamily="34" charset="-120"/>
              </a:rPr>
              <a:t>Desain eksperimen</a:t>
            </a:r>
            <a:endParaRPr lang="en-US" sz="1800" dirty="0"/>
          </a:p>
        </p:txBody>
      </p:sp>
      <p:sp>
        <p:nvSpPr>
          <p:cNvPr id="11" name="Text 9"/>
          <p:cNvSpPr/>
          <p:nvPr/>
        </p:nvSpPr>
        <p:spPr>
          <a:xfrm>
            <a:off x="6400800" y="2286000"/>
            <a:ext cx="4983480" cy="1005840"/>
          </a:xfrm>
          <a:prstGeom prst="rect">
            <a:avLst/>
          </a:prstGeom>
          <a:noFill/>
          <a:ln/>
        </p:spPr>
        <p:txBody>
          <a:bodyPr wrap="square" lIns="0" tIns="0" rIns="0" bIns="0" rtlCol="0" anchor="t"/>
          <a:lstStyle/>
          <a:p>
            <a:pPr indent="0" marL="0">
              <a:spcAft>
                <a:spcPts val="600"/>
              </a:spcAft>
              <a:buNone/>
            </a:pPr>
            <a:r>
              <a:rPr lang="en-US" sz="1600" dirty="0">
                <a:solidFill>
                  <a:srgbClr val="FFFFFF"/>
                </a:solidFill>
                <a:latin typeface="Calibri" pitchFamily="34" charset="0"/>
                <a:ea typeface="Calibri" pitchFamily="34" charset="-122"/>
                <a:cs typeface="Calibri" pitchFamily="34" charset="-120"/>
              </a:rPr>
              <a:t>Baseline, satu variabel per percobaan.</a:t>
            </a:r>
            <a:endParaRPr lang="en-US" sz="1600" dirty="0"/>
          </a:p>
          <a:p>
            <a:pPr indent="0" marL="0">
              <a:spcAft>
                <a:spcPts val="600"/>
              </a:spcAft>
              <a:buNone/>
            </a:pPr>
            <a:r>
              <a:rPr lang="en-US" sz="1600" dirty="0">
                <a:solidFill>
                  <a:srgbClr val="FFFFFF"/>
                </a:solidFill>
                <a:latin typeface="Calibri" pitchFamily="34" charset="0"/>
                <a:ea typeface="Calibri" pitchFamily="34" charset="-122"/>
                <a:cs typeface="Calibri" pitchFamily="34" charset="-120"/>
              </a:rPr>
              <a:t>A/B test dan experiment tracking.</a:t>
            </a:r>
            <a:endParaRPr lang="en-US" sz="1600" dirty="0"/>
          </a:p>
          <a:p>
            <a:pPr indent="0" marL="0">
              <a:spcAft>
                <a:spcPts val="600"/>
              </a:spcAft>
              <a:buNone/>
            </a:pPr>
            <a:r>
              <a:rPr lang="en-US" sz="1600" dirty="0">
                <a:solidFill>
                  <a:srgbClr val="FFFFFF"/>
                </a:solidFill>
                <a:latin typeface="Calibri" pitchFamily="34" charset="0"/>
                <a:ea typeface="Calibri" pitchFamily="34" charset="-122"/>
                <a:cs typeface="Calibri" pitchFamily="34" charset="-120"/>
              </a:rPr>
              <a:t>Bagian dari domain Experimentation (22%).</a:t>
            </a:r>
            <a:endParaRPr lang="en-US" sz="1600" dirty="0"/>
          </a:p>
        </p:txBody>
      </p:sp>
      <p:sp>
        <p:nvSpPr>
          <p:cNvPr id="12" name="Shape 10"/>
          <p:cNvSpPr/>
          <p:nvPr/>
        </p:nvSpPr>
        <p:spPr>
          <a:xfrm>
            <a:off x="548640" y="3611880"/>
            <a:ext cx="5440680" cy="1828800"/>
          </a:xfrm>
          <a:prstGeom prst="roundRect">
            <a:avLst>
              <a:gd name="adj" fmla="val 4000"/>
            </a:avLst>
          </a:prstGeom>
          <a:solidFill>
            <a:srgbClr val="2D2D44"/>
          </a:solidFill>
          <a:ln w="19050">
            <a:solidFill>
              <a:srgbClr val="42A5F5"/>
            </a:solidFill>
            <a:prstDash val="solid"/>
          </a:ln>
        </p:spPr>
      </p:sp>
      <p:sp>
        <p:nvSpPr>
          <p:cNvPr id="13" name="Text 11"/>
          <p:cNvSpPr/>
          <p:nvPr/>
        </p:nvSpPr>
        <p:spPr>
          <a:xfrm>
            <a:off x="777240" y="3794760"/>
            <a:ext cx="4983480" cy="411480"/>
          </a:xfrm>
          <a:prstGeom prst="rect">
            <a:avLst/>
          </a:prstGeom>
          <a:noFill/>
          <a:ln/>
        </p:spPr>
        <p:txBody>
          <a:bodyPr wrap="square" lIns="0" tIns="0" rIns="0" bIns="0" rtlCol="0" anchor="ctr"/>
          <a:lstStyle/>
          <a:p>
            <a:pPr indent="0" marL="0">
              <a:buNone/>
            </a:pPr>
            <a:r>
              <a:rPr lang="en-US" sz="1800" b="1" dirty="0">
                <a:solidFill>
                  <a:srgbClr val="42A5F5"/>
                </a:solidFill>
                <a:latin typeface="Calibri" pitchFamily="34" charset="0"/>
                <a:ea typeface="Calibri" pitchFamily="34" charset="-122"/>
                <a:cs typeface="Calibri" pitchFamily="34" charset="-120"/>
              </a:rPr>
              <a:t>NeMo Framework</a:t>
            </a:r>
            <a:endParaRPr lang="en-US" sz="1800" dirty="0"/>
          </a:p>
        </p:txBody>
      </p:sp>
      <p:sp>
        <p:nvSpPr>
          <p:cNvPr id="14" name="Text 12"/>
          <p:cNvSpPr/>
          <p:nvPr/>
        </p:nvSpPr>
        <p:spPr>
          <a:xfrm>
            <a:off x="777240" y="4297680"/>
            <a:ext cx="4983480" cy="1005840"/>
          </a:xfrm>
          <a:prstGeom prst="rect">
            <a:avLst/>
          </a:prstGeom>
          <a:noFill/>
          <a:ln/>
        </p:spPr>
        <p:txBody>
          <a:bodyPr wrap="square" lIns="0" tIns="0" rIns="0" bIns="0" rtlCol="0" anchor="t"/>
          <a:lstStyle/>
          <a:p>
            <a:pPr indent="0" marL="0">
              <a:spcAft>
                <a:spcPts val="600"/>
              </a:spcAft>
              <a:buNone/>
            </a:pPr>
            <a:r>
              <a:rPr lang="en-US" sz="1600" dirty="0">
                <a:solidFill>
                  <a:srgbClr val="FFFFFF"/>
                </a:solidFill>
                <a:latin typeface="Calibri" pitchFamily="34" charset="0"/>
                <a:ea typeface="Calibri" pitchFamily="34" charset="-122"/>
                <a:cs typeface="Calibri" pitchFamily="34" charset="-120"/>
              </a:rPr>
              <a:t>Kamu sudah memakai NeMo Guardrails.</a:t>
            </a:r>
            <a:endParaRPr lang="en-US" sz="1600" dirty="0"/>
          </a:p>
          <a:p>
            <a:pPr indent="0" marL="0">
              <a:spcAft>
                <a:spcPts val="600"/>
              </a:spcAft>
              <a:buNone/>
            </a:pPr>
            <a:r>
              <a:rPr lang="en-US" sz="1600" dirty="0">
                <a:solidFill>
                  <a:srgbClr val="FFFFFF"/>
                </a:solidFill>
                <a:latin typeface="Calibri" pitchFamily="34" charset="0"/>
                <a:ea typeface="Calibri" pitchFamily="34" charset="-122"/>
                <a:cs typeface="Calibri" pitchFamily="34" charset="-120"/>
              </a:rPr>
              <a:t>Pelajari juga NeMo untuk training dan kustomisasi model.</a:t>
            </a:r>
            <a:endParaRPr lang="en-US" sz="1600" dirty="0"/>
          </a:p>
        </p:txBody>
      </p:sp>
      <p:sp>
        <p:nvSpPr>
          <p:cNvPr id="15" name="Shape 13"/>
          <p:cNvSpPr/>
          <p:nvPr/>
        </p:nvSpPr>
        <p:spPr>
          <a:xfrm>
            <a:off x="6172200" y="3611880"/>
            <a:ext cx="5440680" cy="1828800"/>
          </a:xfrm>
          <a:prstGeom prst="roundRect">
            <a:avLst>
              <a:gd name="adj" fmla="val 4000"/>
            </a:avLst>
          </a:prstGeom>
          <a:solidFill>
            <a:srgbClr val="2D2D44"/>
          </a:solidFill>
          <a:ln w="19050">
            <a:solidFill>
              <a:srgbClr val="42A5F5"/>
            </a:solidFill>
            <a:prstDash val="solid"/>
          </a:ln>
        </p:spPr>
      </p:sp>
      <p:sp>
        <p:nvSpPr>
          <p:cNvPr id="16" name="Text 14"/>
          <p:cNvSpPr/>
          <p:nvPr/>
        </p:nvSpPr>
        <p:spPr>
          <a:xfrm>
            <a:off x="6400800" y="3794760"/>
            <a:ext cx="4983480" cy="411480"/>
          </a:xfrm>
          <a:prstGeom prst="rect">
            <a:avLst/>
          </a:prstGeom>
          <a:noFill/>
          <a:ln/>
        </p:spPr>
        <p:txBody>
          <a:bodyPr wrap="square" lIns="0" tIns="0" rIns="0" bIns="0" rtlCol="0" anchor="ctr"/>
          <a:lstStyle/>
          <a:p>
            <a:pPr indent="0" marL="0">
              <a:buNone/>
            </a:pPr>
            <a:r>
              <a:rPr lang="en-US" sz="1800" b="1" dirty="0">
                <a:solidFill>
                  <a:srgbClr val="42A5F5"/>
                </a:solidFill>
                <a:latin typeface="Calibri" pitchFamily="34" charset="0"/>
                <a:ea typeface="Calibri" pitchFamily="34" charset="-122"/>
                <a:cs typeface="Calibri" pitchFamily="34" charset="-120"/>
              </a:rPr>
              <a:t>Distributed training</a:t>
            </a:r>
            <a:endParaRPr lang="en-US" sz="1800" dirty="0"/>
          </a:p>
        </p:txBody>
      </p:sp>
      <p:sp>
        <p:nvSpPr>
          <p:cNvPr id="17" name="Text 15"/>
          <p:cNvSpPr/>
          <p:nvPr/>
        </p:nvSpPr>
        <p:spPr>
          <a:xfrm>
            <a:off x="6400800" y="4297680"/>
            <a:ext cx="4983480" cy="1005840"/>
          </a:xfrm>
          <a:prstGeom prst="rect">
            <a:avLst/>
          </a:prstGeom>
          <a:noFill/>
          <a:ln/>
        </p:spPr>
        <p:txBody>
          <a:bodyPr wrap="square" lIns="0" tIns="0" rIns="0" bIns="0" rtlCol="0" anchor="t"/>
          <a:lstStyle/>
          <a:p>
            <a:pPr indent="0" marL="0">
              <a:spcAft>
                <a:spcPts val="600"/>
              </a:spcAft>
              <a:buNone/>
            </a:pPr>
            <a:r>
              <a:rPr lang="en-US" sz="1600" dirty="0">
                <a:solidFill>
                  <a:srgbClr val="FFFFFF"/>
                </a:solidFill>
                <a:latin typeface="Calibri" pitchFamily="34" charset="0"/>
                <a:ea typeface="Calibri" pitchFamily="34" charset="-122"/>
                <a:cs typeface="Calibri" pitchFamily="34" charset="-120"/>
              </a:rPr>
              <a:t>Kenapa model besar butuh banyak GPU.</a:t>
            </a:r>
            <a:endParaRPr lang="en-US" sz="1600" dirty="0"/>
          </a:p>
          <a:p>
            <a:pPr indent="0" marL="0">
              <a:spcAft>
                <a:spcPts val="600"/>
              </a:spcAft>
              <a:buNone/>
            </a:pPr>
            <a:r>
              <a:rPr lang="en-US" sz="1600" dirty="0">
                <a:solidFill>
                  <a:srgbClr val="FFFFFF"/>
                </a:solidFill>
                <a:latin typeface="Calibri" pitchFamily="34" charset="0"/>
                <a:ea typeface="Calibri" pitchFamily="34" charset="-122"/>
                <a:cs typeface="Calibri" pitchFamily="34" charset="-120"/>
              </a:rPr>
              <a:t>Data, tensor, dan pipeline parallelism.</a:t>
            </a:r>
            <a:endParaRPr lang="en-US" sz="1600" dirty="0"/>
          </a:p>
          <a:p>
            <a:pPr indent="0" marL="0">
              <a:spcAft>
                <a:spcPts val="600"/>
              </a:spcAft>
              <a:buNone/>
            </a:pPr>
            <a:r>
              <a:rPr lang="en-US" sz="1600" dirty="0">
                <a:solidFill>
                  <a:srgbClr val="FFFFFF"/>
                </a:solidFill>
                <a:latin typeface="Calibri" pitchFamily="34" charset="0"/>
                <a:ea typeface="Calibri" pitchFamily="34" charset="-122"/>
                <a:cs typeface="Calibri" pitchFamily="34" charset="-120"/>
              </a:rPr>
              <a:t>Cukup konsepnya, bukan implementasi.</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76B900"/>
          </a:solidFill>
          <a:ln/>
        </p:spPr>
      </p:sp>
      <p:sp>
        <p:nvSpPr>
          <p:cNvPr id="3" name="Text 1"/>
          <p:cNvSpPr/>
          <p:nvPr/>
        </p:nvSpPr>
        <p:spPr>
          <a:xfrm>
            <a:off x="548640" y="320040"/>
            <a:ext cx="10972800" cy="274320"/>
          </a:xfrm>
          <a:prstGeom prst="rect">
            <a:avLst/>
          </a:prstGeom>
          <a:noFill/>
          <a:ln/>
        </p:spPr>
        <p:txBody>
          <a:bodyPr wrap="square" lIns="0" tIns="0" rIns="0" bIns="0" rtlCol="0" anchor="ctr"/>
          <a:lstStyle/>
          <a:p>
            <a:pPr indent="0" marL="0">
              <a:buNone/>
            </a:pPr>
            <a:r>
              <a:rPr lang="en-US" sz="1300" b="1" dirty="0">
                <a:solidFill>
                  <a:srgbClr val="76B900"/>
                </a:solidFill>
                <a:latin typeface="Calibri" pitchFamily="34" charset="0"/>
                <a:ea typeface="Calibri" pitchFamily="34" charset="-122"/>
                <a:cs typeface="Calibri" pitchFamily="34" charset="-120"/>
              </a:rPr>
              <a:t>Bagian 1 · Lulus NCA-GENL</a:t>
            </a:r>
            <a:endParaRPr lang="en-US" sz="1300" dirty="0"/>
          </a:p>
        </p:txBody>
      </p:sp>
      <p:sp>
        <p:nvSpPr>
          <p:cNvPr id="4" name="Text 2"/>
          <p:cNvSpPr/>
          <p:nvPr/>
        </p:nvSpPr>
        <p:spPr>
          <a:xfrm>
            <a:off x="548640" y="640080"/>
            <a:ext cx="11064240" cy="68580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Urutan belajar: mulai dari celah terbesar</a:t>
            </a:r>
            <a:endParaRPr lang="en-US" sz="3000" dirty="0"/>
          </a:p>
        </p:txBody>
      </p:sp>
      <p:sp>
        <p:nvSpPr>
          <p:cNvPr id="5" name="Text 3"/>
          <p:cNvSpPr/>
          <p:nvPr/>
        </p:nvSpPr>
        <p:spPr>
          <a:xfrm>
            <a:off x="7955280" y="6446520"/>
            <a:ext cx="3749040" cy="274320"/>
          </a:xfrm>
          <a:prstGeom prst="rect">
            <a:avLst/>
          </a:prstGeom>
          <a:noFill/>
          <a:ln/>
        </p:spPr>
        <p:txBody>
          <a:bodyPr wrap="square" lIns="0" tIns="0" rIns="0" bIns="0" rtlCol="0" anchor="ctr"/>
          <a:lstStyle/>
          <a:p>
            <a:pPr algn="r" indent="0" marL="0">
              <a:buNone/>
            </a:pPr>
            <a:r>
              <a:rPr lang="en-US" sz="1000" dirty="0">
                <a:solidFill>
                  <a:srgbClr val="AAAACC"/>
                </a:solidFill>
                <a:latin typeface="Calibri" pitchFamily="34" charset="0"/>
                <a:ea typeface="Calibri" pitchFamily="34" charset="-122"/>
                <a:cs typeface="Calibri" pitchFamily="34" charset="-120"/>
              </a:rPr>
              <a:t>Navasena · Exam Preparation   6</a:t>
            </a:r>
            <a:endParaRPr lang="en-US" sz="1000" dirty="0"/>
          </a:p>
        </p:txBody>
      </p:sp>
      <p:sp>
        <p:nvSpPr>
          <p:cNvPr id="6" name="Shape 4"/>
          <p:cNvSpPr/>
          <p:nvPr/>
        </p:nvSpPr>
        <p:spPr>
          <a:xfrm>
            <a:off x="548640" y="1783080"/>
            <a:ext cx="731520" cy="731520"/>
          </a:xfrm>
          <a:prstGeom prst="ellipse">
            <a:avLst/>
          </a:prstGeom>
          <a:solidFill>
            <a:srgbClr val="76B900"/>
          </a:solidFill>
          <a:ln/>
        </p:spPr>
      </p:sp>
      <p:sp>
        <p:nvSpPr>
          <p:cNvPr id="7" name="Text 5"/>
          <p:cNvSpPr/>
          <p:nvPr/>
        </p:nvSpPr>
        <p:spPr>
          <a:xfrm>
            <a:off x="548640" y="1783080"/>
            <a:ext cx="731520" cy="731520"/>
          </a:xfrm>
          <a:prstGeom prst="rect">
            <a:avLst/>
          </a:prstGeom>
          <a:noFill/>
          <a:ln/>
        </p:spPr>
        <p:txBody>
          <a:bodyPr wrap="square" lIns="0" tIns="0" rIns="0" bIns="0" rtlCol="0" anchor="ctr"/>
          <a:lstStyle/>
          <a:p>
            <a:pPr algn="ctr" indent="0" marL="0">
              <a:buNone/>
            </a:pPr>
            <a:r>
              <a:rPr lang="en-US" sz="2600" b="1" dirty="0">
                <a:solidFill>
                  <a:srgbClr val="1A1A2E"/>
                </a:solidFill>
                <a:latin typeface="Calibri" pitchFamily="34" charset="0"/>
                <a:ea typeface="Calibri" pitchFamily="34" charset="-122"/>
                <a:cs typeface="Calibri" pitchFamily="34" charset="-120"/>
              </a:rPr>
              <a:t>1</a:t>
            </a:r>
            <a:endParaRPr lang="en-US" sz="2600" dirty="0"/>
          </a:p>
        </p:txBody>
      </p:sp>
      <p:sp>
        <p:nvSpPr>
          <p:cNvPr id="8" name="Text 6"/>
          <p:cNvSpPr/>
          <p:nvPr/>
        </p:nvSpPr>
        <p:spPr>
          <a:xfrm>
            <a:off x="1554480" y="1737360"/>
            <a:ext cx="10058400" cy="411480"/>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Domain berbobot besar yang masih lemah</a:t>
            </a:r>
            <a:endParaRPr lang="en-US" sz="2100" dirty="0"/>
          </a:p>
        </p:txBody>
      </p:sp>
      <p:sp>
        <p:nvSpPr>
          <p:cNvPr id="9" name="Text 7"/>
          <p:cNvSpPr/>
          <p:nvPr/>
        </p:nvSpPr>
        <p:spPr>
          <a:xfrm>
            <a:off x="1554480" y="2148840"/>
            <a:ext cx="10058400" cy="365760"/>
          </a:xfrm>
          <a:prstGeom prst="rect">
            <a:avLst/>
          </a:prstGeom>
          <a:noFill/>
          <a:ln/>
        </p:spPr>
        <p:txBody>
          <a:bodyPr wrap="square" lIns="0" tIns="0" rIns="0" bIns="0" rtlCol="0" anchor="ctr"/>
          <a:lstStyle/>
          <a:p>
            <a:pPr indent="0" marL="0">
              <a:buNone/>
            </a:pPr>
            <a:r>
              <a:rPr lang="en-US" sz="1700" dirty="0">
                <a:solidFill>
                  <a:srgbClr val="AAAACC"/>
                </a:solidFill>
                <a:latin typeface="Calibri" pitchFamily="34" charset="0"/>
                <a:ea typeface="Calibri" pitchFamily="34" charset="-122"/>
                <a:cs typeface="Calibri" pitchFamily="34" charset="-120"/>
              </a:rPr>
              <a:t>Experimentation (22%), plus domain terlemahmu menurut pre-test.</a:t>
            </a:r>
            <a:endParaRPr lang="en-US" sz="1700" dirty="0"/>
          </a:p>
        </p:txBody>
      </p:sp>
      <p:sp>
        <p:nvSpPr>
          <p:cNvPr id="10" name="Shape 8"/>
          <p:cNvSpPr/>
          <p:nvPr/>
        </p:nvSpPr>
        <p:spPr>
          <a:xfrm>
            <a:off x="548640" y="3154680"/>
            <a:ext cx="731520" cy="731520"/>
          </a:xfrm>
          <a:prstGeom prst="ellipse">
            <a:avLst/>
          </a:prstGeom>
          <a:solidFill>
            <a:srgbClr val="76B900"/>
          </a:solidFill>
          <a:ln/>
        </p:spPr>
      </p:sp>
      <p:sp>
        <p:nvSpPr>
          <p:cNvPr id="11" name="Text 9"/>
          <p:cNvSpPr/>
          <p:nvPr/>
        </p:nvSpPr>
        <p:spPr>
          <a:xfrm>
            <a:off x="548640" y="3154680"/>
            <a:ext cx="731520" cy="731520"/>
          </a:xfrm>
          <a:prstGeom prst="rect">
            <a:avLst/>
          </a:prstGeom>
          <a:noFill/>
          <a:ln/>
        </p:spPr>
        <p:txBody>
          <a:bodyPr wrap="square" lIns="0" tIns="0" rIns="0" bIns="0" rtlCol="0" anchor="ctr"/>
          <a:lstStyle/>
          <a:p>
            <a:pPr algn="ctr" indent="0" marL="0">
              <a:buNone/>
            </a:pPr>
            <a:r>
              <a:rPr lang="en-US" sz="2600" b="1" dirty="0">
                <a:solidFill>
                  <a:srgbClr val="1A1A2E"/>
                </a:solidFill>
                <a:latin typeface="Calibri" pitchFamily="34" charset="0"/>
                <a:ea typeface="Calibri" pitchFamily="34" charset="-122"/>
                <a:cs typeface="Calibri" pitchFamily="34" charset="-120"/>
              </a:rPr>
              <a:t>2</a:t>
            </a:r>
            <a:endParaRPr lang="en-US" sz="2600" dirty="0"/>
          </a:p>
        </p:txBody>
      </p:sp>
      <p:sp>
        <p:nvSpPr>
          <p:cNvPr id="12" name="Text 10"/>
          <p:cNvSpPr/>
          <p:nvPr/>
        </p:nvSpPr>
        <p:spPr>
          <a:xfrm>
            <a:off x="1554480" y="3108960"/>
            <a:ext cx="10058400" cy="411480"/>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Topik tipis</a:t>
            </a:r>
            <a:endParaRPr lang="en-US" sz="2100" dirty="0"/>
          </a:p>
        </p:txBody>
      </p:sp>
      <p:sp>
        <p:nvSpPr>
          <p:cNvPr id="13" name="Text 11"/>
          <p:cNvSpPr/>
          <p:nvPr/>
        </p:nvSpPr>
        <p:spPr>
          <a:xfrm>
            <a:off x="1554480" y="3520440"/>
            <a:ext cx="10058400" cy="365760"/>
          </a:xfrm>
          <a:prstGeom prst="rect">
            <a:avLst/>
          </a:prstGeom>
          <a:noFill/>
          <a:ln/>
        </p:spPr>
        <p:txBody>
          <a:bodyPr wrap="square" lIns="0" tIns="0" rIns="0" bIns="0" rtlCol="0" anchor="ctr"/>
          <a:lstStyle/>
          <a:p>
            <a:pPr indent="0" marL="0">
              <a:buNone/>
            </a:pPr>
            <a:r>
              <a:rPr lang="en-US" sz="1700" dirty="0">
                <a:solidFill>
                  <a:srgbClr val="AAAACC"/>
                </a:solidFill>
                <a:latin typeface="Calibri" pitchFamily="34" charset="0"/>
                <a:ea typeface="Calibri" pitchFamily="34" charset="-122"/>
                <a:cs typeface="Calibri" pitchFamily="34" charset="-120"/>
              </a:rPr>
              <a:t>Alignment, desain eksperimen, NeMo Framework, distributed training.</a:t>
            </a:r>
            <a:endParaRPr lang="en-US" sz="1700" dirty="0"/>
          </a:p>
        </p:txBody>
      </p:sp>
      <p:sp>
        <p:nvSpPr>
          <p:cNvPr id="14" name="Shape 12"/>
          <p:cNvSpPr/>
          <p:nvPr/>
        </p:nvSpPr>
        <p:spPr>
          <a:xfrm>
            <a:off x="548640" y="4526280"/>
            <a:ext cx="731520" cy="731520"/>
          </a:xfrm>
          <a:prstGeom prst="ellipse">
            <a:avLst/>
          </a:prstGeom>
          <a:solidFill>
            <a:srgbClr val="76B900"/>
          </a:solidFill>
          <a:ln/>
        </p:spPr>
      </p:sp>
      <p:sp>
        <p:nvSpPr>
          <p:cNvPr id="15" name="Text 13"/>
          <p:cNvSpPr/>
          <p:nvPr/>
        </p:nvSpPr>
        <p:spPr>
          <a:xfrm>
            <a:off x="548640" y="4526280"/>
            <a:ext cx="731520" cy="731520"/>
          </a:xfrm>
          <a:prstGeom prst="rect">
            <a:avLst/>
          </a:prstGeom>
          <a:noFill/>
          <a:ln/>
        </p:spPr>
        <p:txBody>
          <a:bodyPr wrap="square" lIns="0" tIns="0" rIns="0" bIns="0" rtlCol="0" anchor="ctr"/>
          <a:lstStyle/>
          <a:p>
            <a:pPr algn="ctr" indent="0" marL="0">
              <a:buNone/>
            </a:pPr>
            <a:r>
              <a:rPr lang="en-US" sz="2600" b="1" dirty="0">
                <a:solidFill>
                  <a:srgbClr val="1A1A2E"/>
                </a:solidFill>
                <a:latin typeface="Calibri" pitchFamily="34" charset="0"/>
                <a:ea typeface="Calibri" pitchFamily="34" charset="-122"/>
                <a:cs typeface="Calibri" pitchFamily="34" charset="-120"/>
              </a:rPr>
              <a:t>3</a:t>
            </a:r>
            <a:endParaRPr lang="en-US" sz="2600" dirty="0"/>
          </a:p>
        </p:txBody>
      </p:sp>
      <p:sp>
        <p:nvSpPr>
          <p:cNvPr id="16" name="Text 14"/>
          <p:cNvSpPr/>
          <p:nvPr/>
        </p:nvSpPr>
        <p:spPr>
          <a:xfrm>
            <a:off x="1554480" y="4480560"/>
            <a:ext cx="10058400" cy="411480"/>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Latihan soal gaya ujian</a:t>
            </a:r>
            <a:endParaRPr lang="en-US" sz="2100" dirty="0"/>
          </a:p>
        </p:txBody>
      </p:sp>
      <p:sp>
        <p:nvSpPr>
          <p:cNvPr id="17" name="Text 15"/>
          <p:cNvSpPr/>
          <p:nvPr/>
        </p:nvSpPr>
        <p:spPr>
          <a:xfrm>
            <a:off x="1554480" y="4892040"/>
            <a:ext cx="10058400" cy="365760"/>
          </a:xfrm>
          <a:prstGeom prst="rect">
            <a:avLst/>
          </a:prstGeom>
          <a:noFill/>
          <a:ln/>
        </p:spPr>
        <p:txBody>
          <a:bodyPr wrap="square" lIns="0" tIns="0" rIns="0" bIns="0" rtlCol="0" anchor="ctr"/>
          <a:lstStyle/>
          <a:p>
            <a:pPr indent="0" marL="0">
              <a:buNone/>
            </a:pPr>
            <a:r>
              <a:rPr lang="en-US" sz="1700" dirty="0">
                <a:solidFill>
                  <a:srgbClr val="AAAACC"/>
                </a:solidFill>
                <a:latin typeface="Calibri" pitchFamily="34" charset="0"/>
                <a:ea typeface="Calibri" pitchFamily="34" charset="-122"/>
                <a:cs typeface="Calibri" pitchFamily="34" charset="-120"/>
              </a:rPr>
              <a:t>Soal berbahasa Inggris, pilih jawaban yang paling tepat.</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76B900"/>
          </a:solidFill>
          <a:ln/>
        </p:spPr>
      </p:sp>
      <p:sp>
        <p:nvSpPr>
          <p:cNvPr id="3" name="Text 1"/>
          <p:cNvSpPr/>
          <p:nvPr/>
        </p:nvSpPr>
        <p:spPr>
          <a:xfrm>
            <a:off x="548640" y="320040"/>
            <a:ext cx="10972800" cy="274320"/>
          </a:xfrm>
          <a:prstGeom prst="rect">
            <a:avLst/>
          </a:prstGeom>
          <a:noFill/>
          <a:ln/>
        </p:spPr>
        <p:txBody>
          <a:bodyPr wrap="square" lIns="0" tIns="0" rIns="0" bIns="0" rtlCol="0" anchor="ctr"/>
          <a:lstStyle/>
          <a:p>
            <a:pPr indent="0" marL="0">
              <a:buNone/>
            </a:pPr>
            <a:r>
              <a:rPr lang="en-US" sz="1300" b="1" dirty="0">
                <a:solidFill>
                  <a:srgbClr val="76B900"/>
                </a:solidFill>
                <a:latin typeface="Calibri" pitchFamily="34" charset="0"/>
                <a:ea typeface="Calibri" pitchFamily="34" charset="-122"/>
                <a:cs typeface="Calibri" pitchFamily="34" charset="-120"/>
              </a:rPr>
              <a:t>Bagian 1 · Lulus NCA-GENL</a:t>
            </a:r>
            <a:endParaRPr lang="en-US" sz="1300" dirty="0"/>
          </a:p>
        </p:txBody>
      </p:sp>
      <p:sp>
        <p:nvSpPr>
          <p:cNvPr id="4" name="Text 2"/>
          <p:cNvSpPr/>
          <p:nvPr/>
        </p:nvSpPr>
        <p:spPr>
          <a:xfrm>
            <a:off x="548640" y="640080"/>
            <a:ext cx="11064240" cy="68580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Taktik di hari ujian</a:t>
            </a:r>
            <a:endParaRPr lang="en-US" sz="3000" dirty="0"/>
          </a:p>
        </p:txBody>
      </p:sp>
      <p:sp>
        <p:nvSpPr>
          <p:cNvPr id="5" name="Text 3"/>
          <p:cNvSpPr/>
          <p:nvPr/>
        </p:nvSpPr>
        <p:spPr>
          <a:xfrm>
            <a:off x="7955280" y="6446520"/>
            <a:ext cx="3749040" cy="274320"/>
          </a:xfrm>
          <a:prstGeom prst="rect">
            <a:avLst/>
          </a:prstGeom>
          <a:noFill/>
          <a:ln/>
        </p:spPr>
        <p:txBody>
          <a:bodyPr wrap="square" lIns="0" tIns="0" rIns="0" bIns="0" rtlCol="0" anchor="ctr"/>
          <a:lstStyle/>
          <a:p>
            <a:pPr algn="r" indent="0" marL="0">
              <a:buNone/>
            </a:pPr>
            <a:r>
              <a:rPr lang="en-US" sz="1000" dirty="0">
                <a:solidFill>
                  <a:srgbClr val="AAAACC"/>
                </a:solidFill>
                <a:latin typeface="Calibri" pitchFamily="34" charset="0"/>
                <a:ea typeface="Calibri" pitchFamily="34" charset="-122"/>
                <a:cs typeface="Calibri" pitchFamily="34" charset="-120"/>
              </a:rPr>
              <a:t>Navasena · Exam Preparation   7</a:t>
            </a:r>
            <a:endParaRPr lang="en-US" sz="1000" dirty="0"/>
          </a:p>
        </p:txBody>
      </p:sp>
      <p:sp>
        <p:nvSpPr>
          <p:cNvPr id="6" name="Text 4"/>
          <p:cNvSpPr/>
          <p:nvPr/>
        </p:nvSpPr>
        <p:spPr>
          <a:xfrm>
            <a:off x="548640" y="1645920"/>
            <a:ext cx="11064240" cy="4480560"/>
          </a:xfrm>
          <a:prstGeom prst="rect">
            <a:avLst/>
          </a:prstGeom>
          <a:noFill/>
          <a:ln/>
        </p:spPr>
        <p:txBody>
          <a:bodyPr wrap="square" rtlCol="0" anchor="t"/>
          <a:lstStyle/>
          <a:p>
            <a:pPr marL="342900" indent="-342900">
              <a:spcAft>
                <a:spcPts val="2400"/>
              </a:spcAft>
              <a:buSzPct val="100000"/>
              <a:buChar char="•"/>
            </a:pPr>
            <a:r>
              <a:rPr lang="en-US" sz="2400" dirty="0">
                <a:solidFill>
                  <a:srgbClr val="FFFFFF"/>
                </a:solidFill>
                <a:latin typeface="Calibri" pitchFamily="34" charset="0"/>
                <a:ea typeface="Calibri" pitchFamily="34" charset="-122"/>
                <a:cs typeface="Calibri" pitchFamily="34" charset="-120"/>
              </a:rPr>
              <a:t>Baca examination policy NVIDIA dan siapkan perangkat sebelum jadwal ujian.</a:t>
            </a:r>
            <a:endParaRPr lang="en-US" sz="2400" dirty="0"/>
          </a:p>
          <a:p>
            <a:pPr marL="342900" indent="-342900">
              <a:spcAft>
                <a:spcPts val="2400"/>
              </a:spcAft>
              <a:buSzPct val="100000"/>
              <a:buChar char="•"/>
            </a:pPr>
            <a:r>
              <a:rPr lang="en-US" sz="2400" dirty="0">
                <a:solidFill>
                  <a:srgbClr val="FFFFFF"/>
                </a:solidFill>
                <a:latin typeface="Calibri" pitchFamily="34" charset="0"/>
                <a:ea typeface="Calibri" pitchFamily="34" charset="-122"/>
                <a:cs typeface="Calibri" pitchFamily="34" charset="-120"/>
              </a:rPr>
              <a:t>Rata-rata sekitar satu menit per soal. Jangan terpaku di satu soal.</a:t>
            </a:r>
            <a:endParaRPr lang="en-US" sz="2400" dirty="0"/>
          </a:p>
          <a:p>
            <a:pPr marL="342900" indent="-342900">
              <a:spcAft>
                <a:spcPts val="2400"/>
              </a:spcAft>
              <a:buSzPct val="100000"/>
              <a:buChar char="•"/>
            </a:pPr>
            <a:r>
              <a:rPr lang="en-US" sz="2400" dirty="0">
                <a:solidFill>
                  <a:srgbClr val="FFFFFF"/>
                </a:solidFill>
                <a:latin typeface="Calibri" pitchFamily="34" charset="0"/>
                <a:ea typeface="Calibri" pitchFamily="34" charset="-122"/>
                <a:cs typeface="Calibri" pitchFamily="34" charset="-120"/>
              </a:rPr>
              <a:t>Perhatikan kata kunci soal: best, most likely, first, NOT.</a:t>
            </a:r>
            <a:endParaRPr lang="en-US" sz="2400" dirty="0"/>
          </a:p>
          <a:p>
            <a:pPr marL="342900" indent="-342900">
              <a:spcAft>
                <a:spcPts val="2400"/>
              </a:spcAft>
              <a:buSzPct val="100000"/>
              <a:buChar char="•"/>
            </a:pPr>
            <a:r>
              <a:rPr lang="en-US" sz="2400" dirty="0">
                <a:solidFill>
                  <a:srgbClr val="FFFFFF"/>
                </a:solidFill>
                <a:latin typeface="Calibri" pitchFamily="34" charset="0"/>
                <a:ea typeface="Calibri" pitchFamily="34" charset="-122"/>
                <a:cs typeface="Calibri" pitchFamily="34" charset="-120"/>
              </a:rPr>
              <a:t>Singkirkan pilihan yang jelas salah, lalu bandingkan sisanya.</a:t>
            </a:r>
            <a:endParaRPr lang="en-US" sz="2400" dirty="0"/>
          </a:p>
          <a:p>
            <a:pPr marL="342900" indent="-342900">
              <a:spcAft>
                <a:spcPts val="2400"/>
              </a:spcAft>
              <a:buSzPct val="100000"/>
              <a:buChar char="•"/>
            </a:pPr>
            <a:r>
              <a:rPr lang="en-US" sz="2400" dirty="0">
                <a:solidFill>
                  <a:srgbClr val="FFFFFF"/>
                </a:solidFill>
                <a:latin typeface="Calibri" pitchFamily="34" charset="0"/>
                <a:ea typeface="Calibri" pitchFamily="34" charset="-122"/>
                <a:cs typeface="Calibri" pitchFamily="34" charset="-120"/>
              </a:rPr>
              <a:t>Pahami fungsi tiap produk NVIDIA: Triton, TensorRT, NeMo, NIM, RAPIDS.</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76B900"/>
          </a:solidFill>
          <a:ln/>
        </p:spPr>
      </p:sp>
      <p:sp>
        <p:nvSpPr>
          <p:cNvPr id="3" name="Text 1"/>
          <p:cNvSpPr/>
          <p:nvPr/>
        </p:nvSpPr>
        <p:spPr>
          <a:xfrm>
            <a:off x="548640" y="320040"/>
            <a:ext cx="10972800" cy="274320"/>
          </a:xfrm>
          <a:prstGeom prst="rect">
            <a:avLst/>
          </a:prstGeom>
          <a:noFill/>
          <a:ln/>
        </p:spPr>
        <p:txBody>
          <a:bodyPr wrap="square" lIns="0" tIns="0" rIns="0" bIns="0" rtlCol="0" anchor="ctr"/>
          <a:lstStyle/>
          <a:p>
            <a:pPr indent="0" marL="0">
              <a:buNone/>
            </a:pPr>
            <a:r>
              <a:rPr lang="en-US" sz="1300" b="1" dirty="0">
                <a:solidFill>
                  <a:srgbClr val="76B900"/>
                </a:solidFill>
                <a:latin typeface="Calibri" pitchFamily="34" charset="0"/>
                <a:ea typeface="Calibri" pitchFamily="34" charset="-122"/>
                <a:cs typeface="Calibri" pitchFamily="34" charset="-120"/>
              </a:rPr>
              <a:t>Bagian 2 · Ekosistem NVIDIA</a:t>
            </a:r>
            <a:endParaRPr lang="en-US" sz="1300" dirty="0"/>
          </a:p>
        </p:txBody>
      </p:sp>
      <p:sp>
        <p:nvSpPr>
          <p:cNvPr id="4" name="Text 2"/>
          <p:cNvSpPr/>
          <p:nvPr/>
        </p:nvSpPr>
        <p:spPr>
          <a:xfrm>
            <a:off x="548640" y="640080"/>
            <a:ext cx="11064240" cy="68580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Jenjang sertifikasi NVIDIA</a:t>
            </a:r>
            <a:endParaRPr lang="en-US" sz="3000" dirty="0"/>
          </a:p>
        </p:txBody>
      </p:sp>
      <p:sp>
        <p:nvSpPr>
          <p:cNvPr id="5" name="Text 3"/>
          <p:cNvSpPr/>
          <p:nvPr/>
        </p:nvSpPr>
        <p:spPr>
          <a:xfrm>
            <a:off x="7955280" y="6446520"/>
            <a:ext cx="3749040" cy="274320"/>
          </a:xfrm>
          <a:prstGeom prst="rect">
            <a:avLst/>
          </a:prstGeom>
          <a:noFill/>
          <a:ln/>
        </p:spPr>
        <p:txBody>
          <a:bodyPr wrap="square" lIns="0" tIns="0" rIns="0" bIns="0" rtlCol="0" anchor="ctr"/>
          <a:lstStyle/>
          <a:p>
            <a:pPr algn="r" indent="0" marL="0">
              <a:buNone/>
            </a:pPr>
            <a:r>
              <a:rPr lang="en-US" sz="1000" dirty="0">
                <a:solidFill>
                  <a:srgbClr val="AAAACC"/>
                </a:solidFill>
                <a:latin typeface="Calibri" pitchFamily="34" charset="0"/>
                <a:ea typeface="Calibri" pitchFamily="34" charset="-122"/>
                <a:cs typeface="Calibri" pitchFamily="34" charset="-120"/>
              </a:rPr>
              <a:t>Navasena · Exam Preparation   8</a:t>
            </a:r>
            <a:endParaRPr lang="en-US" sz="1000" dirty="0"/>
          </a:p>
        </p:txBody>
      </p:sp>
      <p:sp>
        <p:nvSpPr>
          <p:cNvPr id="6" name="Shape 4"/>
          <p:cNvSpPr/>
          <p:nvPr/>
        </p:nvSpPr>
        <p:spPr>
          <a:xfrm>
            <a:off x="548640" y="1600200"/>
            <a:ext cx="4754880" cy="3840480"/>
          </a:xfrm>
          <a:prstGeom prst="roundRect">
            <a:avLst>
              <a:gd name="adj" fmla="val 1905"/>
            </a:avLst>
          </a:prstGeom>
          <a:solidFill>
            <a:srgbClr val="2D2D44"/>
          </a:solidFill>
          <a:ln w="19050">
            <a:solidFill>
              <a:srgbClr val="76B900"/>
            </a:solidFill>
            <a:prstDash val="solid"/>
          </a:ln>
        </p:spPr>
      </p:sp>
      <p:sp>
        <p:nvSpPr>
          <p:cNvPr id="7" name="Text 5"/>
          <p:cNvSpPr/>
          <p:nvPr/>
        </p:nvSpPr>
        <p:spPr>
          <a:xfrm>
            <a:off x="777240" y="1783080"/>
            <a:ext cx="4297680" cy="411480"/>
          </a:xfrm>
          <a:prstGeom prst="rect">
            <a:avLst/>
          </a:prstGeom>
          <a:noFill/>
          <a:ln/>
        </p:spPr>
        <p:txBody>
          <a:bodyPr wrap="square" lIns="0" tIns="0" rIns="0" bIns="0" rtlCol="0" anchor="ctr"/>
          <a:lstStyle/>
          <a:p>
            <a:pPr indent="0" marL="0">
              <a:buNone/>
            </a:pPr>
            <a:r>
              <a:rPr lang="en-US" sz="1800" b="1" dirty="0">
                <a:solidFill>
                  <a:srgbClr val="76B900"/>
                </a:solidFill>
                <a:latin typeface="Calibri" pitchFamily="34" charset="0"/>
                <a:ea typeface="Calibri" pitchFamily="34" charset="-122"/>
                <a:cs typeface="Calibri" pitchFamily="34" charset="-120"/>
              </a:rPr>
              <a:t>Associate</a:t>
            </a:r>
            <a:endParaRPr lang="en-US" sz="1800" dirty="0"/>
          </a:p>
        </p:txBody>
      </p:sp>
      <p:sp>
        <p:nvSpPr>
          <p:cNvPr id="8" name="Text 6"/>
          <p:cNvSpPr/>
          <p:nvPr/>
        </p:nvSpPr>
        <p:spPr>
          <a:xfrm>
            <a:off x="777240" y="2286000"/>
            <a:ext cx="4297680" cy="3017520"/>
          </a:xfrm>
          <a:prstGeom prst="rect">
            <a:avLst/>
          </a:prstGeom>
          <a:noFill/>
          <a:ln/>
        </p:spPr>
        <p:txBody>
          <a:bodyPr wrap="square" lIns="0" tIns="0" rIns="0" bIns="0" rtlCol="0" anchor="t"/>
          <a:lstStyle/>
          <a:p>
            <a:pPr indent="0" marL="0">
              <a:spcAft>
                <a:spcPts val="600"/>
              </a:spcAft>
              <a:buNone/>
            </a:pPr>
            <a:r>
              <a:rPr lang="en-US" sz="1600" dirty="0">
                <a:solidFill>
                  <a:srgbClr val="FFFFFF"/>
                </a:solidFill>
                <a:latin typeface="Calibri" pitchFamily="34" charset="0"/>
                <a:ea typeface="Calibri" pitchFamily="34" charset="-122"/>
                <a:cs typeface="Calibri" pitchFamily="34" charset="-120"/>
              </a:rPr>
              <a:t>NCA-GENL · Generative AI LLMs</a:t>
            </a:r>
            <a:endParaRPr lang="en-US" sz="1600" dirty="0"/>
          </a:p>
          <a:p>
            <a:pPr indent="0" marL="0">
              <a:spcAft>
                <a:spcPts val="600"/>
              </a:spcAft>
              <a:buNone/>
            </a:pPr>
            <a:r>
              <a:rPr lang="en-US" sz="1600" dirty="0">
                <a:solidFill>
                  <a:srgbClr val="FFFFFF"/>
                </a:solidFill>
                <a:latin typeface="Calibri" pitchFamily="34" charset="0"/>
                <a:ea typeface="Calibri" pitchFamily="34" charset="-122"/>
                <a:cs typeface="Calibri" pitchFamily="34" charset="-120"/>
              </a:rPr>
              <a:t>NCA-GENM · Multimodal Generative AI</a:t>
            </a:r>
            <a:endParaRPr lang="en-US" sz="1600" dirty="0"/>
          </a:p>
          <a:p>
            <a:pPr indent="0" marL="0">
              <a:spcAft>
                <a:spcPts val="600"/>
              </a:spcAft>
              <a:buNone/>
            </a:pPr>
            <a:r>
              <a:rPr lang="en-US" sz="1600" dirty="0">
                <a:solidFill>
                  <a:srgbClr val="FFFFFF"/>
                </a:solidFill>
                <a:latin typeface="Calibri" pitchFamily="34" charset="0"/>
                <a:ea typeface="Calibri" pitchFamily="34" charset="-122"/>
                <a:cs typeface="Calibri" pitchFamily="34" charset="-120"/>
              </a:rPr>
              <a:t>NCA-ADS · Accelerated Data Science</a:t>
            </a:r>
            <a:endParaRPr lang="en-US" sz="1600" dirty="0"/>
          </a:p>
          <a:p>
            <a:pPr indent="0" marL="0">
              <a:spcAft>
                <a:spcPts val="600"/>
              </a:spcAft>
              <a:buNone/>
            </a:pPr>
            <a:r>
              <a:rPr lang="en-US" sz="1600" dirty="0">
                <a:solidFill>
                  <a:srgbClr val="FFFFFF"/>
                </a:solidFill>
                <a:latin typeface="Calibri" pitchFamily="34" charset="0"/>
                <a:ea typeface="Calibri" pitchFamily="34" charset="-122"/>
                <a:cs typeface="Calibri" pitchFamily="34" charset="-120"/>
              </a:rPr>
              <a:t>NCA-AIIO · AI Infrastructure &amp; Operations</a:t>
            </a:r>
            <a:endParaRPr lang="en-US" sz="1600" dirty="0"/>
          </a:p>
        </p:txBody>
      </p:sp>
      <p:sp>
        <p:nvSpPr>
          <p:cNvPr id="9" name="Shape 7"/>
          <p:cNvSpPr/>
          <p:nvPr/>
        </p:nvSpPr>
        <p:spPr>
          <a:xfrm>
            <a:off x="5486400" y="1600200"/>
            <a:ext cx="6126480" cy="3840480"/>
          </a:xfrm>
          <a:prstGeom prst="roundRect">
            <a:avLst>
              <a:gd name="adj" fmla="val 1905"/>
            </a:avLst>
          </a:prstGeom>
          <a:solidFill>
            <a:srgbClr val="2D2D44"/>
          </a:solidFill>
          <a:ln w="19050">
            <a:solidFill>
              <a:srgbClr val="42A5F5"/>
            </a:solidFill>
            <a:prstDash val="solid"/>
          </a:ln>
        </p:spPr>
      </p:sp>
      <p:sp>
        <p:nvSpPr>
          <p:cNvPr id="10" name="Text 8"/>
          <p:cNvSpPr/>
          <p:nvPr/>
        </p:nvSpPr>
        <p:spPr>
          <a:xfrm>
            <a:off x="5715000" y="1783080"/>
            <a:ext cx="5669280" cy="411480"/>
          </a:xfrm>
          <a:prstGeom prst="rect">
            <a:avLst/>
          </a:prstGeom>
          <a:noFill/>
          <a:ln/>
        </p:spPr>
        <p:txBody>
          <a:bodyPr wrap="square" lIns="0" tIns="0" rIns="0" bIns="0" rtlCol="0" anchor="ctr"/>
          <a:lstStyle/>
          <a:p>
            <a:pPr indent="0" marL="0">
              <a:buNone/>
            </a:pPr>
            <a:r>
              <a:rPr lang="en-US" sz="1800" b="1" dirty="0">
                <a:solidFill>
                  <a:srgbClr val="42A5F5"/>
                </a:solidFill>
                <a:latin typeface="Calibri" pitchFamily="34" charset="0"/>
                <a:ea typeface="Calibri" pitchFamily="34" charset="-122"/>
                <a:cs typeface="Calibri" pitchFamily="34" charset="-120"/>
              </a:rPr>
              <a:t>Professional</a:t>
            </a:r>
            <a:endParaRPr lang="en-US" sz="1800" dirty="0"/>
          </a:p>
        </p:txBody>
      </p:sp>
      <p:sp>
        <p:nvSpPr>
          <p:cNvPr id="11" name="Text 9"/>
          <p:cNvSpPr/>
          <p:nvPr/>
        </p:nvSpPr>
        <p:spPr>
          <a:xfrm>
            <a:off x="5715000" y="2286000"/>
            <a:ext cx="5669280" cy="3017520"/>
          </a:xfrm>
          <a:prstGeom prst="rect">
            <a:avLst/>
          </a:prstGeom>
          <a:noFill/>
          <a:ln/>
        </p:spPr>
        <p:txBody>
          <a:bodyPr wrap="square" lIns="0" tIns="0" rIns="0" bIns="0" rtlCol="0" anchor="t"/>
          <a:lstStyle/>
          <a:p>
            <a:pPr indent="0" marL="0">
              <a:spcAft>
                <a:spcPts val="600"/>
              </a:spcAft>
              <a:buNone/>
            </a:pPr>
            <a:r>
              <a:rPr lang="en-US" sz="1600" dirty="0">
                <a:solidFill>
                  <a:srgbClr val="FFFFFF"/>
                </a:solidFill>
                <a:latin typeface="Calibri" pitchFamily="34" charset="0"/>
                <a:ea typeface="Calibri" pitchFamily="34" charset="-122"/>
                <a:cs typeface="Calibri" pitchFamily="34" charset="-120"/>
              </a:rPr>
              <a:t>NCP-GENL · Generative AI LLMs</a:t>
            </a:r>
            <a:endParaRPr lang="en-US" sz="1600" dirty="0"/>
          </a:p>
          <a:p>
            <a:pPr indent="0" marL="0">
              <a:spcAft>
                <a:spcPts val="600"/>
              </a:spcAft>
              <a:buNone/>
            </a:pPr>
            <a:r>
              <a:rPr lang="en-US" sz="1600" dirty="0">
                <a:solidFill>
                  <a:srgbClr val="FFFFFF"/>
                </a:solidFill>
                <a:latin typeface="Calibri" pitchFamily="34" charset="0"/>
                <a:ea typeface="Calibri" pitchFamily="34" charset="-122"/>
                <a:cs typeface="Calibri" pitchFamily="34" charset="-120"/>
              </a:rPr>
              <a:t>NCP-AAI · Agentic AI</a:t>
            </a:r>
            <a:endParaRPr lang="en-US" sz="1600" dirty="0"/>
          </a:p>
          <a:p>
            <a:pPr indent="0" marL="0">
              <a:spcAft>
                <a:spcPts val="600"/>
              </a:spcAft>
              <a:buNone/>
            </a:pPr>
            <a:r>
              <a:rPr lang="en-US" sz="1600" dirty="0">
                <a:solidFill>
                  <a:srgbClr val="FFFFFF"/>
                </a:solidFill>
                <a:latin typeface="Calibri" pitchFamily="34" charset="0"/>
                <a:ea typeface="Calibri" pitchFamily="34" charset="-122"/>
                <a:cs typeface="Calibri" pitchFamily="34" charset="-120"/>
              </a:rPr>
              <a:t>NCP-ADS · Accelerated Data Science</a:t>
            </a:r>
            <a:endParaRPr lang="en-US" sz="1600" dirty="0"/>
          </a:p>
          <a:p>
            <a:pPr indent="0" marL="0">
              <a:spcAft>
                <a:spcPts val="600"/>
              </a:spcAft>
              <a:buNone/>
            </a:pPr>
            <a:r>
              <a:rPr lang="en-US" sz="1600" dirty="0">
                <a:solidFill>
                  <a:srgbClr val="FFFFFF"/>
                </a:solidFill>
                <a:latin typeface="Calibri" pitchFamily="34" charset="0"/>
                <a:ea typeface="Calibri" pitchFamily="34" charset="-122"/>
                <a:cs typeface="Calibri" pitchFamily="34" charset="-120"/>
              </a:rPr>
              <a:t>NCP-AIO · AI Operations</a:t>
            </a:r>
            <a:endParaRPr lang="en-US" sz="1600" dirty="0"/>
          </a:p>
          <a:p>
            <a:pPr indent="0" marL="0">
              <a:spcAft>
                <a:spcPts val="600"/>
              </a:spcAft>
              <a:buNone/>
            </a:pPr>
            <a:r>
              <a:rPr lang="en-US" sz="1600" dirty="0">
                <a:solidFill>
                  <a:srgbClr val="FFFFFF"/>
                </a:solidFill>
                <a:latin typeface="Calibri" pitchFamily="34" charset="0"/>
                <a:ea typeface="Calibri" pitchFamily="34" charset="-122"/>
                <a:cs typeface="Calibri" pitchFamily="34" charset="-120"/>
              </a:rPr>
              <a:t>NCP-AII · AI Infrastructure</a:t>
            </a:r>
            <a:endParaRPr lang="en-US" sz="1600" dirty="0"/>
          </a:p>
          <a:p>
            <a:pPr indent="0" marL="0">
              <a:spcAft>
                <a:spcPts val="600"/>
              </a:spcAft>
              <a:buNone/>
            </a:pPr>
            <a:r>
              <a:rPr lang="en-US" sz="1600" dirty="0">
                <a:solidFill>
                  <a:srgbClr val="FFFFFF"/>
                </a:solidFill>
                <a:latin typeface="Calibri" pitchFamily="34" charset="0"/>
                <a:ea typeface="Calibri" pitchFamily="34" charset="-122"/>
                <a:cs typeface="Calibri" pitchFamily="34" charset="-120"/>
              </a:rPr>
              <a:t>NCP-AIN · AI Networking</a:t>
            </a:r>
            <a:endParaRPr lang="en-US" sz="1600" dirty="0"/>
          </a:p>
          <a:p>
            <a:pPr indent="0" marL="0">
              <a:spcAft>
                <a:spcPts val="600"/>
              </a:spcAft>
              <a:buNone/>
            </a:pPr>
            <a:r>
              <a:rPr lang="en-US" sz="1600" dirty="0">
                <a:solidFill>
                  <a:srgbClr val="FFFFFF"/>
                </a:solidFill>
                <a:latin typeface="Calibri" pitchFamily="34" charset="0"/>
                <a:ea typeface="Calibri" pitchFamily="34" charset="-122"/>
                <a:cs typeface="Calibri" pitchFamily="34" charset="-120"/>
              </a:rPr>
              <a:t>NCP-ARI · AI Rack &amp; Interconnect</a:t>
            </a:r>
            <a:endParaRPr lang="en-US" sz="1600" dirty="0"/>
          </a:p>
          <a:p>
            <a:pPr indent="0" marL="0">
              <a:spcAft>
                <a:spcPts val="600"/>
              </a:spcAft>
              <a:buNone/>
            </a:pPr>
            <a:r>
              <a:rPr lang="en-US" sz="1600" dirty="0">
                <a:solidFill>
                  <a:srgbClr val="FFFFFF"/>
                </a:solidFill>
                <a:latin typeface="Calibri" pitchFamily="34" charset="0"/>
                <a:ea typeface="Calibri" pitchFamily="34" charset="-122"/>
                <a:cs typeface="Calibri" pitchFamily="34" charset="-120"/>
              </a:rPr>
              <a:t>NCP-OUSD · OpenUSD Development</a:t>
            </a:r>
            <a:endParaRPr lang="en-US" sz="1600" dirty="0"/>
          </a:p>
        </p:txBody>
      </p:sp>
      <p:sp>
        <p:nvSpPr>
          <p:cNvPr id="12" name="Shape 10"/>
          <p:cNvSpPr/>
          <p:nvPr/>
        </p:nvSpPr>
        <p:spPr>
          <a:xfrm>
            <a:off x="548640" y="5669280"/>
            <a:ext cx="73152" cy="502920"/>
          </a:xfrm>
          <a:prstGeom prst="rect">
            <a:avLst/>
          </a:prstGeom>
          <a:solidFill>
            <a:srgbClr val="A3D944"/>
          </a:solidFill>
          <a:ln/>
        </p:spPr>
      </p:sp>
      <p:sp>
        <p:nvSpPr>
          <p:cNvPr id="13" name="Text 11"/>
          <p:cNvSpPr/>
          <p:nvPr/>
        </p:nvSpPr>
        <p:spPr>
          <a:xfrm>
            <a:off x="777240" y="5669280"/>
            <a:ext cx="10881360" cy="502920"/>
          </a:xfrm>
          <a:prstGeom prst="rect">
            <a:avLst/>
          </a:prstGeom>
          <a:noFill/>
          <a:ln/>
        </p:spPr>
        <p:txBody>
          <a:bodyPr wrap="square" lIns="0" tIns="0" rIns="0" bIns="0" rtlCol="0" anchor="ctr"/>
          <a:lstStyle/>
          <a:p>
            <a:pPr indent="0" marL="0">
              <a:buNone/>
            </a:pPr>
            <a:r>
              <a:rPr lang="en-US" sz="1700" b="1" dirty="0">
                <a:solidFill>
                  <a:srgbClr val="A3D944"/>
                </a:solidFill>
                <a:latin typeface="Calibri" pitchFamily="34" charset="0"/>
                <a:ea typeface="Calibri" pitchFamily="34" charset="-122"/>
                <a:cs typeface="Calibri" pitchFamily="34" charset="-120"/>
              </a:rPr>
              <a:t>Lanjutan paling dekat dari bootcamp ini: NCP-GENL dan NCP-AAI.</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76B900"/>
          </a:solidFill>
          <a:ln/>
        </p:spPr>
      </p:sp>
      <p:sp>
        <p:nvSpPr>
          <p:cNvPr id="3" name="Text 1"/>
          <p:cNvSpPr/>
          <p:nvPr/>
        </p:nvSpPr>
        <p:spPr>
          <a:xfrm>
            <a:off x="548640" y="320040"/>
            <a:ext cx="10972800" cy="274320"/>
          </a:xfrm>
          <a:prstGeom prst="rect">
            <a:avLst/>
          </a:prstGeom>
          <a:noFill/>
          <a:ln/>
        </p:spPr>
        <p:txBody>
          <a:bodyPr wrap="square" lIns="0" tIns="0" rIns="0" bIns="0" rtlCol="0" anchor="ctr"/>
          <a:lstStyle/>
          <a:p>
            <a:pPr indent="0" marL="0">
              <a:buNone/>
            </a:pPr>
            <a:r>
              <a:rPr lang="en-US" sz="1300" b="1" dirty="0">
                <a:solidFill>
                  <a:srgbClr val="76B900"/>
                </a:solidFill>
                <a:latin typeface="Calibri" pitchFamily="34" charset="0"/>
                <a:ea typeface="Calibri" pitchFamily="34" charset="-122"/>
                <a:cs typeface="Calibri" pitchFamily="34" charset="-120"/>
              </a:rPr>
              <a:t>Bagian 2 · Ekosistem NVIDIA</a:t>
            </a:r>
            <a:endParaRPr lang="en-US" sz="1300" dirty="0"/>
          </a:p>
        </p:txBody>
      </p:sp>
      <p:sp>
        <p:nvSpPr>
          <p:cNvPr id="4" name="Text 2"/>
          <p:cNvSpPr/>
          <p:nvPr/>
        </p:nvSpPr>
        <p:spPr>
          <a:xfrm>
            <a:off x="548640" y="640080"/>
            <a:ext cx="11064240" cy="68580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NVIDIA DLI: kursus langsung dari sumbernya</a:t>
            </a:r>
            <a:endParaRPr lang="en-US" sz="3000" dirty="0"/>
          </a:p>
        </p:txBody>
      </p:sp>
      <p:sp>
        <p:nvSpPr>
          <p:cNvPr id="5" name="Text 3"/>
          <p:cNvSpPr/>
          <p:nvPr/>
        </p:nvSpPr>
        <p:spPr>
          <a:xfrm>
            <a:off x="7955280" y="6446520"/>
            <a:ext cx="3749040" cy="274320"/>
          </a:xfrm>
          <a:prstGeom prst="rect">
            <a:avLst/>
          </a:prstGeom>
          <a:noFill/>
          <a:ln/>
        </p:spPr>
        <p:txBody>
          <a:bodyPr wrap="square" lIns="0" tIns="0" rIns="0" bIns="0" rtlCol="0" anchor="ctr"/>
          <a:lstStyle/>
          <a:p>
            <a:pPr algn="r" indent="0" marL="0">
              <a:buNone/>
            </a:pPr>
            <a:r>
              <a:rPr lang="en-US" sz="1000" dirty="0">
                <a:solidFill>
                  <a:srgbClr val="AAAACC"/>
                </a:solidFill>
                <a:latin typeface="Calibri" pitchFamily="34" charset="0"/>
                <a:ea typeface="Calibri" pitchFamily="34" charset="-122"/>
                <a:cs typeface="Calibri" pitchFamily="34" charset="-120"/>
              </a:rPr>
              <a:t>Navasena · Exam Preparation   9</a:t>
            </a:r>
            <a:endParaRPr lang="en-US" sz="1000" dirty="0"/>
          </a:p>
        </p:txBody>
      </p:sp>
      <p:sp>
        <p:nvSpPr>
          <p:cNvPr id="6" name="Shape 4"/>
          <p:cNvSpPr/>
          <p:nvPr/>
        </p:nvSpPr>
        <p:spPr>
          <a:xfrm>
            <a:off x="548640" y="1600200"/>
            <a:ext cx="5440680" cy="1920240"/>
          </a:xfrm>
          <a:prstGeom prst="roundRect">
            <a:avLst>
              <a:gd name="adj" fmla="val 3810"/>
            </a:avLst>
          </a:prstGeom>
          <a:solidFill>
            <a:srgbClr val="2D2D44"/>
          </a:solidFill>
          <a:ln w="19050">
            <a:solidFill>
              <a:srgbClr val="76B900"/>
            </a:solidFill>
            <a:prstDash val="solid"/>
          </a:ln>
        </p:spPr>
      </p:sp>
      <p:sp>
        <p:nvSpPr>
          <p:cNvPr id="7" name="Text 5"/>
          <p:cNvSpPr/>
          <p:nvPr/>
        </p:nvSpPr>
        <p:spPr>
          <a:xfrm>
            <a:off x="777240" y="1783080"/>
            <a:ext cx="4983480" cy="411480"/>
          </a:xfrm>
          <a:prstGeom prst="rect">
            <a:avLst/>
          </a:prstGeom>
          <a:noFill/>
          <a:ln/>
        </p:spPr>
        <p:txBody>
          <a:bodyPr wrap="square" lIns="0" tIns="0" rIns="0" bIns="0" rtlCol="0" anchor="ctr"/>
          <a:lstStyle/>
          <a:p>
            <a:pPr indent="0" marL="0">
              <a:buNone/>
            </a:pPr>
            <a:r>
              <a:rPr lang="en-US" sz="1800" b="1" dirty="0">
                <a:solidFill>
                  <a:srgbClr val="76B900"/>
                </a:solidFill>
                <a:latin typeface="Calibri" pitchFamily="34" charset="0"/>
                <a:ea typeface="Calibri" pitchFamily="34" charset="-122"/>
                <a:cs typeface="Calibri" pitchFamily="34" charset="-120"/>
              </a:rPr>
              <a:t>Self-paced</a:t>
            </a:r>
            <a:endParaRPr lang="en-US" sz="1800" dirty="0"/>
          </a:p>
        </p:txBody>
      </p:sp>
      <p:sp>
        <p:nvSpPr>
          <p:cNvPr id="8" name="Text 6"/>
          <p:cNvSpPr/>
          <p:nvPr/>
        </p:nvSpPr>
        <p:spPr>
          <a:xfrm>
            <a:off x="777240" y="2286000"/>
            <a:ext cx="4983480" cy="1097280"/>
          </a:xfrm>
          <a:prstGeom prst="rect">
            <a:avLst/>
          </a:prstGeom>
          <a:noFill/>
          <a:ln/>
        </p:spPr>
        <p:txBody>
          <a:bodyPr wrap="square" lIns="0" tIns="0" rIns="0" bIns="0" rtlCol="0" anchor="t"/>
          <a:lstStyle/>
          <a:p>
            <a:pPr indent="0" marL="0">
              <a:spcAft>
                <a:spcPts val="600"/>
              </a:spcAft>
              <a:buNone/>
            </a:pPr>
            <a:r>
              <a:rPr lang="en-US" sz="1600" dirty="0">
                <a:solidFill>
                  <a:srgbClr val="FFFFFF"/>
                </a:solidFill>
                <a:latin typeface="Calibri" pitchFamily="34" charset="0"/>
                <a:ea typeface="Calibri" pitchFamily="34" charset="-122"/>
                <a:cs typeface="Calibri" pitchFamily="34" charset="-120"/>
              </a:rPr>
              <a:t>Online, bisa diambil kapan saja.</a:t>
            </a:r>
            <a:endParaRPr lang="en-US" sz="1600" dirty="0"/>
          </a:p>
          <a:p>
            <a:pPr indent="0" marL="0">
              <a:spcAft>
                <a:spcPts val="600"/>
              </a:spcAft>
              <a:buNone/>
            </a:pPr>
            <a:r>
              <a:rPr lang="en-US" sz="1600" dirty="0">
                <a:solidFill>
                  <a:srgbClr val="FFFFFF"/>
                </a:solidFill>
                <a:latin typeface="Calibri" pitchFamily="34" charset="0"/>
                <a:ea typeface="Calibri" pitchFamily="34" charset="-122"/>
                <a:cs typeface="Calibri" pitchFamily="34" charset="-120"/>
              </a:rPr>
              <a:t>Banyak kursus populer yang gratis.</a:t>
            </a:r>
            <a:endParaRPr lang="en-US" sz="1600" dirty="0"/>
          </a:p>
          <a:p>
            <a:pPr indent="0" marL="0">
              <a:spcAft>
                <a:spcPts val="600"/>
              </a:spcAft>
              <a:buNone/>
            </a:pPr>
            <a:r>
              <a:rPr lang="en-US" sz="1600" dirty="0">
                <a:solidFill>
                  <a:srgbClr val="FFFFFF"/>
                </a:solidFill>
                <a:latin typeface="Calibri" pitchFamily="34" charset="0"/>
                <a:ea typeface="Calibri" pitchFamily="34" charset="-122"/>
                <a:cs typeface="Calibri" pitchFamily="34" charset="-120"/>
              </a:rPr>
              <a:t>Kursus rekomendasi NCA-GENL: $90 per kursus, ±8 jam.</a:t>
            </a:r>
            <a:endParaRPr lang="en-US" sz="1600" dirty="0"/>
          </a:p>
        </p:txBody>
      </p:sp>
      <p:sp>
        <p:nvSpPr>
          <p:cNvPr id="9" name="Shape 7"/>
          <p:cNvSpPr/>
          <p:nvPr/>
        </p:nvSpPr>
        <p:spPr>
          <a:xfrm>
            <a:off x="6172200" y="1600200"/>
            <a:ext cx="5440680" cy="1920240"/>
          </a:xfrm>
          <a:prstGeom prst="roundRect">
            <a:avLst>
              <a:gd name="adj" fmla="val 3810"/>
            </a:avLst>
          </a:prstGeom>
          <a:solidFill>
            <a:srgbClr val="2D2D44"/>
          </a:solidFill>
          <a:ln w="19050">
            <a:solidFill>
              <a:srgbClr val="42A5F5"/>
            </a:solidFill>
            <a:prstDash val="solid"/>
          </a:ln>
        </p:spPr>
      </p:sp>
      <p:sp>
        <p:nvSpPr>
          <p:cNvPr id="10" name="Text 8"/>
          <p:cNvSpPr/>
          <p:nvPr/>
        </p:nvSpPr>
        <p:spPr>
          <a:xfrm>
            <a:off x="6400800" y="1783080"/>
            <a:ext cx="4983480" cy="411480"/>
          </a:xfrm>
          <a:prstGeom prst="rect">
            <a:avLst/>
          </a:prstGeom>
          <a:noFill/>
          <a:ln/>
        </p:spPr>
        <p:txBody>
          <a:bodyPr wrap="square" lIns="0" tIns="0" rIns="0" bIns="0" rtlCol="0" anchor="ctr"/>
          <a:lstStyle/>
          <a:p>
            <a:pPr indent="0" marL="0">
              <a:buNone/>
            </a:pPr>
            <a:r>
              <a:rPr lang="en-US" sz="1800" b="1" dirty="0">
                <a:solidFill>
                  <a:srgbClr val="42A5F5"/>
                </a:solidFill>
                <a:latin typeface="Calibri" pitchFamily="34" charset="0"/>
                <a:ea typeface="Calibri" pitchFamily="34" charset="-122"/>
                <a:cs typeface="Calibri" pitchFamily="34" charset="-120"/>
              </a:rPr>
              <a:t>Instructor-led workshop</a:t>
            </a:r>
            <a:endParaRPr lang="en-US" sz="1800" dirty="0"/>
          </a:p>
        </p:txBody>
      </p:sp>
      <p:sp>
        <p:nvSpPr>
          <p:cNvPr id="11" name="Text 9"/>
          <p:cNvSpPr/>
          <p:nvPr/>
        </p:nvSpPr>
        <p:spPr>
          <a:xfrm>
            <a:off x="6400800" y="2286000"/>
            <a:ext cx="4983480" cy="1097280"/>
          </a:xfrm>
          <a:prstGeom prst="rect">
            <a:avLst/>
          </a:prstGeom>
          <a:noFill/>
          <a:ln/>
        </p:spPr>
        <p:txBody>
          <a:bodyPr wrap="square" lIns="0" tIns="0" rIns="0" bIns="0" rtlCol="0" anchor="t"/>
          <a:lstStyle/>
          <a:p>
            <a:pPr indent="0" marL="0">
              <a:spcAft>
                <a:spcPts val="600"/>
              </a:spcAft>
              <a:buNone/>
            </a:pPr>
            <a:r>
              <a:rPr lang="en-US" sz="1600" dirty="0">
                <a:solidFill>
                  <a:srgbClr val="FFFFFF"/>
                </a:solidFill>
                <a:latin typeface="Calibri" pitchFamily="34" charset="0"/>
                <a:ea typeface="Calibri" pitchFamily="34" charset="-122"/>
                <a:cs typeface="Calibri" pitchFamily="34" charset="-120"/>
              </a:rPr>
              <a:t>Dipandu instruktur.</a:t>
            </a:r>
            <a:endParaRPr lang="en-US" sz="1600" dirty="0"/>
          </a:p>
          <a:p>
            <a:pPr indent="0" marL="0">
              <a:spcAft>
                <a:spcPts val="600"/>
              </a:spcAft>
              <a:buNone/>
            </a:pPr>
            <a:r>
              <a:rPr lang="en-US" sz="1600" dirty="0">
                <a:solidFill>
                  <a:srgbClr val="FFFFFF"/>
                </a:solidFill>
                <a:latin typeface="Calibri" pitchFamily="34" charset="0"/>
                <a:ea typeface="Calibri" pitchFamily="34" charset="-122"/>
                <a:cs typeface="Calibri" pitchFamily="34" charset="-120"/>
              </a:rPr>
              <a:t>Workshop rekomendasi: $500 per workshop, ±8 jam.</a:t>
            </a:r>
            <a:endParaRPr lang="en-US" sz="1600" dirty="0"/>
          </a:p>
        </p:txBody>
      </p:sp>
      <p:sp>
        <p:nvSpPr>
          <p:cNvPr id="12" name="Shape 10"/>
          <p:cNvSpPr/>
          <p:nvPr/>
        </p:nvSpPr>
        <p:spPr>
          <a:xfrm>
            <a:off x="548640" y="3703320"/>
            <a:ext cx="11064240" cy="2194560"/>
          </a:xfrm>
          <a:prstGeom prst="roundRect">
            <a:avLst>
              <a:gd name="adj" fmla="val 3333"/>
            </a:avLst>
          </a:prstGeom>
          <a:solidFill>
            <a:srgbClr val="2D2D44"/>
          </a:solidFill>
          <a:ln w="19050">
            <a:solidFill>
              <a:srgbClr val="A3D944"/>
            </a:solidFill>
            <a:prstDash val="solid"/>
          </a:ln>
        </p:spPr>
      </p:sp>
      <p:sp>
        <p:nvSpPr>
          <p:cNvPr id="13" name="Text 11"/>
          <p:cNvSpPr/>
          <p:nvPr/>
        </p:nvSpPr>
        <p:spPr>
          <a:xfrm>
            <a:off x="777240" y="3886200"/>
            <a:ext cx="10607040" cy="411480"/>
          </a:xfrm>
          <a:prstGeom prst="rect">
            <a:avLst/>
          </a:prstGeom>
          <a:noFill/>
          <a:ln/>
        </p:spPr>
        <p:txBody>
          <a:bodyPr wrap="square" lIns="0" tIns="0" rIns="0" bIns="0" rtlCol="0" anchor="ctr"/>
          <a:lstStyle/>
          <a:p>
            <a:pPr indent="0" marL="0">
              <a:buNone/>
            </a:pPr>
            <a:r>
              <a:rPr lang="en-US" sz="1800" b="1" dirty="0">
                <a:solidFill>
                  <a:srgbClr val="A3D944"/>
                </a:solidFill>
                <a:latin typeface="Calibri" pitchFamily="34" charset="0"/>
                <a:ea typeface="Calibri" pitchFamily="34" charset="-122"/>
                <a:cs typeface="Calibri" pitchFamily="34" charset="-120"/>
              </a:rPr>
              <a:t>Direkomendasikan di halaman NCA-GENL</a:t>
            </a:r>
            <a:endParaRPr lang="en-US" sz="1800" dirty="0"/>
          </a:p>
        </p:txBody>
      </p:sp>
      <p:sp>
        <p:nvSpPr>
          <p:cNvPr id="14" name="Text 12"/>
          <p:cNvSpPr/>
          <p:nvPr/>
        </p:nvSpPr>
        <p:spPr>
          <a:xfrm>
            <a:off x="777240" y="4389120"/>
            <a:ext cx="10607040" cy="1371600"/>
          </a:xfrm>
          <a:prstGeom prst="rect">
            <a:avLst/>
          </a:prstGeom>
          <a:noFill/>
          <a:ln/>
        </p:spPr>
        <p:txBody>
          <a:bodyPr wrap="square" lIns="0" tIns="0" rIns="0" bIns="0" rtlCol="0" anchor="t"/>
          <a:lstStyle/>
          <a:p>
            <a:pPr indent="0" marL="0">
              <a:spcAft>
                <a:spcPts val="600"/>
              </a:spcAft>
              <a:buNone/>
            </a:pPr>
            <a:r>
              <a:rPr lang="en-US" sz="1600" dirty="0">
                <a:solidFill>
                  <a:srgbClr val="FFFFFF"/>
                </a:solidFill>
                <a:latin typeface="Calibri" pitchFamily="34" charset="0"/>
                <a:ea typeface="Calibri" pitchFamily="34" charset="-122"/>
                <a:cs typeface="Calibri" pitchFamily="34" charset="-120"/>
              </a:rPr>
              <a:t>Getting Started With Deep Learning · Accelerating End-to-End Data Science Workflows</a:t>
            </a:r>
            <a:endParaRPr lang="en-US" sz="1600" dirty="0"/>
          </a:p>
          <a:p>
            <a:pPr indent="0" marL="0">
              <a:spcAft>
                <a:spcPts val="600"/>
              </a:spcAft>
              <a:buNone/>
            </a:pPr>
            <a:r>
              <a:rPr lang="en-US" sz="1600" dirty="0">
                <a:solidFill>
                  <a:srgbClr val="FFFFFF"/>
                </a:solidFill>
                <a:latin typeface="Calibri" pitchFamily="34" charset="0"/>
                <a:ea typeface="Calibri" pitchFamily="34" charset="-122"/>
                <a:cs typeface="Calibri" pitchFamily="34" charset="-120"/>
              </a:rPr>
              <a:t>Introduction to Transformer-Based Natural Language Processing</a:t>
            </a:r>
            <a:endParaRPr lang="en-US" sz="1600" dirty="0"/>
          </a:p>
          <a:p>
            <a:pPr indent="0" marL="0">
              <a:spcAft>
                <a:spcPts val="600"/>
              </a:spcAft>
              <a:buNone/>
            </a:pPr>
            <a:r>
              <a:rPr lang="en-US" sz="1600" dirty="0">
                <a:solidFill>
                  <a:srgbClr val="FFFFFF"/>
                </a:solidFill>
                <a:latin typeface="Calibri" pitchFamily="34" charset="0"/>
                <a:ea typeface="Calibri" pitchFamily="34" charset="-122"/>
                <a:cs typeface="Calibri" pitchFamily="34" charset="-120"/>
              </a:rPr>
              <a:t>Building LLM Applications with Prompt Engineering</a:t>
            </a:r>
            <a:endParaRPr lang="en-US" sz="1600" dirty="0"/>
          </a:p>
          <a:p>
            <a:pPr indent="0" marL="0">
              <a:spcAft>
                <a:spcPts val="600"/>
              </a:spcAft>
              <a:buNone/>
            </a:pPr>
            <a:r>
              <a:rPr lang="en-US" sz="1600" dirty="0">
                <a:solidFill>
                  <a:srgbClr val="FFFFFF"/>
                </a:solidFill>
                <a:latin typeface="Calibri" pitchFamily="34" charset="0"/>
                <a:ea typeface="Calibri" pitchFamily="34" charset="-122"/>
                <a:cs typeface="Calibri" pitchFamily="34" charset="-120"/>
              </a:rPr>
              <a:t>Rapid Application Development With Large Language Models (LLMs)</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76B900"/>
          </a:solidFill>
          <a:ln/>
        </p:spPr>
      </p:sp>
      <p:sp>
        <p:nvSpPr>
          <p:cNvPr id="3" name="Text 1"/>
          <p:cNvSpPr/>
          <p:nvPr/>
        </p:nvSpPr>
        <p:spPr>
          <a:xfrm>
            <a:off x="548640" y="320040"/>
            <a:ext cx="10972800" cy="274320"/>
          </a:xfrm>
          <a:prstGeom prst="rect">
            <a:avLst/>
          </a:prstGeom>
          <a:noFill/>
          <a:ln/>
        </p:spPr>
        <p:txBody>
          <a:bodyPr wrap="square" lIns="0" tIns="0" rIns="0" bIns="0" rtlCol="0" anchor="ctr"/>
          <a:lstStyle/>
          <a:p>
            <a:pPr indent="0" marL="0">
              <a:buNone/>
            </a:pPr>
            <a:r>
              <a:rPr lang="en-US" sz="1300" b="1" dirty="0">
                <a:solidFill>
                  <a:srgbClr val="76B900"/>
                </a:solidFill>
                <a:latin typeface="Calibri" pitchFamily="34" charset="0"/>
                <a:ea typeface="Calibri" pitchFamily="34" charset="-122"/>
                <a:cs typeface="Calibri" pitchFamily="34" charset="-120"/>
              </a:rPr>
              <a:t>Bagian 2 · Ekosistem NVIDIA</a:t>
            </a:r>
            <a:endParaRPr lang="en-US" sz="1300" dirty="0"/>
          </a:p>
        </p:txBody>
      </p:sp>
      <p:sp>
        <p:nvSpPr>
          <p:cNvPr id="4" name="Text 2"/>
          <p:cNvSpPr/>
          <p:nvPr/>
        </p:nvSpPr>
        <p:spPr>
          <a:xfrm>
            <a:off x="548640" y="640080"/>
            <a:ext cx="11064240" cy="68580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Developer Program dan build.nvidia.com</a:t>
            </a:r>
            <a:endParaRPr lang="en-US" sz="3000" dirty="0"/>
          </a:p>
        </p:txBody>
      </p:sp>
      <p:sp>
        <p:nvSpPr>
          <p:cNvPr id="5" name="Text 3"/>
          <p:cNvSpPr/>
          <p:nvPr/>
        </p:nvSpPr>
        <p:spPr>
          <a:xfrm>
            <a:off x="7955280" y="6446520"/>
            <a:ext cx="3749040" cy="274320"/>
          </a:xfrm>
          <a:prstGeom prst="rect">
            <a:avLst/>
          </a:prstGeom>
          <a:noFill/>
          <a:ln/>
        </p:spPr>
        <p:txBody>
          <a:bodyPr wrap="square" lIns="0" tIns="0" rIns="0" bIns="0" rtlCol="0" anchor="ctr"/>
          <a:lstStyle/>
          <a:p>
            <a:pPr algn="r" indent="0" marL="0">
              <a:buNone/>
            </a:pPr>
            <a:r>
              <a:rPr lang="en-US" sz="1000" dirty="0">
                <a:solidFill>
                  <a:srgbClr val="AAAACC"/>
                </a:solidFill>
                <a:latin typeface="Calibri" pitchFamily="34" charset="0"/>
                <a:ea typeface="Calibri" pitchFamily="34" charset="-122"/>
                <a:cs typeface="Calibri" pitchFamily="34" charset="-120"/>
              </a:rPr>
              <a:t>Navasena · Exam Preparation   10</a:t>
            </a:r>
            <a:endParaRPr lang="en-US" sz="1000" dirty="0"/>
          </a:p>
        </p:txBody>
      </p:sp>
      <p:sp>
        <p:nvSpPr>
          <p:cNvPr id="6" name="Shape 4"/>
          <p:cNvSpPr/>
          <p:nvPr/>
        </p:nvSpPr>
        <p:spPr>
          <a:xfrm>
            <a:off x="548640" y="1600200"/>
            <a:ext cx="5440680" cy="2834640"/>
          </a:xfrm>
          <a:prstGeom prst="roundRect">
            <a:avLst>
              <a:gd name="adj" fmla="val 2581"/>
            </a:avLst>
          </a:prstGeom>
          <a:solidFill>
            <a:srgbClr val="2D2D44"/>
          </a:solidFill>
          <a:ln w="19050">
            <a:solidFill>
              <a:srgbClr val="76B900"/>
            </a:solidFill>
            <a:prstDash val="solid"/>
          </a:ln>
        </p:spPr>
      </p:sp>
      <p:sp>
        <p:nvSpPr>
          <p:cNvPr id="7" name="Text 5"/>
          <p:cNvSpPr/>
          <p:nvPr/>
        </p:nvSpPr>
        <p:spPr>
          <a:xfrm>
            <a:off x="777240" y="1783080"/>
            <a:ext cx="4983480" cy="411480"/>
          </a:xfrm>
          <a:prstGeom prst="rect">
            <a:avLst/>
          </a:prstGeom>
          <a:noFill/>
          <a:ln/>
        </p:spPr>
        <p:txBody>
          <a:bodyPr wrap="square" lIns="0" tIns="0" rIns="0" bIns="0" rtlCol="0" anchor="ctr"/>
          <a:lstStyle/>
          <a:p>
            <a:pPr indent="0" marL="0">
              <a:buNone/>
            </a:pPr>
            <a:r>
              <a:rPr lang="en-US" sz="1800" b="1" dirty="0">
                <a:solidFill>
                  <a:srgbClr val="76B900"/>
                </a:solidFill>
                <a:latin typeface="Calibri" pitchFamily="34" charset="0"/>
                <a:ea typeface="Calibri" pitchFamily="34" charset="-122"/>
                <a:cs typeface="Calibri" pitchFamily="34" charset="-120"/>
              </a:rPr>
              <a:t>NVIDIA Developer Program</a:t>
            </a:r>
            <a:endParaRPr lang="en-US" sz="1800" dirty="0"/>
          </a:p>
        </p:txBody>
      </p:sp>
      <p:sp>
        <p:nvSpPr>
          <p:cNvPr id="8" name="Text 6"/>
          <p:cNvSpPr/>
          <p:nvPr/>
        </p:nvSpPr>
        <p:spPr>
          <a:xfrm>
            <a:off x="777240" y="2286000"/>
            <a:ext cx="4983480" cy="2011680"/>
          </a:xfrm>
          <a:prstGeom prst="rect">
            <a:avLst/>
          </a:prstGeom>
          <a:noFill/>
          <a:ln/>
        </p:spPr>
        <p:txBody>
          <a:bodyPr wrap="square" lIns="0" tIns="0" rIns="0" bIns="0" rtlCol="0" anchor="t"/>
          <a:lstStyle/>
          <a:p>
            <a:pPr indent="0" marL="0">
              <a:spcAft>
                <a:spcPts val="600"/>
              </a:spcAft>
              <a:buNone/>
            </a:pPr>
            <a:r>
              <a:rPr lang="en-US" sz="1700" dirty="0">
                <a:solidFill>
                  <a:srgbClr val="FFFFFF"/>
                </a:solidFill>
                <a:latin typeface="Calibri" pitchFamily="34" charset="0"/>
                <a:ea typeface="Calibri" pitchFamily="34" charset="-122"/>
                <a:cs typeface="Calibri" pitchFamily="34" charset="-120"/>
              </a:rPr>
              <a:t>Gratis.</a:t>
            </a:r>
            <a:endParaRPr lang="en-US" sz="1700" dirty="0"/>
          </a:p>
          <a:p>
            <a:pPr indent="0" marL="0">
              <a:spcAft>
                <a:spcPts val="600"/>
              </a:spcAft>
              <a:buNone/>
            </a:pPr>
            <a:r>
              <a:rPr lang="en-US" sz="1700" dirty="0">
                <a:solidFill>
                  <a:srgbClr val="FFFFFF"/>
                </a:solidFill>
                <a:latin typeface="Calibri" pitchFamily="34" charset="0"/>
                <a:ea typeface="Calibri" pitchFamily="34" charset="-122"/>
                <a:cs typeface="Calibri" pitchFamily="34" charset="-120"/>
              </a:rPr>
              <a:t>Akses tools, SDK, dan bahan belajar.</a:t>
            </a:r>
            <a:endParaRPr lang="en-US" sz="1700" dirty="0"/>
          </a:p>
          <a:p>
            <a:pPr indent="0" marL="0">
              <a:spcAft>
                <a:spcPts val="600"/>
              </a:spcAft>
              <a:buNone/>
            </a:pPr>
            <a:r>
              <a:rPr lang="en-US" sz="1700" dirty="0">
                <a:solidFill>
                  <a:srgbClr val="FFFFFF"/>
                </a:solidFill>
                <a:latin typeface="Calibri" pitchFamily="34" charset="0"/>
                <a:ea typeface="Calibri" pitchFamily="34" charset="-122"/>
                <a:cs typeface="Calibri" pitchFamily="34" charset="-120"/>
              </a:rPr>
              <a:t>Forum dan komunitas developer.</a:t>
            </a:r>
            <a:endParaRPr lang="en-US" sz="1700" dirty="0"/>
          </a:p>
          <a:p>
            <a:pPr indent="0" marL="0">
              <a:spcAft>
                <a:spcPts val="600"/>
              </a:spcAft>
              <a:buNone/>
            </a:pPr>
            <a:r>
              <a:rPr lang="en-US" sz="1700" dirty="0">
                <a:solidFill>
                  <a:srgbClr val="FFFFFF"/>
                </a:solidFill>
                <a:latin typeface="Calibri" pitchFamily="34" charset="0"/>
                <a:ea typeface="Calibri" pitchFamily="34" charset="-122"/>
                <a:cs typeface="Calibri" pitchFamily="34" charset="-120"/>
              </a:rPr>
              <a:t>Kredit cloud dari Google Cloud dan NVIDIA setelah mencapai target belajar tertentu.</a:t>
            </a:r>
            <a:endParaRPr lang="en-US" sz="1700" dirty="0"/>
          </a:p>
        </p:txBody>
      </p:sp>
      <p:sp>
        <p:nvSpPr>
          <p:cNvPr id="9" name="Shape 7"/>
          <p:cNvSpPr/>
          <p:nvPr/>
        </p:nvSpPr>
        <p:spPr>
          <a:xfrm>
            <a:off x="6172200" y="1600200"/>
            <a:ext cx="5440680" cy="2834640"/>
          </a:xfrm>
          <a:prstGeom prst="roundRect">
            <a:avLst>
              <a:gd name="adj" fmla="val 2581"/>
            </a:avLst>
          </a:prstGeom>
          <a:solidFill>
            <a:srgbClr val="2D2D44"/>
          </a:solidFill>
          <a:ln w="19050">
            <a:solidFill>
              <a:srgbClr val="42A5F5"/>
            </a:solidFill>
            <a:prstDash val="solid"/>
          </a:ln>
        </p:spPr>
      </p:sp>
      <p:sp>
        <p:nvSpPr>
          <p:cNvPr id="10" name="Text 8"/>
          <p:cNvSpPr/>
          <p:nvPr/>
        </p:nvSpPr>
        <p:spPr>
          <a:xfrm>
            <a:off x="6400800" y="1783080"/>
            <a:ext cx="4983480" cy="411480"/>
          </a:xfrm>
          <a:prstGeom prst="rect">
            <a:avLst/>
          </a:prstGeom>
          <a:noFill/>
          <a:ln/>
        </p:spPr>
        <p:txBody>
          <a:bodyPr wrap="square" lIns="0" tIns="0" rIns="0" bIns="0" rtlCol="0" anchor="ctr"/>
          <a:lstStyle/>
          <a:p>
            <a:pPr indent="0" marL="0">
              <a:buNone/>
            </a:pPr>
            <a:r>
              <a:rPr lang="en-US" sz="1800" b="1" dirty="0">
                <a:solidFill>
                  <a:srgbClr val="42A5F5"/>
                </a:solidFill>
                <a:latin typeface="Calibri" pitchFamily="34" charset="0"/>
                <a:ea typeface="Calibri" pitchFamily="34" charset="-122"/>
                <a:cs typeface="Calibri" pitchFamily="34" charset="-120"/>
              </a:rPr>
              <a:t>build.nvidia.com</a:t>
            </a:r>
            <a:endParaRPr lang="en-US" sz="1800" dirty="0"/>
          </a:p>
        </p:txBody>
      </p:sp>
      <p:sp>
        <p:nvSpPr>
          <p:cNvPr id="11" name="Text 9"/>
          <p:cNvSpPr/>
          <p:nvPr/>
        </p:nvSpPr>
        <p:spPr>
          <a:xfrm>
            <a:off x="6400800" y="2286000"/>
            <a:ext cx="4983480" cy="2011680"/>
          </a:xfrm>
          <a:prstGeom prst="rect">
            <a:avLst/>
          </a:prstGeom>
          <a:noFill/>
          <a:ln/>
        </p:spPr>
        <p:txBody>
          <a:bodyPr wrap="square" lIns="0" tIns="0" rIns="0" bIns="0" rtlCol="0" anchor="t"/>
          <a:lstStyle/>
          <a:p>
            <a:pPr indent="0" marL="0">
              <a:spcAft>
                <a:spcPts val="600"/>
              </a:spcAft>
              <a:buNone/>
            </a:pPr>
            <a:r>
              <a:rPr lang="en-US" sz="1700" dirty="0">
                <a:solidFill>
                  <a:srgbClr val="FFFFFF"/>
                </a:solidFill>
                <a:latin typeface="Calibri" pitchFamily="34" charset="0"/>
                <a:ea typeface="Calibri" pitchFamily="34" charset="-122"/>
                <a:cs typeface="Calibri" pitchFamily="34" charset="-120"/>
              </a:rPr>
              <a:t>Katalog NIM API: coba model besar tanpa GPU sendiri.</a:t>
            </a:r>
            <a:endParaRPr lang="en-US" sz="1700" dirty="0"/>
          </a:p>
          <a:p>
            <a:pPr indent="0" marL="0">
              <a:spcAft>
                <a:spcPts val="600"/>
              </a:spcAft>
              <a:buNone/>
            </a:pPr>
            <a:r>
              <a:rPr lang="en-US" sz="1700" dirty="0">
                <a:solidFill>
                  <a:srgbClr val="FFFFFF"/>
                </a:solidFill>
                <a:latin typeface="Calibri" pitchFamily="34" charset="0"/>
                <a:ea typeface="Calibri" pitchFamily="34" charset="-122"/>
                <a:cs typeface="Calibri" pitchFamily="34" charset="-120"/>
              </a:rPr>
              <a:t>Endpoint-nya sama dengan yang kita pakai di modul LLM, RAG, dan NVIDIA.</a:t>
            </a:r>
            <a:endParaRPr lang="en-US" sz="1700" dirty="0"/>
          </a:p>
          <a:p>
            <a:pPr indent="0" marL="0">
              <a:spcAft>
                <a:spcPts val="600"/>
              </a:spcAft>
              <a:buNone/>
            </a:pPr>
            <a:r>
              <a:rPr lang="en-US" sz="1700" dirty="0">
                <a:solidFill>
                  <a:srgbClr val="FFFFFF"/>
                </a:solidFill>
                <a:latin typeface="Calibri" pitchFamily="34" charset="0"/>
                <a:ea typeface="Calibri" pitchFamily="34" charset="-122"/>
                <a:cs typeface="Calibri" pitchFamily="34" charset="-120"/>
              </a:rPr>
              <a:t>Ada juga blueprint: contoh aplikasi siap pakai.</a:t>
            </a:r>
            <a:endParaRPr lang="en-US" sz="1700" dirty="0"/>
          </a:p>
        </p:txBody>
      </p:sp>
      <p:sp>
        <p:nvSpPr>
          <p:cNvPr id="12" name="Shape 10"/>
          <p:cNvSpPr/>
          <p:nvPr/>
        </p:nvSpPr>
        <p:spPr>
          <a:xfrm>
            <a:off x="548640" y="4754880"/>
            <a:ext cx="73152" cy="502920"/>
          </a:xfrm>
          <a:prstGeom prst="rect">
            <a:avLst/>
          </a:prstGeom>
          <a:solidFill>
            <a:srgbClr val="A3D944"/>
          </a:solidFill>
          <a:ln/>
        </p:spPr>
      </p:sp>
      <p:sp>
        <p:nvSpPr>
          <p:cNvPr id="13" name="Text 11"/>
          <p:cNvSpPr/>
          <p:nvPr/>
        </p:nvSpPr>
        <p:spPr>
          <a:xfrm>
            <a:off x="777240" y="4754880"/>
            <a:ext cx="10881360" cy="502920"/>
          </a:xfrm>
          <a:prstGeom prst="rect">
            <a:avLst/>
          </a:prstGeom>
          <a:noFill/>
          <a:ln/>
        </p:spPr>
        <p:txBody>
          <a:bodyPr wrap="square" lIns="0" tIns="0" rIns="0" bIns="0" rtlCol="0" anchor="ctr"/>
          <a:lstStyle/>
          <a:p>
            <a:pPr indent="0" marL="0">
              <a:buNone/>
            </a:pPr>
            <a:r>
              <a:rPr lang="en-US" sz="1700" b="1" dirty="0">
                <a:solidFill>
                  <a:srgbClr val="A3D944"/>
                </a:solidFill>
                <a:latin typeface="Calibri" pitchFamily="34" charset="0"/>
                <a:ea typeface="Calibri" pitchFamily="34" charset="-122"/>
                <a:cs typeface="Calibri" pitchFamily="34" charset="-120"/>
              </a:rPr>
              <a:t>API key-nya bisa kamu pakai untuk prototipe proyek pribadi. Cek batas pemakaian di akunmu.</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76B900"/>
          </a:solidFill>
          <a:ln/>
        </p:spPr>
      </p:sp>
      <p:sp>
        <p:nvSpPr>
          <p:cNvPr id="3" name="Text 1"/>
          <p:cNvSpPr/>
          <p:nvPr/>
        </p:nvSpPr>
        <p:spPr>
          <a:xfrm>
            <a:off x="548640" y="320040"/>
            <a:ext cx="10972800" cy="274320"/>
          </a:xfrm>
          <a:prstGeom prst="rect">
            <a:avLst/>
          </a:prstGeom>
          <a:noFill/>
          <a:ln/>
        </p:spPr>
        <p:txBody>
          <a:bodyPr wrap="square" lIns="0" tIns="0" rIns="0" bIns="0" rtlCol="0" anchor="ctr"/>
          <a:lstStyle/>
          <a:p>
            <a:pPr indent="0" marL="0">
              <a:buNone/>
            </a:pPr>
            <a:r>
              <a:rPr lang="en-US" sz="1300" b="1" dirty="0">
                <a:solidFill>
                  <a:srgbClr val="76B900"/>
                </a:solidFill>
                <a:latin typeface="Calibri" pitchFamily="34" charset="0"/>
                <a:ea typeface="Calibri" pitchFamily="34" charset="-122"/>
                <a:cs typeface="Calibri" pitchFamily="34" charset="-120"/>
              </a:rPr>
              <a:t>Bagian 2 · Ekosistem NVIDIA</a:t>
            </a:r>
            <a:endParaRPr lang="en-US" sz="1300" dirty="0"/>
          </a:p>
        </p:txBody>
      </p:sp>
      <p:sp>
        <p:nvSpPr>
          <p:cNvPr id="4" name="Text 2"/>
          <p:cNvSpPr/>
          <p:nvPr/>
        </p:nvSpPr>
        <p:spPr>
          <a:xfrm>
            <a:off x="548640" y="640080"/>
            <a:ext cx="11064240" cy="68580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Komunitas dan event</a:t>
            </a:r>
            <a:endParaRPr lang="en-US" sz="3000" dirty="0"/>
          </a:p>
        </p:txBody>
      </p:sp>
      <p:sp>
        <p:nvSpPr>
          <p:cNvPr id="5" name="Text 3"/>
          <p:cNvSpPr/>
          <p:nvPr/>
        </p:nvSpPr>
        <p:spPr>
          <a:xfrm>
            <a:off x="7955280" y="6446520"/>
            <a:ext cx="3749040" cy="274320"/>
          </a:xfrm>
          <a:prstGeom prst="rect">
            <a:avLst/>
          </a:prstGeom>
          <a:noFill/>
          <a:ln/>
        </p:spPr>
        <p:txBody>
          <a:bodyPr wrap="square" lIns="0" tIns="0" rIns="0" bIns="0" rtlCol="0" anchor="ctr"/>
          <a:lstStyle/>
          <a:p>
            <a:pPr algn="r" indent="0" marL="0">
              <a:buNone/>
            </a:pPr>
            <a:r>
              <a:rPr lang="en-US" sz="1000" dirty="0">
                <a:solidFill>
                  <a:srgbClr val="AAAACC"/>
                </a:solidFill>
                <a:latin typeface="Calibri" pitchFamily="34" charset="0"/>
                <a:ea typeface="Calibri" pitchFamily="34" charset="-122"/>
                <a:cs typeface="Calibri" pitchFamily="34" charset="-120"/>
              </a:rPr>
              <a:t>Navasena · Exam Preparation   11</a:t>
            </a:r>
            <a:endParaRPr lang="en-US" sz="1000" dirty="0"/>
          </a:p>
        </p:txBody>
      </p:sp>
      <p:sp>
        <p:nvSpPr>
          <p:cNvPr id="6" name="Shape 4"/>
          <p:cNvSpPr/>
          <p:nvPr/>
        </p:nvSpPr>
        <p:spPr>
          <a:xfrm>
            <a:off x="548640" y="1600200"/>
            <a:ext cx="5440680" cy="1920240"/>
          </a:xfrm>
          <a:prstGeom prst="roundRect">
            <a:avLst>
              <a:gd name="adj" fmla="val 3810"/>
            </a:avLst>
          </a:prstGeom>
          <a:solidFill>
            <a:srgbClr val="2D2D44"/>
          </a:solidFill>
          <a:ln w="19050">
            <a:solidFill>
              <a:srgbClr val="76B900"/>
            </a:solidFill>
            <a:prstDash val="solid"/>
          </a:ln>
        </p:spPr>
      </p:sp>
      <p:sp>
        <p:nvSpPr>
          <p:cNvPr id="7" name="Text 5"/>
          <p:cNvSpPr/>
          <p:nvPr/>
        </p:nvSpPr>
        <p:spPr>
          <a:xfrm>
            <a:off x="777240" y="1783080"/>
            <a:ext cx="4983480" cy="411480"/>
          </a:xfrm>
          <a:prstGeom prst="rect">
            <a:avLst/>
          </a:prstGeom>
          <a:noFill/>
          <a:ln/>
        </p:spPr>
        <p:txBody>
          <a:bodyPr wrap="square" lIns="0" tIns="0" rIns="0" bIns="0" rtlCol="0" anchor="ctr"/>
          <a:lstStyle/>
          <a:p>
            <a:pPr indent="0" marL="0">
              <a:buNone/>
            </a:pPr>
            <a:r>
              <a:rPr lang="en-US" sz="1800" b="1" dirty="0">
                <a:solidFill>
                  <a:srgbClr val="76B900"/>
                </a:solidFill>
                <a:latin typeface="Calibri" pitchFamily="34" charset="0"/>
                <a:ea typeface="Calibri" pitchFamily="34" charset="-122"/>
                <a:cs typeface="Calibri" pitchFamily="34" charset="-120"/>
              </a:rPr>
              <a:t>GTC</a:t>
            </a:r>
            <a:endParaRPr lang="en-US" sz="1800" dirty="0"/>
          </a:p>
        </p:txBody>
      </p:sp>
      <p:sp>
        <p:nvSpPr>
          <p:cNvPr id="8" name="Text 6"/>
          <p:cNvSpPr/>
          <p:nvPr/>
        </p:nvSpPr>
        <p:spPr>
          <a:xfrm>
            <a:off x="777240" y="2286000"/>
            <a:ext cx="4983480" cy="1097280"/>
          </a:xfrm>
          <a:prstGeom prst="rect">
            <a:avLst/>
          </a:prstGeom>
          <a:noFill/>
          <a:ln/>
        </p:spPr>
        <p:txBody>
          <a:bodyPr wrap="square" lIns="0" tIns="0" rIns="0" bIns="0" rtlCol="0" anchor="t"/>
          <a:lstStyle/>
          <a:p>
            <a:pPr indent="0" marL="0">
              <a:spcAft>
                <a:spcPts val="600"/>
              </a:spcAft>
              <a:buNone/>
            </a:pPr>
            <a:r>
              <a:rPr lang="en-US" sz="1600" dirty="0">
                <a:solidFill>
                  <a:srgbClr val="FFFFFF"/>
                </a:solidFill>
                <a:latin typeface="Calibri" pitchFamily="34" charset="0"/>
                <a:ea typeface="Calibri" pitchFamily="34" charset="-122"/>
                <a:cs typeface="Calibri" pitchFamily="34" charset="-120"/>
              </a:rPr>
              <a:t>Konferensi tahunan NVIDIA di San Jose.</a:t>
            </a:r>
            <a:endParaRPr lang="en-US" sz="1600" dirty="0"/>
          </a:p>
          <a:p>
            <a:pPr indent="0" marL="0">
              <a:spcAft>
                <a:spcPts val="600"/>
              </a:spcAft>
              <a:buNone/>
            </a:pPr>
            <a:r>
              <a:rPr lang="en-US" sz="1600" dirty="0">
                <a:solidFill>
                  <a:srgbClr val="FFFFFF"/>
                </a:solidFill>
                <a:latin typeface="Calibri" pitchFamily="34" charset="0"/>
                <a:ea typeface="Calibri" pitchFamily="34" charset="-122"/>
                <a:cs typeface="Calibri" pitchFamily="34" charset="-120"/>
              </a:rPr>
              <a:t>Replay sesinya bisa ditonton on-demand.</a:t>
            </a:r>
            <a:endParaRPr lang="en-US" sz="1600" dirty="0"/>
          </a:p>
          <a:p>
            <a:pPr indent="0" marL="0">
              <a:spcAft>
                <a:spcPts val="600"/>
              </a:spcAft>
              <a:buNone/>
            </a:pPr>
            <a:r>
              <a:rPr lang="en-US" sz="1600" dirty="0">
                <a:solidFill>
                  <a:srgbClr val="FFFFFF"/>
                </a:solidFill>
                <a:latin typeface="Calibri" pitchFamily="34" charset="0"/>
                <a:ea typeface="Calibri" pitchFamily="34" charset="-122"/>
                <a:cs typeface="Calibri" pitchFamily="34" charset="-120"/>
              </a:rPr>
              <a:t>Peserta on-site bisa ujian sertifikasi tanpa biaya.</a:t>
            </a:r>
            <a:endParaRPr lang="en-US" sz="1600" dirty="0"/>
          </a:p>
        </p:txBody>
      </p:sp>
      <p:sp>
        <p:nvSpPr>
          <p:cNvPr id="9" name="Shape 7"/>
          <p:cNvSpPr/>
          <p:nvPr/>
        </p:nvSpPr>
        <p:spPr>
          <a:xfrm>
            <a:off x="6172200" y="1600200"/>
            <a:ext cx="5440680" cy="1920240"/>
          </a:xfrm>
          <a:prstGeom prst="roundRect">
            <a:avLst>
              <a:gd name="adj" fmla="val 3810"/>
            </a:avLst>
          </a:prstGeom>
          <a:solidFill>
            <a:srgbClr val="2D2D44"/>
          </a:solidFill>
          <a:ln w="19050">
            <a:solidFill>
              <a:srgbClr val="A3D944"/>
            </a:solidFill>
            <a:prstDash val="solid"/>
          </a:ln>
        </p:spPr>
      </p:sp>
      <p:sp>
        <p:nvSpPr>
          <p:cNvPr id="10" name="Text 8"/>
          <p:cNvSpPr/>
          <p:nvPr/>
        </p:nvSpPr>
        <p:spPr>
          <a:xfrm>
            <a:off x="6400800" y="1783080"/>
            <a:ext cx="4983480" cy="411480"/>
          </a:xfrm>
          <a:prstGeom prst="rect">
            <a:avLst/>
          </a:prstGeom>
          <a:noFill/>
          <a:ln/>
        </p:spPr>
        <p:txBody>
          <a:bodyPr wrap="square" lIns="0" tIns="0" rIns="0" bIns="0" rtlCol="0" anchor="ctr"/>
          <a:lstStyle/>
          <a:p>
            <a:pPr indent="0" marL="0">
              <a:buNone/>
            </a:pPr>
            <a:r>
              <a:rPr lang="en-US" sz="1800" b="1" dirty="0">
                <a:solidFill>
                  <a:srgbClr val="A3D944"/>
                </a:solidFill>
                <a:latin typeface="Calibri" pitchFamily="34" charset="0"/>
                <a:ea typeface="Calibri" pitchFamily="34" charset="-122"/>
                <a:cs typeface="Calibri" pitchFamily="34" charset="-120"/>
              </a:rPr>
              <a:t>Jetson AI Lab</a:t>
            </a:r>
            <a:endParaRPr lang="en-US" sz="1800" dirty="0"/>
          </a:p>
        </p:txBody>
      </p:sp>
      <p:sp>
        <p:nvSpPr>
          <p:cNvPr id="11" name="Text 9"/>
          <p:cNvSpPr/>
          <p:nvPr/>
        </p:nvSpPr>
        <p:spPr>
          <a:xfrm>
            <a:off x="6400800" y="2286000"/>
            <a:ext cx="4983480" cy="1097280"/>
          </a:xfrm>
          <a:prstGeom prst="rect">
            <a:avLst/>
          </a:prstGeom>
          <a:noFill/>
          <a:ln/>
        </p:spPr>
        <p:txBody>
          <a:bodyPr wrap="square" lIns="0" tIns="0" rIns="0" bIns="0" rtlCol="0" anchor="t"/>
          <a:lstStyle/>
          <a:p>
            <a:pPr indent="0" marL="0">
              <a:spcAft>
                <a:spcPts val="600"/>
              </a:spcAft>
              <a:buNone/>
            </a:pPr>
            <a:r>
              <a:rPr lang="en-US" sz="1600" dirty="0">
                <a:solidFill>
                  <a:srgbClr val="FFFFFF"/>
                </a:solidFill>
                <a:latin typeface="Calibri" pitchFamily="34" charset="0"/>
                <a:ea typeface="Calibri" pitchFamily="34" charset="-122"/>
                <a:cs typeface="Calibri" pitchFamily="34" charset="-120"/>
              </a:rPr>
              <a:t>Tutorial generative AI di perangkat edge.</a:t>
            </a:r>
            <a:endParaRPr lang="en-US" sz="1600" dirty="0"/>
          </a:p>
          <a:p>
            <a:pPr indent="0" marL="0">
              <a:spcAft>
                <a:spcPts val="600"/>
              </a:spcAft>
              <a:buNone/>
            </a:pPr>
            <a:r>
              <a:rPr lang="en-US" sz="1600" dirty="0">
                <a:solidFill>
                  <a:srgbClr val="FFFFFF"/>
                </a:solidFill>
                <a:latin typeface="Calibri" pitchFamily="34" charset="0"/>
                <a:ea typeface="Calibri" pitchFamily="34" charset="-122"/>
                <a:cs typeface="Calibri" pitchFamily="34" charset="-120"/>
              </a:rPr>
              <a:t>Lanjutan dari lab Jetson di modul NVIDIA.</a:t>
            </a:r>
            <a:endParaRPr lang="en-US" sz="1600" dirty="0"/>
          </a:p>
          <a:p>
            <a:pPr indent="0" marL="0">
              <a:spcAft>
                <a:spcPts val="600"/>
              </a:spcAft>
              <a:buNone/>
            </a:pPr>
            <a:r>
              <a:rPr lang="en-US" sz="1600" dirty="0">
                <a:solidFill>
                  <a:srgbClr val="FFFFFF"/>
                </a:solidFill>
                <a:latin typeface="Calibri" pitchFamily="34" charset="0"/>
                <a:ea typeface="Calibri" pitchFamily="34" charset="-122"/>
                <a:cs typeface="Calibri" pitchFamily="34" charset="-120"/>
              </a:rPr>
              <a:t>Ada server Discord untuk tanya jawab.</a:t>
            </a:r>
            <a:endParaRPr lang="en-US" sz="1600" dirty="0"/>
          </a:p>
        </p:txBody>
      </p:sp>
      <p:sp>
        <p:nvSpPr>
          <p:cNvPr id="12" name="Shape 10"/>
          <p:cNvSpPr/>
          <p:nvPr/>
        </p:nvSpPr>
        <p:spPr>
          <a:xfrm>
            <a:off x="548640" y="3703320"/>
            <a:ext cx="5440680" cy="1920240"/>
          </a:xfrm>
          <a:prstGeom prst="roundRect">
            <a:avLst>
              <a:gd name="adj" fmla="val 3810"/>
            </a:avLst>
          </a:prstGeom>
          <a:solidFill>
            <a:srgbClr val="2D2D44"/>
          </a:solidFill>
          <a:ln w="19050">
            <a:solidFill>
              <a:srgbClr val="42A5F5"/>
            </a:solidFill>
            <a:prstDash val="solid"/>
          </a:ln>
        </p:spPr>
      </p:sp>
      <p:sp>
        <p:nvSpPr>
          <p:cNvPr id="13" name="Text 11"/>
          <p:cNvSpPr/>
          <p:nvPr/>
        </p:nvSpPr>
        <p:spPr>
          <a:xfrm>
            <a:off x="777240" y="3886200"/>
            <a:ext cx="4983480" cy="411480"/>
          </a:xfrm>
          <a:prstGeom prst="rect">
            <a:avLst/>
          </a:prstGeom>
          <a:noFill/>
          <a:ln/>
        </p:spPr>
        <p:txBody>
          <a:bodyPr wrap="square" lIns="0" tIns="0" rIns="0" bIns="0" rtlCol="0" anchor="ctr"/>
          <a:lstStyle/>
          <a:p>
            <a:pPr indent="0" marL="0">
              <a:buNone/>
            </a:pPr>
            <a:r>
              <a:rPr lang="en-US" sz="1800" b="1" dirty="0">
                <a:solidFill>
                  <a:srgbClr val="42A5F5"/>
                </a:solidFill>
                <a:latin typeface="Calibri" pitchFamily="34" charset="0"/>
                <a:ea typeface="Calibri" pitchFamily="34" charset="-122"/>
                <a:cs typeface="Calibri" pitchFamily="34" charset="-120"/>
              </a:rPr>
              <a:t>Developer Forums</a:t>
            </a:r>
            <a:endParaRPr lang="en-US" sz="1800" dirty="0"/>
          </a:p>
        </p:txBody>
      </p:sp>
      <p:sp>
        <p:nvSpPr>
          <p:cNvPr id="14" name="Text 12"/>
          <p:cNvSpPr/>
          <p:nvPr/>
        </p:nvSpPr>
        <p:spPr>
          <a:xfrm>
            <a:off x="777240" y="4389120"/>
            <a:ext cx="4983480" cy="1097280"/>
          </a:xfrm>
          <a:prstGeom prst="rect">
            <a:avLst/>
          </a:prstGeom>
          <a:noFill/>
          <a:ln/>
        </p:spPr>
        <p:txBody>
          <a:bodyPr wrap="square" lIns="0" tIns="0" rIns="0" bIns="0" rtlCol="0" anchor="t"/>
          <a:lstStyle/>
          <a:p>
            <a:pPr indent="0" marL="0">
              <a:spcAft>
                <a:spcPts val="600"/>
              </a:spcAft>
              <a:buNone/>
            </a:pPr>
            <a:r>
              <a:rPr lang="en-US" sz="1600" dirty="0">
                <a:solidFill>
                  <a:srgbClr val="FFFFFF"/>
                </a:solidFill>
                <a:latin typeface="Calibri" pitchFamily="34" charset="0"/>
                <a:ea typeface="Calibri" pitchFamily="34" charset="-122"/>
                <a:cs typeface="Calibri" pitchFamily="34" charset="-120"/>
              </a:rPr>
              <a:t>Tanya jawab teknis soal produk NVIDIA.</a:t>
            </a:r>
            <a:endParaRPr lang="en-US" sz="1600" dirty="0"/>
          </a:p>
          <a:p>
            <a:pPr indent="0" marL="0">
              <a:spcAft>
                <a:spcPts val="600"/>
              </a:spcAft>
              <a:buNone/>
            </a:pPr>
            <a:r>
              <a:rPr lang="en-US" sz="1600" dirty="0">
                <a:solidFill>
                  <a:srgbClr val="FFFFFF"/>
                </a:solidFill>
                <a:latin typeface="Calibri" pitchFamily="34" charset="0"/>
                <a:ea typeface="Calibri" pitchFamily="34" charset="-122"/>
                <a:cs typeface="Calibri" pitchFamily="34" charset="-120"/>
              </a:rPr>
              <a:t>Cari dulu: masalahmu mungkin sudah pernah dibahas.</a:t>
            </a:r>
            <a:endParaRPr lang="en-US" sz="1600" dirty="0"/>
          </a:p>
        </p:txBody>
      </p:sp>
      <p:sp>
        <p:nvSpPr>
          <p:cNvPr id="15" name="Shape 13"/>
          <p:cNvSpPr/>
          <p:nvPr/>
        </p:nvSpPr>
        <p:spPr>
          <a:xfrm>
            <a:off x="6172200" y="3703320"/>
            <a:ext cx="5440680" cy="1920240"/>
          </a:xfrm>
          <a:prstGeom prst="roundRect">
            <a:avLst>
              <a:gd name="adj" fmla="val 3810"/>
            </a:avLst>
          </a:prstGeom>
          <a:solidFill>
            <a:srgbClr val="2D2D44"/>
          </a:solidFill>
          <a:ln w="19050">
            <a:solidFill>
              <a:srgbClr val="FF6F00"/>
            </a:solidFill>
            <a:prstDash val="solid"/>
          </a:ln>
        </p:spPr>
      </p:sp>
      <p:sp>
        <p:nvSpPr>
          <p:cNvPr id="16" name="Text 14"/>
          <p:cNvSpPr/>
          <p:nvPr/>
        </p:nvSpPr>
        <p:spPr>
          <a:xfrm>
            <a:off x="6400800" y="3886200"/>
            <a:ext cx="4983480" cy="411480"/>
          </a:xfrm>
          <a:prstGeom prst="rect">
            <a:avLst/>
          </a:prstGeom>
          <a:noFill/>
          <a:ln/>
        </p:spPr>
        <p:txBody>
          <a:bodyPr wrap="square" lIns="0" tIns="0" rIns="0" bIns="0" rtlCol="0" anchor="ctr"/>
          <a:lstStyle/>
          <a:p>
            <a:pPr indent="0" marL="0">
              <a:buNone/>
            </a:pPr>
            <a:r>
              <a:rPr lang="en-US" sz="1800" b="1" dirty="0">
                <a:solidFill>
                  <a:srgbClr val="FF6F00"/>
                </a:solidFill>
                <a:latin typeface="Calibri" pitchFamily="34" charset="0"/>
                <a:ea typeface="Calibri" pitchFamily="34" charset="-122"/>
                <a:cs typeface="Calibri" pitchFamily="34" charset="-120"/>
              </a:rPr>
              <a:t>Inception</a:t>
            </a:r>
            <a:endParaRPr lang="en-US" sz="1800" dirty="0"/>
          </a:p>
        </p:txBody>
      </p:sp>
      <p:sp>
        <p:nvSpPr>
          <p:cNvPr id="17" name="Text 15"/>
          <p:cNvSpPr/>
          <p:nvPr/>
        </p:nvSpPr>
        <p:spPr>
          <a:xfrm>
            <a:off x="6400800" y="4389120"/>
            <a:ext cx="4983480" cy="1097280"/>
          </a:xfrm>
          <a:prstGeom prst="rect">
            <a:avLst/>
          </a:prstGeom>
          <a:noFill/>
          <a:ln/>
        </p:spPr>
        <p:txBody>
          <a:bodyPr wrap="square" lIns="0" tIns="0" rIns="0" bIns="0" rtlCol="0" anchor="t"/>
          <a:lstStyle/>
          <a:p>
            <a:pPr indent="0" marL="0">
              <a:spcAft>
                <a:spcPts val="600"/>
              </a:spcAft>
              <a:buNone/>
            </a:pPr>
            <a:r>
              <a:rPr lang="en-US" sz="1600" dirty="0">
                <a:solidFill>
                  <a:srgbClr val="FFFFFF"/>
                </a:solidFill>
                <a:latin typeface="Calibri" pitchFamily="34" charset="0"/>
                <a:ea typeface="Calibri" pitchFamily="34" charset="-122"/>
                <a:cs typeface="Calibri" pitchFamily="34" charset="-120"/>
              </a:rPr>
              <a:t>Program untuk startup AI.</a:t>
            </a:r>
            <a:endParaRPr lang="en-US" sz="1600" dirty="0"/>
          </a:p>
          <a:p>
            <a:pPr indent="0" marL="0">
              <a:spcAft>
                <a:spcPts val="600"/>
              </a:spcAft>
              <a:buNone/>
            </a:pPr>
            <a:r>
              <a:rPr lang="en-US" sz="1600" dirty="0">
                <a:solidFill>
                  <a:srgbClr val="FFFFFF"/>
                </a:solidFill>
                <a:latin typeface="Calibri" pitchFamily="34" charset="0"/>
                <a:ea typeface="Calibri" pitchFamily="34" charset="-122"/>
                <a:cs typeface="Calibri" pitchFamily="34" charset="-120"/>
              </a:rPr>
              <a:t>Boleh join walau belum memakai GPU NVIDIA.</a:t>
            </a:r>
            <a:endParaRPr lang="en-US" sz="1600" dirty="0"/>
          </a:p>
          <a:p>
            <a:pPr indent="0" marL="0">
              <a:spcAft>
                <a:spcPts val="600"/>
              </a:spcAft>
              <a:buNone/>
            </a:pPr>
            <a:r>
              <a:rPr lang="en-US" sz="1600" dirty="0">
                <a:solidFill>
                  <a:srgbClr val="FFFFFF"/>
                </a:solidFill>
                <a:latin typeface="Calibri" pitchFamily="34" charset="0"/>
                <a:ea typeface="Calibri" pitchFamily="34" charset="-122"/>
                <a:cs typeface="Calibri" pitchFamily="34" charset="-120"/>
              </a:rPr>
              <a:t>Kode kursus DLI gratis dan kredit cloud.</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76B900"/>
          </a:solidFill>
          <a:ln/>
        </p:spPr>
      </p:sp>
      <p:sp>
        <p:nvSpPr>
          <p:cNvPr id="3" name="Text 1"/>
          <p:cNvSpPr/>
          <p:nvPr/>
        </p:nvSpPr>
        <p:spPr>
          <a:xfrm>
            <a:off x="548640" y="320040"/>
            <a:ext cx="10972800" cy="274320"/>
          </a:xfrm>
          <a:prstGeom prst="rect">
            <a:avLst/>
          </a:prstGeom>
          <a:noFill/>
          <a:ln/>
        </p:spPr>
        <p:txBody>
          <a:bodyPr wrap="square" lIns="0" tIns="0" rIns="0" bIns="0" rtlCol="0" anchor="ctr"/>
          <a:lstStyle/>
          <a:p>
            <a:pPr indent="0" marL="0">
              <a:buNone/>
            </a:pPr>
            <a:r>
              <a:rPr lang="en-US" sz="1300" b="1" dirty="0">
                <a:solidFill>
                  <a:srgbClr val="76B900"/>
                </a:solidFill>
                <a:latin typeface="Calibri" pitchFamily="34" charset="0"/>
                <a:ea typeface="Calibri" pitchFamily="34" charset="-122"/>
                <a:cs typeface="Calibri" pitchFamily="34" charset="-120"/>
              </a:rPr>
              <a:t>Bagian 3 · Karier dan portofolio</a:t>
            </a:r>
            <a:endParaRPr lang="en-US" sz="1300" dirty="0"/>
          </a:p>
        </p:txBody>
      </p:sp>
      <p:sp>
        <p:nvSpPr>
          <p:cNvPr id="4" name="Text 2"/>
          <p:cNvSpPr/>
          <p:nvPr/>
        </p:nvSpPr>
        <p:spPr>
          <a:xfrm>
            <a:off x="548640" y="640080"/>
            <a:ext cx="11064240" cy="68580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Pilih dulu arah peranmu</a:t>
            </a:r>
            <a:endParaRPr lang="en-US" sz="3000" dirty="0"/>
          </a:p>
        </p:txBody>
      </p:sp>
      <p:sp>
        <p:nvSpPr>
          <p:cNvPr id="5" name="Text 3"/>
          <p:cNvSpPr/>
          <p:nvPr/>
        </p:nvSpPr>
        <p:spPr>
          <a:xfrm>
            <a:off x="7955280" y="6446520"/>
            <a:ext cx="3749040" cy="274320"/>
          </a:xfrm>
          <a:prstGeom prst="rect">
            <a:avLst/>
          </a:prstGeom>
          <a:noFill/>
          <a:ln/>
        </p:spPr>
        <p:txBody>
          <a:bodyPr wrap="square" lIns="0" tIns="0" rIns="0" bIns="0" rtlCol="0" anchor="ctr"/>
          <a:lstStyle/>
          <a:p>
            <a:pPr algn="r" indent="0" marL="0">
              <a:buNone/>
            </a:pPr>
            <a:r>
              <a:rPr lang="en-US" sz="1000" dirty="0">
                <a:solidFill>
                  <a:srgbClr val="AAAACC"/>
                </a:solidFill>
                <a:latin typeface="Calibri" pitchFamily="34" charset="0"/>
                <a:ea typeface="Calibri" pitchFamily="34" charset="-122"/>
                <a:cs typeface="Calibri" pitchFamily="34" charset="-120"/>
              </a:rPr>
              <a:t>Navasena · Exam Preparation   12</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3383280"/>
                <a:gridCol w="2926080"/>
                <a:gridCol w="4754880"/>
              </a:tblGrid>
              <a:tr h="640080">
                <a:tc>
                  <a:txBody>
                    <a:bodyPr/>
                    <a:lstStyle/>
                    <a:p>
                      <a:pPr indent="0" marL="0">
                        <a:buNone/>
                      </a:pPr>
                      <a:r>
                        <a:rPr lang="en-US" sz="1700" b="1" dirty="0">
                          <a:solidFill>
                            <a:srgbClr val="1A1A2E"/>
                          </a:solidFill>
                          <a:latin typeface="Calibri" pitchFamily="34" charset="0"/>
                          <a:ea typeface="Calibri" pitchFamily="34" charset="-122"/>
                          <a:cs typeface="Calibri" pitchFamily="34" charset="-120"/>
                        </a:rPr>
                        <a:t>Peran</a:t>
                      </a:r>
                      <a:endParaRPr lang="en-US" sz="1700" dirty="0">
                        <a:latin typeface="Calibri" charset="0"/>
                        <a:ea typeface="Calibri" charset="0"/>
                        <a:cs typeface="Calibri" charset="0"/>
                      </a:endParaRPr>
                    </a:p>
                  </a:txBody>
                  <a:tcPr marL="73152" marR="73152" marT="73152" marB="73152"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76B900"/>
                    </a:solidFill>
                  </a:tcPr>
                </a:tc>
                <a:tc>
                  <a:txBody>
                    <a:bodyPr/>
                    <a:lstStyle/>
                    <a:p>
                      <a:pPr indent="0" marL="0">
                        <a:buNone/>
                      </a:pPr>
                      <a:r>
                        <a:rPr lang="en-US" sz="1700" b="1" dirty="0">
                          <a:solidFill>
                            <a:srgbClr val="1A1A2E"/>
                          </a:solidFill>
                          <a:latin typeface="Calibri" pitchFamily="34" charset="0"/>
                          <a:ea typeface="Calibri" pitchFamily="34" charset="-122"/>
                          <a:cs typeface="Calibri" pitchFamily="34" charset="-120"/>
                        </a:rPr>
                        <a:t>Sertifikasi berikutnya</a:t>
                      </a:r>
                      <a:endParaRPr lang="en-US" sz="1700" dirty="0">
                        <a:latin typeface="Calibri" charset="0"/>
                        <a:ea typeface="Calibri" charset="0"/>
                        <a:cs typeface="Calibri" charset="0"/>
                      </a:endParaRPr>
                    </a:p>
                  </a:txBody>
                  <a:tcPr marL="73152" marR="73152" marT="73152" marB="73152"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76B900"/>
                    </a:solidFill>
                  </a:tcPr>
                </a:tc>
                <a:tc>
                  <a:txBody>
                    <a:bodyPr/>
                    <a:lstStyle/>
                    <a:p>
                      <a:pPr indent="0" marL="0">
                        <a:buNone/>
                      </a:pPr>
                      <a:r>
                        <a:rPr lang="en-US" sz="1700" b="1" dirty="0">
                          <a:solidFill>
                            <a:srgbClr val="1A1A2E"/>
                          </a:solidFill>
                          <a:latin typeface="Calibri" pitchFamily="34" charset="0"/>
                          <a:ea typeface="Calibri" pitchFamily="34" charset="-122"/>
                          <a:cs typeface="Calibri" pitchFamily="34" charset="-120"/>
                        </a:rPr>
                        <a:t>Proyek pertama</a:t>
                      </a:r>
                      <a:endParaRPr lang="en-US" sz="1700" dirty="0">
                        <a:latin typeface="Calibri" charset="0"/>
                        <a:ea typeface="Calibri" charset="0"/>
                        <a:cs typeface="Calibri" charset="0"/>
                      </a:endParaRPr>
                    </a:p>
                  </a:txBody>
                  <a:tcPr marL="73152" marR="73152" marT="73152" marB="73152"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76B900"/>
                    </a:solidFill>
                  </a:tcPr>
                </a:tc>
              </a:tr>
              <a:tr h="640080">
                <a:tc>
                  <a:txBody>
                    <a:bodyPr/>
                    <a:lstStyle/>
                    <a:p>
                      <a:pPr indent="0" marL="0">
                        <a:buNone/>
                      </a:pPr>
                      <a:r>
                        <a:rPr lang="en-US" sz="1700" dirty="0">
                          <a:solidFill>
                            <a:srgbClr val="FFFFFF"/>
                          </a:solidFill>
                          <a:latin typeface="Calibri" pitchFamily="34" charset="0"/>
                          <a:ea typeface="Calibri" pitchFamily="34" charset="-122"/>
                          <a:cs typeface="Calibri" pitchFamily="34" charset="-120"/>
                        </a:rPr>
                        <a:t>LLM / AI application engineer</a:t>
                      </a:r>
                      <a:endParaRPr lang="en-US" sz="1700" dirty="0">
                        <a:latin typeface="Calibri" charset="0"/>
                        <a:ea typeface="Calibri" charset="0"/>
                        <a:cs typeface="Calibri" charset="0"/>
                      </a:endParaRPr>
                    </a:p>
                  </a:txBody>
                  <a:tcPr marL="73152" marR="73152" marT="73152" marB="73152"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2D2D44"/>
                    </a:solidFill>
                  </a:tcPr>
                </a:tc>
                <a:tc>
                  <a:txBody>
                    <a:bodyPr/>
                    <a:lstStyle/>
                    <a:p>
                      <a:pPr indent="0" marL="0">
                        <a:buNone/>
                      </a:pPr>
                      <a:r>
                        <a:rPr lang="en-US" sz="1700" dirty="0">
                          <a:solidFill>
                            <a:srgbClr val="FFFFFF"/>
                          </a:solidFill>
                          <a:latin typeface="Calibri" pitchFamily="34" charset="0"/>
                          <a:ea typeface="Calibri" pitchFamily="34" charset="-122"/>
                          <a:cs typeface="Calibri" pitchFamily="34" charset="-120"/>
                        </a:rPr>
                        <a:t>NCP-GENL, NCP-AAI</a:t>
                      </a:r>
                      <a:endParaRPr lang="en-US" sz="1700" dirty="0">
                        <a:latin typeface="Calibri" charset="0"/>
                        <a:ea typeface="Calibri" charset="0"/>
                        <a:cs typeface="Calibri" charset="0"/>
                      </a:endParaRPr>
                    </a:p>
                  </a:txBody>
                  <a:tcPr marL="73152" marR="73152" marT="73152" marB="73152"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2D2D44"/>
                    </a:solidFill>
                  </a:tcPr>
                </a:tc>
                <a:tc>
                  <a:txBody>
                    <a:bodyPr/>
                    <a:lstStyle/>
                    <a:p>
                      <a:pPr indent="0" marL="0">
                        <a:buNone/>
                      </a:pPr>
                      <a:r>
                        <a:rPr lang="en-US" sz="1700" dirty="0">
                          <a:solidFill>
                            <a:srgbClr val="FFFFFF"/>
                          </a:solidFill>
                          <a:latin typeface="Calibri" pitchFamily="34" charset="0"/>
                          <a:ea typeface="Calibri" pitchFamily="34" charset="-122"/>
                          <a:cs typeface="Calibri" pitchFamily="34" charset="-120"/>
                        </a:rPr>
                        <a:t>Agen RAG dengan tool calling dan guardrails</a:t>
                      </a:r>
                      <a:endParaRPr lang="en-US" sz="1700" dirty="0">
                        <a:latin typeface="Calibri" charset="0"/>
                        <a:ea typeface="Calibri" charset="0"/>
                        <a:cs typeface="Calibri" charset="0"/>
                      </a:endParaRPr>
                    </a:p>
                  </a:txBody>
                  <a:tcPr marL="73152" marR="73152" marT="73152" marB="73152"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2D2D44"/>
                    </a:solidFill>
                  </a:tcPr>
                </a:tc>
              </a:tr>
              <a:tr h="640080">
                <a:tc>
                  <a:txBody>
                    <a:bodyPr/>
                    <a:lstStyle/>
                    <a:p>
                      <a:pPr indent="0" marL="0">
                        <a:buNone/>
                      </a:pPr>
                      <a:r>
                        <a:rPr lang="en-US" sz="1700" dirty="0">
                          <a:solidFill>
                            <a:srgbClr val="FFFFFF"/>
                          </a:solidFill>
                          <a:latin typeface="Calibri" pitchFamily="34" charset="0"/>
                          <a:ea typeface="Calibri" pitchFamily="34" charset="-122"/>
                          <a:cs typeface="Calibri" pitchFamily="34" charset="-120"/>
                        </a:rPr>
                        <a:t>ML engineer (fine-tune &amp; evaluasi)</a:t>
                      </a:r>
                      <a:endParaRPr lang="en-US" sz="1700" dirty="0">
                        <a:latin typeface="Calibri" charset="0"/>
                        <a:ea typeface="Calibri" charset="0"/>
                        <a:cs typeface="Calibri" charset="0"/>
                      </a:endParaRPr>
                    </a:p>
                  </a:txBody>
                  <a:tcPr marL="73152" marR="73152" marT="73152" marB="73152"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23233A"/>
                    </a:solidFill>
                  </a:tcPr>
                </a:tc>
                <a:tc>
                  <a:txBody>
                    <a:bodyPr/>
                    <a:lstStyle/>
                    <a:p>
                      <a:pPr indent="0" marL="0">
                        <a:buNone/>
                      </a:pPr>
                      <a:r>
                        <a:rPr lang="en-US" sz="1700" dirty="0">
                          <a:solidFill>
                            <a:srgbClr val="FFFFFF"/>
                          </a:solidFill>
                          <a:latin typeface="Calibri" pitchFamily="34" charset="0"/>
                          <a:ea typeface="Calibri" pitchFamily="34" charset="-122"/>
                          <a:cs typeface="Calibri" pitchFamily="34" charset="-120"/>
                        </a:rPr>
                        <a:t>NCP-GENL</a:t>
                      </a:r>
                      <a:endParaRPr lang="en-US" sz="1700" dirty="0">
                        <a:latin typeface="Calibri" charset="0"/>
                        <a:ea typeface="Calibri" charset="0"/>
                        <a:cs typeface="Calibri" charset="0"/>
                      </a:endParaRPr>
                    </a:p>
                  </a:txBody>
                  <a:tcPr marL="73152" marR="73152" marT="73152" marB="73152"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23233A"/>
                    </a:solidFill>
                  </a:tcPr>
                </a:tc>
                <a:tc>
                  <a:txBody>
                    <a:bodyPr/>
                    <a:lstStyle/>
                    <a:p>
                      <a:pPr indent="0" marL="0">
                        <a:buNone/>
                      </a:pPr>
                      <a:r>
                        <a:rPr lang="en-US" sz="1700" dirty="0">
                          <a:solidFill>
                            <a:srgbClr val="FFFFFF"/>
                          </a:solidFill>
                          <a:latin typeface="Calibri" pitchFamily="34" charset="0"/>
                          <a:ea typeface="Calibri" pitchFamily="34" charset="-122"/>
                          <a:cs typeface="Calibri" pitchFamily="34" charset="-120"/>
                        </a:rPr>
                        <a:t>Fine-tune SLM untuk satu tugas + laporan evaluasi</a:t>
                      </a:r>
                      <a:endParaRPr lang="en-US" sz="1700" dirty="0">
                        <a:latin typeface="Calibri" charset="0"/>
                        <a:ea typeface="Calibri" charset="0"/>
                        <a:cs typeface="Calibri" charset="0"/>
                      </a:endParaRPr>
                    </a:p>
                  </a:txBody>
                  <a:tcPr marL="73152" marR="73152" marT="73152" marB="73152"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23233A"/>
                    </a:solidFill>
                  </a:tcPr>
                </a:tc>
              </a:tr>
              <a:tr h="640080">
                <a:tc>
                  <a:txBody>
                    <a:bodyPr/>
                    <a:lstStyle/>
                    <a:p>
                      <a:pPr indent="0" marL="0">
                        <a:buNone/>
                      </a:pPr>
                      <a:r>
                        <a:rPr lang="en-US" sz="1700" dirty="0">
                          <a:solidFill>
                            <a:srgbClr val="FFFFFF"/>
                          </a:solidFill>
                          <a:latin typeface="Calibri" pitchFamily="34" charset="0"/>
                          <a:ea typeface="Calibri" pitchFamily="34" charset="-122"/>
                          <a:cs typeface="Calibri" pitchFamily="34" charset="-120"/>
                        </a:rPr>
                        <a:t>Data scientist</a:t>
                      </a:r>
                      <a:endParaRPr lang="en-US" sz="1700" dirty="0">
                        <a:latin typeface="Calibri" charset="0"/>
                        <a:ea typeface="Calibri" charset="0"/>
                        <a:cs typeface="Calibri" charset="0"/>
                      </a:endParaRPr>
                    </a:p>
                  </a:txBody>
                  <a:tcPr marL="73152" marR="73152" marT="73152" marB="73152"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2D2D44"/>
                    </a:solidFill>
                  </a:tcPr>
                </a:tc>
                <a:tc>
                  <a:txBody>
                    <a:bodyPr/>
                    <a:lstStyle/>
                    <a:p>
                      <a:pPr indent="0" marL="0">
                        <a:buNone/>
                      </a:pPr>
                      <a:r>
                        <a:rPr lang="en-US" sz="1700" dirty="0">
                          <a:solidFill>
                            <a:srgbClr val="FFFFFF"/>
                          </a:solidFill>
                          <a:latin typeface="Calibri" pitchFamily="34" charset="0"/>
                          <a:ea typeface="Calibri" pitchFamily="34" charset="-122"/>
                          <a:cs typeface="Calibri" pitchFamily="34" charset="-120"/>
                        </a:rPr>
                        <a:t>NCA-ADS → NCP-ADS</a:t>
                      </a:r>
                      <a:endParaRPr lang="en-US" sz="1700" dirty="0">
                        <a:latin typeface="Calibri" charset="0"/>
                        <a:ea typeface="Calibri" charset="0"/>
                        <a:cs typeface="Calibri" charset="0"/>
                      </a:endParaRPr>
                    </a:p>
                  </a:txBody>
                  <a:tcPr marL="73152" marR="73152" marT="73152" marB="73152"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2D2D44"/>
                    </a:solidFill>
                  </a:tcPr>
                </a:tc>
                <a:tc>
                  <a:txBody>
                    <a:bodyPr/>
                    <a:lstStyle/>
                    <a:p>
                      <a:pPr indent="0" marL="0">
                        <a:buNone/>
                      </a:pPr>
                      <a:r>
                        <a:rPr lang="en-US" sz="1700" dirty="0">
                          <a:solidFill>
                            <a:srgbClr val="FFFFFF"/>
                          </a:solidFill>
                          <a:latin typeface="Calibri" pitchFamily="34" charset="0"/>
                          <a:ea typeface="Calibri" pitchFamily="34" charset="-122"/>
                          <a:cs typeface="Calibri" pitchFamily="34" charset="-120"/>
                        </a:rPr>
                        <a:t>Pipeline cuDF/cuML di data nyata + benchmark CPU vs GPU</a:t>
                      </a:r>
                      <a:endParaRPr lang="en-US" sz="1700" dirty="0">
                        <a:latin typeface="Calibri" charset="0"/>
                        <a:ea typeface="Calibri" charset="0"/>
                        <a:cs typeface="Calibri" charset="0"/>
                      </a:endParaRPr>
                    </a:p>
                  </a:txBody>
                  <a:tcPr marL="73152" marR="73152" marT="73152" marB="73152"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2D2D44"/>
                    </a:solidFill>
                  </a:tcPr>
                </a:tc>
              </a:tr>
              <a:tr h="640080">
                <a:tc>
                  <a:txBody>
                    <a:bodyPr/>
                    <a:lstStyle/>
                    <a:p>
                      <a:pPr indent="0" marL="0">
                        <a:buNone/>
                      </a:pPr>
                      <a:r>
                        <a:rPr lang="en-US" sz="1700" dirty="0">
                          <a:solidFill>
                            <a:srgbClr val="FFFFFF"/>
                          </a:solidFill>
                          <a:latin typeface="Calibri" pitchFamily="34" charset="0"/>
                          <a:ea typeface="Calibri" pitchFamily="34" charset="-122"/>
                          <a:cs typeface="Calibri" pitchFamily="34" charset="-120"/>
                        </a:rPr>
                        <a:t>MLOps / AI infrastructure</a:t>
                      </a:r>
                      <a:endParaRPr lang="en-US" sz="1700" dirty="0">
                        <a:latin typeface="Calibri" charset="0"/>
                        <a:ea typeface="Calibri" charset="0"/>
                        <a:cs typeface="Calibri" charset="0"/>
                      </a:endParaRPr>
                    </a:p>
                  </a:txBody>
                  <a:tcPr marL="73152" marR="73152" marT="73152" marB="73152"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23233A"/>
                    </a:solidFill>
                  </a:tcPr>
                </a:tc>
                <a:tc>
                  <a:txBody>
                    <a:bodyPr/>
                    <a:lstStyle/>
                    <a:p>
                      <a:pPr indent="0" marL="0">
                        <a:buNone/>
                      </a:pPr>
                      <a:r>
                        <a:rPr lang="en-US" sz="1700" dirty="0">
                          <a:solidFill>
                            <a:srgbClr val="FFFFFF"/>
                          </a:solidFill>
                          <a:latin typeface="Calibri" pitchFamily="34" charset="0"/>
                          <a:ea typeface="Calibri" pitchFamily="34" charset="-122"/>
                          <a:cs typeface="Calibri" pitchFamily="34" charset="-120"/>
                        </a:rPr>
                        <a:t>NCA-AIIO → NCP-AIO</a:t>
                      </a:r>
                      <a:endParaRPr lang="en-US" sz="1700" dirty="0">
                        <a:latin typeface="Calibri" charset="0"/>
                        <a:ea typeface="Calibri" charset="0"/>
                        <a:cs typeface="Calibri" charset="0"/>
                      </a:endParaRPr>
                    </a:p>
                  </a:txBody>
                  <a:tcPr marL="73152" marR="73152" marT="73152" marB="73152"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23233A"/>
                    </a:solidFill>
                  </a:tcPr>
                </a:tc>
                <a:tc>
                  <a:txBody>
                    <a:bodyPr/>
                    <a:lstStyle/>
                    <a:p>
                      <a:pPr indent="0" marL="0">
                        <a:buNone/>
                      </a:pPr>
                      <a:r>
                        <a:rPr lang="en-US" sz="1700" dirty="0">
                          <a:solidFill>
                            <a:srgbClr val="FFFFFF"/>
                          </a:solidFill>
                          <a:latin typeface="Calibri" pitchFamily="34" charset="0"/>
                          <a:ea typeface="Calibri" pitchFamily="34" charset="-122"/>
                          <a:cs typeface="Calibri" pitchFamily="34" charset="-120"/>
                        </a:rPr>
                        <a:t>Serving model dengan Triton + pemantauan latensi</a:t>
                      </a:r>
                      <a:endParaRPr lang="en-US" sz="1700" dirty="0">
                        <a:latin typeface="Calibri" charset="0"/>
                        <a:ea typeface="Calibri" charset="0"/>
                        <a:cs typeface="Calibri" charset="0"/>
                      </a:endParaRPr>
                    </a:p>
                  </a:txBody>
                  <a:tcPr marL="73152" marR="73152" marT="73152" marB="73152"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23233A"/>
                    </a:solidFill>
                  </a:tcPr>
                </a:tc>
              </a:tr>
              <a:tr h="640080">
                <a:tc>
                  <a:txBody>
                    <a:bodyPr/>
                    <a:lstStyle/>
                    <a:p>
                      <a:pPr indent="0" marL="0">
                        <a:buNone/>
                      </a:pPr>
                      <a:r>
                        <a:rPr lang="en-US" sz="1700" dirty="0">
                          <a:solidFill>
                            <a:srgbClr val="FFFFFF"/>
                          </a:solidFill>
                          <a:latin typeface="Calibri" pitchFamily="34" charset="0"/>
                          <a:ea typeface="Calibri" pitchFamily="34" charset="-122"/>
                          <a:cs typeface="Calibri" pitchFamily="34" charset="-120"/>
                        </a:rPr>
                        <a:t>Edge AI engineer</a:t>
                      </a:r>
                      <a:endParaRPr lang="en-US" sz="1700" dirty="0">
                        <a:latin typeface="Calibri" charset="0"/>
                        <a:ea typeface="Calibri" charset="0"/>
                        <a:cs typeface="Calibri" charset="0"/>
                      </a:endParaRPr>
                    </a:p>
                  </a:txBody>
                  <a:tcPr marL="73152" marR="73152" marT="73152" marB="73152"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2D2D44"/>
                    </a:solidFill>
                  </a:tcPr>
                </a:tc>
                <a:tc>
                  <a:txBody>
                    <a:bodyPr/>
                    <a:lstStyle/>
                    <a:p>
                      <a:pPr indent="0" marL="0">
                        <a:buNone/>
                      </a:pPr>
                      <a:r>
                        <a:rPr lang="en-US" sz="1700" dirty="0">
                          <a:solidFill>
                            <a:srgbClr val="FFFFFF"/>
                          </a:solidFill>
                          <a:latin typeface="Calibri" pitchFamily="34" charset="0"/>
                          <a:ea typeface="Calibri" pitchFamily="34" charset="-122"/>
                          <a:cs typeface="Calibri" pitchFamily="34" charset="-120"/>
                        </a:rPr>
                        <a:t>Belajar lewat Jetson AI Lab</a:t>
                      </a:r>
                      <a:endParaRPr lang="en-US" sz="1700" dirty="0">
                        <a:latin typeface="Calibri" charset="0"/>
                        <a:ea typeface="Calibri" charset="0"/>
                        <a:cs typeface="Calibri" charset="0"/>
                      </a:endParaRPr>
                    </a:p>
                  </a:txBody>
                  <a:tcPr marL="73152" marR="73152" marT="73152" marB="73152"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2D2D44"/>
                    </a:solidFill>
                  </a:tcPr>
                </a:tc>
                <a:tc>
                  <a:txBody>
                    <a:bodyPr/>
                    <a:lstStyle/>
                    <a:p>
                      <a:pPr indent="0" marL="0">
                        <a:buNone/>
                      </a:pPr>
                      <a:r>
                        <a:rPr lang="en-US" sz="1700" dirty="0">
                          <a:solidFill>
                            <a:srgbClr val="FFFFFF"/>
                          </a:solidFill>
                          <a:latin typeface="Calibri" pitchFamily="34" charset="0"/>
                          <a:ea typeface="Calibri" pitchFamily="34" charset="-122"/>
                          <a:cs typeface="Calibri" pitchFamily="34" charset="-120"/>
                        </a:rPr>
                        <a:t>Asisten lokal di Jetson dengan Ollama atau TensorRT</a:t>
                      </a:r>
                      <a:endParaRPr lang="en-US" sz="1700" dirty="0">
                        <a:latin typeface="Calibri" charset="0"/>
                        <a:ea typeface="Calibri" charset="0"/>
                        <a:cs typeface="Calibri" charset="0"/>
                      </a:endParaRPr>
                    </a:p>
                  </a:txBody>
                  <a:tcPr marL="73152" marR="73152" marT="73152" marB="73152" anchor="ctr">
                    <a:lnL w="6350" cap="flat" cmpd="sng" algn="ctr">
                      <a:solidFill>
                        <a:srgbClr val="1A1A2E"/>
                      </a:solidFill>
                      <a:prstDash val="solid"/>
                      <a:round/>
                      <a:headEnd type="none" w="med" len="med"/>
                      <a:tailEnd type="none" w="med" len="med"/>
                    </a:lnL>
                    <a:lnR w="6350" cap="flat" cmpd="sng" algn="ctr">
                      <a:solidFill>
                        <a:srgbClr val="1A1A2E"/>
                      </a:solidFill>
                      <a:prstDash val="solid"/>
                      <a:round/>
                      <a:headEnd type="none" w="med" len="med"/>
                      <a:tailEnd type="none" w="med" len="med"/>
                    </a:lnR>
                    <a:lnT w="6350" cap="flat" cmpd="sng" algn="ctr">
                      <a:solidFill>
                        <a:srgbClr val="1A1A2E"/>
                      </a:solidFill>
                      <a:prstDash val="solid"/>
                      <a:round/>
                      <a:headEnd type="none" w="med" len="med"/>
                      <a:tailEnd type="none" w="med" len="med"/>
                    </a:lnT>
                    <a:lnB w="6350" cap="flat" cmpd="sng" algn="ctr">
                      <a:solidFill>
                        <a:srgbClr val="1A1A2E"/>
                      </a:solidFill>
                      <a:prstDash val="solid"/>
                      <a:round/>
                      <a:headEnd type="none" w="med" len="med"/>
                      <a:tailEnd type="none" w="med" len="med"/>
                    </a:lnB>
                    <a:solidFill>
                      <a:srgbClr val="2D2D44"/>
                    </a:solidFill>
                  </a:tcPr>
                </a:tc>
              </a:tr>
            </a:tbl>
          </a:graphicData>
        </a:graphic>
      </p:graphicFrame>
      <p:sp>
        <p:nvSpPr>
          <p:cNvPr id="7" name="Shape 4"/>
          <p:cNvSpPr/>
          <p:nvPr/>
        </p:nvSpPr>
        <p:spPr>
          <a:xfrm>
            <a:off x="548640" y="5669280"/>
            <a:ext cx="73152" cy="502920"/>
          </a:xfrm>
          <a:prstGeom prst="rect">
            <a:avLst/>
          </a:prstGeom>
          <a:solidFill>
            <a:srgbClr val="A3D944"/>
          </a:solidFill>
          <a:ln/>
        </p:spPr>
      </p:sp>
      <p:sp>
        <p:nvSpPr>
          <p:cNvPr id="8" name="Text 5"/>
          <p:cNvSpPr/>
          <p:nvPr/>
        </p:nvSpPr>
        <p:spPr>
          <a:xfrm>
            <a:off x="777240" y="5669280"/>
            <a:ext cx="10881360" cy="502920"/>
          </a:xfrm>
          <a:prstGeom prst="rect">
            <a:avLst/>
          </a:prstGeom>
          <a:noFill/>
          <a:ln/>
        </p:spPr>
        <p:txBody>
          <a:bodyPr wrap="square" lIns="0" tIns="0" rIns="0" bIns="0" rtlCol="0" anchor="ctr"/>
          <a:lstStyle/>
          <a:p>
            <a:pPr indent="0" marL="0">
              <a:buNone/>
            </a:pPr>
            <a:r>
              <a:rPr lang="en-US" sz="1700" b="1" dirty="0">
                <a:solidFill>
                  <a:srgbClr val="A3D944"/>
                </a:solidFill>
                <a:latin typeface="Calibri" pitchFamily="34" charset="0"/>
                <a:ea typeface="Calibri" pitchFamily="34" charset="-122"/>
                <a:cs typeface="Calibri" pitchFamily="34" charset="-120"/>
              </a:rPr>
              <a:t>Pilih satu peran dan satu proyek. Kedalaman lebih bernilai daripada daftar sertifikat.</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76B900"/>
          </a:solidFill>
          <a:ln/>
        </p:spPr>
      </p:sp>
      <p:sp>
        <p:nvSpPr>
          <p:cNvPr id="3" name="Text 1"/>
          <p:cNvSpPr/>
          <p:nvPr/>
        </p:nvSpPr>
        <p:spPr>
          <a:xfrm>
            <a:off x="548640" y="320040"/>
            <a:ext cx="10972800" cy="274320"/>
          </a:xfrm>
          <a:prstGeom prst="rect">
            <a:avLst/>
          </a:prstGeom>
          <a:noFill/>
          <a:ln/>
        </p:spPr>
        <p:txBody>
          <a:bodyPr wrap="square" lIns="0" tIns="0" rIns="0" bIns="0" rtlCol="0" anchor="ctr"/>
          <a:lstStyle/>
          <a:p>
            <a:pPr indent="0" marL="0">
              <a:buNone/>
            </a:pPr>
            <a:r>
              <a:rPr lang="en-US" sz="1300" b="1" dirty="0">
                <a:solidFill>
                  <a:srgbClr val="76B900"/>
                </a:solidFill>
                <a:latin typeface="Calibri" pitchFamily="34" charset="0"/>
                <a:ea typeface="Calibri" pitchFamily="34" charset="-122"/>
                <a:cs typeface="Calibri" pitchFamily="34" charset="-120"/>
              </a:rPr>
              <a:t>Bagian 3 · Karier dan portofolio</a:t>
            </a:r>
            <a:endParaRPr lang="en-US" sz="1300" dirty="0"/>
          </a:p>
        </p:txBody>
      </p:sp>
      <p:sp>
        <p:nvSpPr>
          <p:cNvPr id="4" name="Text 2"/>
          <p:cNvSpPr/>
          <p:nvPr/>
        </p:nvSpPr>
        <p:spPr>
          <a:xfrm>
            <a:off x="548640" y="640080"/>
            <a:ext cx="11064240" cy="68580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Dari capstone ke portofolio publik</a:t>
            </a:r>
            <a:endParaRPr lang="en-US" sz="3000" dirty="0"/>
          </a:p>
        </p:txBody>
      </p:sp>
      <p:sp>
        <p:nvSpPr>
          <p:cNvPr id="5" name="Text 3"/>
          <p:cNvSpPr/>
          <p:nvPr/>
        </p:nvSpPr>
        <p:spPr>
          <a:xfrm>
            <a:off x="7955280" y="6446520"/>
            <a:ext cx="3749040" cy="274320"/>
          </a:xfrm>
          <a:prstGeom prst="rect">
            <a:avLst/>
          </a:prstGeom>
          <a:noFill/>
          <a:ln/>
        </p:spPr>
        <p:txBody>
          <a:bodyPr wrap="square" lIns="0" tIns="0" rIns="0" bIns="0" rtlCol="0" anchor="ctr"/>
          <a:lstStyle/>
          <a:p>
            <a:pPr algn="r" indent="0" marL="0">
              <a:buNone/>
            </a:pPr>
            <a:r>
              <a:rPr lang="en-US" sz="1000" dirty="0">
                <a:solidFill>
                  <a:srgbClr val="AAAACC"/>
                </a:solidFill>
                <a:latin typeface="Calibri" pitchFamily="34" charset="0"/>
                <a:ea typeface="Calibri" pitchFamily="34" charset="-122"/>
                <a:cs typeface="Calibri" pitchFamily="34" charset="-120"/>
              </a:rPr>
              <a:t>Navasena · Exam Preparation   13</a:t>
            </a:r>
            <a:endParaRPr lang="en-US" sz="1000" dirty="0"/>
          </a:p>
        </p:txBody>
      </p:sp>
      <p:sp>
        <p:nvSpPr>
          <p:cNvPr id="6" name="Shape 4"/>
          <p:cNvSpPr/>
          <p:nvPr/>
        </p:nvSpPr>
        <p:spPr>
          <a:xfrm>
            <a:off x="548640" y="1737360"/>
            <a:ext cx="2468880" cy="2377440"/>
          </a:xfrm>
          <a:prstGeom prst="roundRect">
            <a:avLst>
              <a:gd name="adj" fmla="val 3077"/>
            </a:avLst>
          </a:prstGeom>
          <a:solidFill>
            <a:srgbClr val="2D2D44"/>
          </a:solidFill>
          <a:ln w="19050">
            <a:solidFill>
              <a:srgbClr val="76B900"/>
            </a:solidFill>
            <a:prstDash val="solid"/>
          </a:ln>
        </p:spPr>
      </p:sp>
      <p:sp>
        <p:nvSpPr>
          <p:cNvPr id="7" name="Text 5"/>
          <p:cNvSpPr/>
          <p:nvPr/>
        </p:nvSpPr>
        <p:spPr>
          <a:xfrm>
            <a:off x="777240" y="1920240"/>
            <a:ext cx="2011680" cy="411480"/>
          </a:xfrm>
          <a:prstGeom prst="rect">
            <a:avLst/>
          </a:prstGeom>
          <a:noFill/>
          <a:ln/>
        </p:spPr>
        <p:txBody>
          <a:bodyPr wrap="square" lIns="0" tIns="0" rIns="0" bIns="0" rtlCol="0" anchor="ctr"/>
          <a:lstStyle/>
          <a:p>
            <a:pPr indent="0" marL="0">
              <a:buNone/>
            </a:pPr>
            <a:r>
              <a:rPr lang="en-US" sz="1800" b="1" dirty="0">
                <a:solidFill>
                  <a:srgbClr val="76B900"/>
                </a:solidFill>
                <a:latin typeface="Calibri" pitchFamily="34" charset="0"/>
                <a:ea typeface="Calibri" pitchFamily="34" charset="-122"/>
                <a:cs typeface="Calibri" pitchFamily="34" charset="-120"/>
              </a:rPr>
              <a:t>Repo yang rapi</a:t>
            </a:r>
            <a:endParaRPr lang="en-US" sz="1800" dirty="0"/>
          </a:p>
        </p:txBody>
      </p:sp>
      <p:sp>
        <p:nvSpPr>
          <p:cNvPr id="8" name="Text 6"/>
          <p:cNvSpPr/>
          <p:nvPr/>
        </p:nvSpPr>
        <p:spPr>
          <a:xfrm>
            <a:off x="777240" y="2423160"/>
            <a:ext cx="2011680" cy="1554480"/>
          </a:xfrm>
          <a:prstGeom prst="rect">
            <a:avLst/>
          </a:prstGeom>
          <a:noFill/>
          <a:ln/>
        </p:spPr>
        <p:txBody>
          <a:bodyPr wrap="square" lIns="0" tIns="0" rIns="0" bIns="0" rtlCol="0" anchor="t"/>
          <a:lstStyle/>
          <a:p>
            <a:pPr indent="0" marL="0">
              <a:spcAft>
                <a:spcPts val="600"/>
              </a:spcAft>
              <a:buNone/>
            </a:pPr>
            <a:r>
              <a:rPr lang="en-US" sz="1700" dirty="0">
                <a:solidFill>
                  <a:srgbClr val="FFFFFF"/>
                </a:solidFill>
                <a:latin typeface="Calibri" pitchFamily="34" charset="0"/>
                <a:ea typeface="Calibri" pitchFamily="34" charset="-122"/>
                <a:cs typeface="Calibri" pitchFamily="34" charset="-120"/>
              </a:rPr>
              <a:t>README: masalah, cara menjalankan, dan hasilnya.</a:t>
            </a:r>
            <a:endParaRPr lang="en-US" sz="1700" dirty="0"/>
          </a:p>
        </p:txBody>
      </p:sp>
      <p:sp>
        <p:nvSpPr>
          <p:cNvPr id="9" name="Text 7"/>
          <p:cNvSpPr/>
          <p:nvPr/>
        </p:nvSpPr>
        <p:spPr>
          <a:xfrm>
            <a:off x="3017520" y="2697480"/>
            <a:ext cx="365760" cy="457200"/>
          </a:xfrm>
          <a:prstGeom prst="rect">
            <a:avLst/>
          </a:prstGeom>
          <a:noFill/>
          <a:ln/>
        </p:spPr>
        <p:txBody>
          <a:bodyPr wrap="square" lIns="0" tIns="0" rIns="0" bIns="0" rtlCol="0" anchor="ctr"/>
          <a:lstStyle/>
          <a:p>
            <a:pPr algn="ctr" indent="0" marL="0">
              <a:buNone/>
            </a:pPr>
            <a:r>
              <a:rPr lang="en-US" sz="2000" b="1" dirty="0">
                <a:solidFill>
                  <a:srgbClr val="A3D944"/>
                </a:solidFill>
                <a:latin typeface="Calibri" pitchFamily="34" charset="0"/>
                <a:ea typeface="Calibri" pitchFamily="34" charset="-122"/>
                <a:cs typeface="Calibri" pitchFamily="34" charset="-120"/>
              </a:rPr>
              <a:t>→</a:t>
            </a:r>
            <a:endParaRPr lang="en-US" sz="2000" dirty="0"/>
          </a:p>
        </p:txBody>
      </p:sp>
      <p:sp>
        <p:nvSpPr>
          <p:cNvPr id="10" name="Shape 8"/>
          <p:cNvSpPr/>
          <p:nvPr/>
        </p:nvSpPr>
        <p:spPr>
          <a:xfrm>
            <a:off x="3383280" y="1737360"/>
            <a:ext cx="2468880" cy="2377440"/>
          </a:xfrm>
          <a:prstGeom prst="roundRect">
            <a:avLst>
              <a:gd name="adj" fmla="val 3077"/>
            </a:avLst>
          </a:prstGeom>
          <a:solidFill>
            <a:srgbClr val="2D2D44"/>
          </a:solidFill>
          <a:ln w="19050">
            <a:solidFill>
              <a:srgbClr val="76B900"/>
            </a:solidFill>
            <a:prstDash val="solid"/>
          </a:ln>
        </p:spPr>
      </p:sp>
      <p:sp>
        <p:nvSpPr>
          <p:cNvPr id="11" name="Text 9"/>
          <p:cNvSpPr/>
          <p:nvPr/>
        </p:nvSpPr>
        <p:spPr>
          <a:xfrm>
            <a:off x="3611880" y="1920240"/>
            <a:ext cx="2011680" cy="411480"/>
          </a:xfrm>
          <a:prstGeom prst="rect">
            <a:avLst/>
          </a:prstGeom>
          <a:noFill/>
          <a:ln/>
        </p:spPr>
        <p:txBody>
          <a:bodyPr wrap="square" lIns="0" tIns="0" rIns="0" bIns="0" rtlCol="0" anchor="ctr"/>
          <a:lstStyle/>
          <a:p>
            <a:pPr indent="0" marL="0">
              <a:buNone/>
            </a:pPr>
            <a:r>
              <a:rPr lang="en-US" sz="1800" b="1" dirty="0">
                <a:solidFill>
                  <a:srgbClr val="76B900"/>
                </a:solidFill>
                <a:latin typeface="Calibri" pitchFamily="34" charset="0"/>
                <a:ea typeface="Calibri" pitchFamily="34" charset="-122"/>
                <a:cs typeface="Calibri" pitchFamily="34" charset="-120"/>
              </a:rPr>
              <a:t>Angka yang terukur</a:t>
            </a:r>
            <a:endParaRPr lang="en-US" sz="1800" dirty="0"/>
          </a:p>
        </p:txBody>
      </p:sp>
      <p:sp>
        <p:nvSpPr>
          <p:cNvPr id="12" name="Text 10"/>
          <p:cNvSpPr/>
          <p:nvPr/>
        </p:nvSpPr>
        <p:spPr>
          <a:xfrm>
            <a:off x="3611880" y="2423160"/>
            <a:ext cx="2011680" cy="1554480"/>
          </a:xfrm>
          <a:prstGeom prst="rect">
            <a:avLst/>
          </a:prstGeom>
          <a:noFill/>
          <a:ln/>
        </p:spPr>
        <p:txBody>
          <a:bodyPr wrap="square" lIns="0" tIns="0" rIns="0" bIns="0" rtlCol="0" anchor="t"/>
          <a:lstStyle/>
          <a:p>
            <a:pPr indent="0" marL="0">
              <a:spcAft>
                <a:spcPts val="600"/>
              </a:spcAft>
              <a:buNone/>
            </a:pPr>
            <a:r>
              <a:rPr lang="en-US" sz="1700" dirty="0">
                <a:solidFill>
                  <a:srgbClr val="FFFFFF"/>
                </a:solidFill>
                <a:latin typeface="Calibri" pitchFamily="34" charset="0"/>
                <a:ea typeface="Calibri" pitchFamily="34" charset="-122"/>
                <a:cs typeface="Calibri" pitchFamily="34" charset="-120"/>
              </a:rPr>
              <a:t>Metrik, data, dan perangkat yang dipakai, seperti di bootcamp.</a:t>
            </a:r>
            <a:endParaRPr lang="en-US" sz="1700" dirty="0"/>
          </a:p>
        </p:txBody>
      </p:sp>
      <p:sp>
        <p:nvSpPr>
          <p:cNvPr id="13" name="Text 11"/>
          <p:cNvSpPr/>
          <p:nvPr/>
        </p:nvSpPr>
        <p:spPr>
          <a:xfrm>
            <a:off x="5852160" y="2697480"/>
            <a:ext cx="365760" cy="457200"/>
          </a:xfrm>
          <a:prstGeom prst="rect">
            <a:avLst/>
          </a:prstGeom>
          <a:noFill/>
          <a:ln/>
        </p:spPr>
        <p:txBody>
          <a:bodyPr wrap="square" lIns="0" tIns="0" rIns="0" bIns="0" rtlCol="0" anchor="ctr"/>
          <a:lstStyle/>
          <a:p>
            <a:pPr algn="ctr" indent="0" marL="0">
              <a:buNone/>
            </a:pPr>
            <a:r>
              <a:rPr lang="en-US" sz="2000" b="1" dirty="0">
                <a:solidFill>
                  <a:srgbClr val="A3D944"/>
                </a:solidFill>
                <a:latin typeface="Calibri" pitchFamily="34" charset="0"/>
                <a:ea typeface="Calibri" pitchFamily="34" charset="-122"/>
                <a:cs typeface="Calibri" pitchFamily="34" charset="-120"/>
              </a:rPr>
              <a:t>→</a:t>
            </a:r>
            <a:endParaRPr lang="en-US" sz="2000" dirty="0"/>
          </a:p>
        </p:txBody>
      </p:sp>
      <p:sp>
        <p:nvSpPr>
          <p:cNvPr id="14" name="Shape 12"/>
          <p:cNvSpPr/>
          <p:nvPr/>
        </p:nvSpPr>
        <p:spPr>
          <a:xfrm>
            <a:off x="6217920" y="1737360"/>
            <a:ext cx="2468880" cy="2377440"/>
          </a:xfrm>
          <a:prstGeom prst="roundRect">
            <a:avLst>
              <a:gd name="adj" fmla="val 3077"/>
            </a:avLst>
          </a:prstGeom>
          <a:solidFill>
            <a:srgbClr val="2D2D44"/>
          </a:solidFill>
          <a:ln w="19050">
            <a:solidFill>
              <a:srgbClr val="76B900"/>
            </a:solidFill>
            <a:prstDash val="solid"/>
          </a:ln>
        </p:spPr>
      </p:sp>
      <p:sp>
        <p:nvSpPr>
          <p:cNvPr id="15" name="Text 13"/>
          <p:cNvSpPr/>
          <p:nvPr/>
        </p:nvSpPr>
        <p:spPr>
          <a:xfrm>
            <a:off x="6446520" y="1920240"/>
            <a:ext cx="2011680" cy="411480"/>
          </a:xfrm>
          <a:prstGeom prst="rect">
            <a:avLst/>
          </a:prstGeom>
          <a:noFill/>
          <a:ln/>
        </p:spPr>
        <p:txBody>
          <a:bodyPr wrap="square" lIns="0" tIns="0" rIns="0" bIns="0" rtlCol="0" anchor="ctr"/>
          <a:lstStyle/>
          <a:p>
            <a:pPr indent="0" marL="0">
              <a:buNone/>
            </a:pPr>
            <a:r>
              <a:rPr lang="en-US" sz="1800" b="1" dirty="0">
                <a:solidFill>
                  <a:srgbClr val="76B900"/>
                </a:solidFill>
                <a:latin typeface="Calibri" pitchFamily="34" charset="0"/>
                <a:ea typeface="Calibri" pitchFamily="34" charset="-122"/>
                <a:cs typeface="Calibri" pitchFamily="34" charset="-120"/>
              </a:rPr>
              <a:t>Demo siap coba</a:t>
            </a:r>
            <a:endParaRPr lang="en-US" sz="1800" dirty="0"/>
          </a:p>
        </p:txBody>
      </p:sp>
      <p:sp>
        <p:nvSpPr>
          <p:cNvPr id="16" name="Text 14"/>
          <p:cNvSpPr/>
          <p:nvPr/>
        </p:nvSpPr>
        <p:spPr>
          <a:xfrm>
            <a:off x="6446520" y="2423160"/>
            <a:ext cx="2011680" cy="1554480"/>
          </a:xfrm>
          <a:prstGeom prst="rect">
            <a:avLst/>
          </a:prstGeom>
          <a:noFill/>
          <a:ln/>
        </p:spPr>
        <p:txBody>
          <a:bodyPr wrap="square" lIns="0" tIns="0" rIns="0" bIns="0" rtlCol="0" anchor="t"/>
          <a:lstStyle/>
          <a:p>
            <a:pPr indent="0" marL="0">
              <a:spcAft>
                <a:spcPts val="600"/>
              </a:spcAft>
              <a:buNone/>
            </a:pPr>
            <a:r>
              <a:rPr lang="en-US" sz="1700" dirty="0">
                <a:solidFill>
                  <a:srgbClr val="FFFFFF"/>
                </a:solidFill>
                <a:latin typeface="Calibri" pitchFamily="34" charset="0"/>
                <a:ea typeface="Calibri" pitchFamily="34" charset="-122"/>
                <a:cs typeface="Calibri" pitchFamily="34" charset="-120"/>
              </a:rPr>
              <a:t>Hugging Face Space, notebook Colab, atau video pendek.</a:t>
            </a:r>
            <a:endParaRPr lang="en-US" sz="1700" dirty="0"/>
          </a:p>
        </p:txBody>
      </p:sp>
      <p:sp>
        <p:nvSpPr>
          <p:cNvPr id="17" name="Text 15"/>
          <p:cNvSpPr/>
          <p:nvPr/>
        </p:nvSpPr>
        <p:spPr>
          <a:xfrm>
            <a:off x="8686800" y="2697480"/>
            <a:ext cx="365760" cy="457200"/>
          </a:xfrm>
          <a:prstGeom prst="rect">
            <a:avLst/>
          </a:prstGeom>
          <a:noFill/>
          <a:ln/>
        </p:spPr>
        <p:txBody>
          <a:bodyPr wrap="square" lIns="0" tIns="0" rIns="0" bIns="0" rtlCol="0" anchor="ctr"/>
          <a:lstStyle/>
          <a:p>
            <a:pPr algn="ctr" indent="0" marL="0">
              <a:buNone/>
            </a:pPr>
            <a:r>
              <a:rPr lang="en-US" sz="2000" b="1" dirty="0">
                <a:solidFill>
                  <a:srgbClr val="A3D944"/>
                </a:solidFill>
                <a:latin typeface="Calibri" pitchFamily="34" charset="0"/>
                <a:ea typeface="Calibri" pitchFamily="34" charset="-122"/>
                <a:cs typeface="Calibri" pitchFamily="34" charset="-120"/>
              </a:rPr>
              <a:t>→</a:t>
            </a:r>
            <a:endParaRPr lang="en-US" sz="2000" dirty="0"/>
          </a:p>
        </p:txBody>
      </p:sp>
      <p:sp>
        <p:nvSpPr>
          <p:cNvPr id="18" name="Shape 16"/>
          <p:cNvSpPr/>
          <p:nvPr/>
        </p:nvSpPr>
        <p:spPr>
          <a:xfrm>
            <a:off x="9052560" y="1737360"/>
            <a:ext cx="2468880" cy="2377440"/>
          </a:xfrm>
          <a:prstGeom prst="roundRect">
            <a:avLst>
              <a:gd name="adj" fmla="val 3077"/>
            </a:avLst>
          </a:prstGeom>
          <a:solidFill>
            <a:srgbClr val="2D2D44"/>
          </a:solidFill>
          <a:ln w="19050">
            <a:solidFill>
              <a:srgbClr val="76B900"/>
            </a:solidFill>
            <a:prstDash val="solid"/>
          </a:ln>
        </p:spPr>
      </p:sp>
      <p:sp>
        <p:nvSpPr>
          <p:cNvPr id="19" name="Text 17"/>
          <p:cNvSpPr/>
          <p:nvPr/>
        </p:nvSpPr>
        <p:spPr>
          <a:xfrm>
            <a:off x="9281160" y="1920240"/>
            <a:ext cx="2011680" cy="411480"/>
          </a:xfrm>
          <a:prstGeom prst="rect">
            <a:avLst/>
          </a:prstGeom>
          <a:noFill/>
          <a:ln/>
        </p:spPr>
        <p:txBody>
          <a:bodyPr wrap="square" lIns="0" tIns="0" rIns="0" bIns="0" rtlCol="0" anchor="ctr"/>
          <a:lstStyle/>
          <a:p>
            <a:pPr indent="0" marL="0">
              <a:buNone/>
            </a:pPr>
            <a:r>
              <a:rPr lang="en-US" sz="1800" b="1" dirty="0">
                <a:solidFill>
                  <a:srgbClr val="76B900"/>
                </a:solidFill>
                <a:latin typeface="Calibri" pitchFamily="34" charset="0"/>
                <a:ea typeface="Calibri" pitchFamily="34" charset="-122"/>
                <a:cs typeface="Calibri" pitchFamily="34" charset="-120"/>
              </a:rPr>
              <a:t>Tulisan singkat</a:t>
            </a:r>
            <a:endParaRPr lang="en-US" sz="1800" dirty="0"/>
          </a:p>
        </p:txBody>
      </p:sp>
      <p:sp>
        <p:nvSpPr>
          <p:cNvPr id="20" name="Text 18"/>
          <p:cNvSpPr/>
          <p:nvPr/>
        </p:nvSpPr>
        <p:spPr>
          <a:xfrm>
            <a:off x="9281160" y="2423160"/>
            <a:ext cx="2011680" cy="1554480"/>
          </a:xfrm>
          <a:prstGeom prst="rect">
            <a:avLst/>
          </a:prstGeom>
          <a:noFill/>
          <a:ln/>
        </p:spPr>
        <p:txBody>
          <a:bodyPr wrap="square" lIns="0" tIns="0" rIns="0" bIns="0" rtlCol="0" anchor="t"/>
          <a:lstStyle/>
          <a:p>
            <a:pPr indent="0" marL="0">
              <a:spcAft>
                <a:spcPts val="600"/>
              </a:spcAft>
              <a:buNone/>
            </a:pPr>
            <a:r>
              <a:rPr lang="en-US" sz="1700" dirty="0">
                <a:solidFill>
                  <a:srgbClr val="FFFFFF"/>
                </a:solidFill>
                <a:latin typeface="Calibri" pitchFamily="34" charset="0"/>
                <a:ea typeface="Calibri" pitchFamily="34" charset="-122"/>
                <a:cs typeface="Calibri" pitchFamily="34" charset="-120"/>
              </a:rPr>
              <a:t>Apa yang berhasil, apa yang gagal, dan apa yang kamu pelajari.</a:t>
            </a:r>
            <a:endParaRPr lang="en-US" sz="1700" dirty="0"/>
          </a:p>
        </p:txBody>
      </p:sp>
      <p:sp>
        <p:nvSpPr>
          <p:cNvPr id="21" name="Shape 19"/>
          <p:cNvSpPr/>
          <p:nvPr/>
        </p:nvSpPr>
        <p:spPr>
          <a:xfrm>
            <a:off x="548640" y="4572000"/>
            <a:ext cx="73152" cy="502920"/>
          </a:xfrm>
          <a:prstGeom prst="rect">
            <a:avLst/>
          </a:prstGeom>
          <a:solidFill>
            <a:srgbClr val="A3D944"/>
          </a:solidFill>
          <a:ln/>
        </p:spPr>
      </p:sp>
      <p:sp>
        <p:nvSpPr>
          <p:cNvPr id="22" name="Text 20"/>
          <p:cNvSpPr/>
          <p:nvPr/>
        </p:nvSpPr>
        <p:spPr>
          <a:xfrm>
            <a:off x="777240" y="4572000"/>
            <a:ext cx="10881360" cy="502920"/>
          </a:xfrm>
          <a:prstGeom prst="rect">
            <a:avLst/>
          </a:prstGeom>
          <a:noFill/>
          <a:ln/>
        </p:spPr>
        <p:txBody>
          <a:bodyPr wrap="square" lIns="0" tIns="0" rIns="0" bIns="0" rtlCol="0" anchor="ctr"/>
          <a:lstStyle/>
          <a:p>
            <a:pPr indent="0" marL="0">
              <a:buNone/>
            </a:pPr>
            <a:r>
              <a:rPr lang="en-US" sz="1700" b="1" dirty="0">
                <a:solidFill>
                  <a:srgbClr val="A3D944"/>
                </a:solidFill>
                <a:latin typeface="Calibri" pitchFamily="34" charset="0"/>
                <a:ea typeface="Calibri" pitchFamily="34" charset="-122"/>
                <a:cs typeface="Calibri" pitchFamily="34" charset="-120"/>
              </a:rPr>
              <a:t>Capstone-mu sudah jadi bahan portofolio. Tinggal dikemas dan dipublikasikan.</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76B900"/>
          </a:solidFill>
          <a:ln/>
        </p:spPr>
      </p:sp>
      <p:sp>
        <p:nvSpPr>
          <p:cNvPr id="3" name="Text 1"/>
          <p:cNvSpPr/>
          <p:nvPr/>
        </p:nvSpPr>
        <p:spPr>
          <a:xfrm>
            <a:off x="548640" y="320040"/>
            <a:ext cx="10972800" cy="274320"/>
          </a:xfrm>
          <a:prstGeom prst="rect">
            <a:avLst/>
          </a:prstGeom>
          <a:noFill/>
          <a:ln/>
        </p:spPr>
        <p:txBody>
          <a:bodyPr wrap="square" lIns="0" tIns="0" rIns="0" bIns="0" rtlCol="0" anchor="ctr"/>
          <a:lstStyle/>
          <a:p>
            <a:pPr indent="0" marL="0">
              <a:buNone/>
            </a:pPr>
            <a:r>
              <a:rPr lang="en-US" sz="1300" b="1" dirty="0">
                <a:solidFill>
                  <a:srgbClr val="76B900"/>
                </a:solidFill>
                <a:latin typeface="Calibri" pitchFamily="34" charset="0"/>
                <a:ea typeface="Calibri" pitchFamily="34" charset="-122"/>
                <a:cs typeface="Calibri" pitchFamily="34" charset="-120"/>
              </a:rPr>
              <a:t>Penutup</a:t>
            </a:r>
            <a:endParaRPr lang="en-US" sz="1300" dirty="0"/>
          </a:p>
        </p:txBody>
      </p:sp>
      <p:sp>
        <p:nvSpPr>
          <p:cNvPr id="4" name="Text 2"/>
          <p:cNvSpPr/>
          <p:nvPr/>
        </p:nvSpPr>
        <p:spPr>
          <a:xfrm>
            <a:off x="548640" y="640080"/>
            <a:ext cx="11064240" cy="68580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Langkah berikutnya</a:t>
            </a:r>
            <a:endParaRPr lang="en-US" sz="3000" dirty="0"/>
          </a:p>
        </p:txBody>
      </p:sp>
      <p:sp>
        <p:nvSpPr>
          <p:cNvPr id="5" name="Text 3"/>
          <p:cNvSpPr/>
          <p:nvPr/>
        </p:nvSpPr>
        <p:spPr>
          <a:xfrm>
            <a:off x="7955280" y="6446520"/>
            <a:ext cx="3749040" cy="274320"/>
          </a:xfrm>
          <a:prstGeom prst="rect">
            <a:avLst/>
          </a:prstGeom>
          <a:noFill/>
          <a:ln/>
        </p:spPr>
        <p:txBody>
          <a:bodyPr wrap="square" lIns="0" tIns="0" rIns="0" bIns="0" rtlCol="0" anchor="ctr"/>
          <a:lstStyle/>
          <a:p>
            <a:pPr algn="r" indent="0" marL="0">
              <a:buNone/>
            </a:pPr>
            <a:r>
              <a:rPr lang="en-US" sz="1000" dirty="0">
                <a:solidFill>
                  <a:srgbClr val="AAAACC"/>
                </a:solidFill>
                <a:latin typeface="Calibri" pitchFamily="34" charset="0"/>
                <a:ea typeface="Calibri" pitchFamily="34" charset="-122"/>
                <a:cs typeface="Calibri" pitchFamily="34" charset="-120"/>
              </a:rPr>
              <a:t>Navasena · Exam Preparation   14</a:t>
            </a:r>
            <a:endParaRPr lang="en-US" sz="1000" dirty="0"/>
          </a:p>
        </p:txBody>
      </p:sp>
      <p:sp>
        <p:nvSpPr>
          <p:cNvPr id="6" name="Text 4"/>
          <p:cNvSpPr/>
          <p:nvPr/>
        </p:nvSpPr>
        <p:spPr>
          <a:xfrm>
            <a:off x="548640" y="1645920"/>
            <a:ext cx="5760720" cy="4389120"/>
          </a:xfrm>
          <a:prstGeom prst="rect">
            <a:avLst/>
          </a:prstGeom>
          <a:noFill/>
          <a:ln/>
        </p:spPr>
        <p:txBody>
          <a:bodyPr wrap="square" rtlCol="0" anchor="t"/>
          <a:lstStyle/>
          <a:p>
            <a:pPr marL="342900" indent="-342900">
              <a:spcAft>
                <a:spcPts val="1200"/>
              </a:spcAft>
              <a:buSzPct val="100000"/>
              <a:buChar char="•"/>
            </a:pPr>
            <a:r>
              <a:rPr lang="en-US" sz="2000" dirty="0">
                <a:solidFill>
                  <a:srgbClr val="FFFFFF"/>
                </a:solidFill>
                <a:latin typeface="Calibri" pitchFamily="34" charset="0"/>
                <a:ea typeface="Calibri" pitchFamily="34" charset="-122"/>
                <a:cs typeface="Calibri" pitchFamily="34" charset="-120"/>
              </a:rPr>
              <a:t>Bandingkan hasil pre-test dengan peta domain tadi.</a:t>
            </a:r>
            <a:endParaRPr lang="en-US" sz="2000" dirty="0"/>
          </a:p>
          <a:p>
            <a:pPr marL="342900" indent="-342900">
              <a:spcAft>
                <a:spcPts val="1200"/>
              </a:spcAft>
              <a:buSzPct val="100000"/>
              <a:buChar char="•"/>
            </a:pPr>
            <a:r>
              <a:rPr lang="en-US" sz="2000" dirty="0">
                <a:solidFill>
                  <a:srgbClr val="FFFFFF"/>
                </a:solidFill>
                <a:latin typeface="Calibri" pitchFamily="34" charset="0"/>
                <a:ea typeface="Calibri" pitchFamily="34" charset="-122"/>
                <a:cs typeface="Calibri" pitchFamily="34" charset="-120"/>
              </a:rPr>
              <a:t>Pelajari topik tipis, lalu daftar ujian NCA-GENL.</a:t>
            </a:r>
            <a:endParaRPr lang="en-US" sz="2000" dirty="0"/>
          </a:p>
          <a:p>
            <a:pPr marL="342900" indent="-342900">
              <a:spcAft>
                <a:spcPts val="1200"/>
              </a:spcAft>
              <a:buSzPct val="100000"/>
              <a:buChar char="•"/>
            </a:pPr>
            <a:r>
              <a:rPr lang="en-US" sz="2000" dirty="0">
                <a:solidFill>
                  <a:srgbClr val="FFFFFF"/>
                </a:solidFill>
                <a:latin typeface="Calibri" pitchFamily="34" charset="0"/>
                <a:ea typeface="Calibri" pitchFamily="34" charset="-122"/>
                <a:cs typeface="Calibri" pitchFamily="34" charset="-120"/>
              </a:rPr>
              <a:t>Daftar NVIDIA Developer Program (gratis).</a:t>
            </a:r>
            <a:endParaRPr lang="en-US" sz="2000" dirty="0"/>
          </a:p>
          <a:p>
            <a:pPr marL="342900" indent="-342900">
              <a:spcAft>
                <a:spcPts val="1200"/>
              </a:spcAft>
              <a:buSzPct val="100000"/>
              <a:buChar char="•"/>
            </a:pPr>
            <a:r>
              <a:rPr lang="en-US" sz="2000" dirty="0">
                <a:solidFill>
                  <a:srgbClr val="FFFFFF"/>
                </a:solidFill>
                <a:latin typeface="Calibri" pitchFamily="34" charset="0"/>
                <a:ea typeface="Calibri" pitchFamily="34" charset="-122"/>
                <a:cs typeface="Calibri" pitchFamily="34" charset="-120"/>
              </a:rPr>
              <a:t>Pilih satu arah peran dan satu proyek pertama.</a:t>
            </a:r>
            <a:endParaRPr lang="en-US" sz="2000" dirty="0"/>
          </a:p>
          <a:p>
            <a:pPr marL="342900" indent="-342900">
              <a:spcAft>
                <a:spcPts val="1200"/>
              </a:spcAft>
              <a:buSzPct val="100000"/>
              <a:buChar char="•"/>
            </a:pPr>
            <a:r>
              <a:rPr lang="en-US" sz="2000" dirty="0">
                <a:solidFill>
                  <a:srgbClr val="FFFFFF"/>
                </a:solidFill>
                <a:latin typeface="Calibri" pitchFamily="34" charset="0"/>
                <a:ea typeface="Calibri" pitchFamily="34" charset="-122"/>
                <a:cs typeface="Calibri" pitchFamily="34" charset="-120"/>
              </a:rPr>
              <a:t>Rapikan capstone jadi portofolio publik.</a:t>
            </a:r>
            <a:endParaRPr lang="en-US" sz="2000" dirty="0"/>
          </a:p>
        </p:txBody>
      </p:sp>
      <p:sp>
        <p:nvSpPr>
          <p:cNvPr id="7" name="Shape 5"/>
          <p:cNvSpPr/>
          <p:nvPr/>
        </p:nvSpPr>
        <p:spPr>
          <a:xfrm>
            <a:off x="6583680" y="1600200"/>
            <a:ext cx="5029200" cy="4480560"/>
          </a:xfrm>
          <a:prstGeom prst="roundRect">
            <a:avLst>
              <a:gd name="adj" fmla="val 1633"/>
            </a:avLst>
          </a:prstGeom>
          <a:solidFill>
            <a:srgbClr val="2D2D44"/>
          </a:solidFill>
          <a:ln w="19050">
            <a:solidFill>
              <a:srgbClr val="A3D944"/>
            </a:solidFill>
            <a:prstDash val="solid"/>
          </a:ln>
        </p:spPr>
      </p:sp>
      <p:sp>
        <p:nvSpPr>
          <p:cNvPr id="8" name="Text 6"/>
          <p:cNvSpPr/>
          <p:nvPr/>
        </p:nvSpPr>
        <p:spPr>
          <a:xfrm>
            <a:off x="6812280" y="1828800"/>
            <a:ext cx="4572000" cy="320040"/>
          </a:xfrm>
          <a:prstGeom prst="rect">
            <a:avLst/>
          </a:prstGeom>
          <a:noFill/>
          <a:ln/>
        </p:spPr>
        <p:txBody>
          <a:bodyPr wrap="square" lIns="0" tIns="0" rIns="0" bIns="0" rtlCol="0" anchor="ctr"/>
          <a:lstStyle/>
          <a:p>
            <a:pPr indent="0" marL="0">
              <a:buNone/>
            </a:pPr>
            <a:r>
              <a:rPr lang="en-US" sz="1500" b="1" dirty="0">
                <a:solidFill>
                  <a:srgbClr val="A3D944"/>
                </a:solidFill>
                <a:latin typeface="Calibri" pitchFamily="34" charset="0"/>
                <a:ea typeface="Calibri" pitchFamily="34" charset="-122"/>
                <a:cs typeface="Calibri" pitchFamily="34" charset="-120"/>
              </a:rPr>
              <a:t>Sertifikasi NVIDIA</a:t>
            </a:r>
            <a:endParaRPr lang="en-US" sz="1500" dirty="0"/>
          </a:p>
        </p:txBody>
      </p:sp>
      <p:sp>
        <p:nvSpPr>
          <p:cNvPr id="9" name="Text 7"/>
          <p:cNvSpPr/>
          <p:nvPr/>
        </p:nvSpPr>
        <p:spPr>
          <a:xfrm>
            <a:off x="6812280" y="2148840"/>
            <a:ext cx="4572000" cy="365760"/>
          </a:xfrm>
          <a:prstGeom prst="rect">
            <a:avLst/>
          </a:prstGeom>
          <a:noFill/>
          <a:ln/>
        </p:spPr>
        <p:txBody>
          <a:bodyPr wrap="square" lIns="0" tIns="0" rIns="0" bIns="0" rtlCol="0" anchor="ctr"/>
          <a:lstStyle/>
          <a:p>
            <a:pPr indent="0" marL="0">
              <a:buNone/>
            </a:pPr>
            <a:r>
              <a:rPr lang="en-US" sz="15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nvidia.com/en-us/learn/certification</a:t>
            </a:r>
            <a:endParaRPr lang="en-US" sz="1500" dirty="0"/>
          </a:p>
        </p:txBody>
      </p:sp>
      <p:sp>
        <p:nvSpPr>
          <p:cNvPr id="10" name="Text 8"/>
          <p:cNvSpPr/>
          <p:nvPr/>
        </p:nvSpPr>
        <p:spPr>
          <a:xfrm>
            <a:off x="6812280" y="2743200"/>
            <a:ext cx="4572000" cy="320040"/>
          </a:xfrm>
          <a:prstGeom prst="rect">
            <a:avLst/>
          </a:prstGeom>
          <a:noFill/>
          <a:ln/>
        </p:spPr>
        <p:txBody>
          <a:bodyPr wrap="square" lIns="0" tIns="0" rIns="0" bIns="0" rtlCol="0" anchor="ctr"/>
          <a:lstStyle/>
          <a:p>
            <a:pPr indent="0" marL="0">
              <a:buNone/>
            </a:pPr>
            <a:r>
              <a:rPr lang="en-US" sz="1500" b="1" dirty="0">
                <a:solidFill>
                  <a:srgbClr val="A3D944"/>
                </a:solidFill>
                <a:latin typeface="Calibri" pitchFamily="34" charset="0"/>
                <a:ea typeface="Calibri" pitchFamily="34" charset="-122"/>
                <a:cs typeface="Calibri" pitchFamily="34" charset="-120"/>
              </a:rPr>
              <a:t>Kursus DLI</a:t>
            </a:r>
            <a:endParaRPr lang="en-US" sz="1500" dirty="0"/>
          </a:p>
        </p:txBody>
      </p:sp>
      <p:sp>
        <p:nvSpPr>
          <p:cNvPr id="11" name="Text 9"/>
          <p:cNvSpPr/>
          <p:nvPr/>
        </p:nvSpPr>
        <p:spPr>
          <a:xfrm>
            <a:off x="6812280" y="3063240"/>
            <a:ext cx="4572000" cy="365760"/>
          </a:xfrm>
          <a:prstGeom prst="rect">
            <a:avLst/>
          </a:prstGeom>
          <a:noFill/>
          <a:ln/>
        </p:spPr>
        <p:txBody>
          <a:bodyPr wrap="square" lIns="0" tIns="0" rIns="0" bIns="0" rtlCol="0" anchor="ctr"/>
          <a:lstStyle/>
          <a:p>
            <a:pPr indent="0" marL="0">
              <a:buNone/>
            </a:pPr>
            <a:r>
              <a:rPr lang="en-US" sz="15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nvidia.com/en-us/training/self-paced-courses</a:t>
            </a:r>
            <a:endParaRPr lang="en-US" sz="1500" dirty="0"/>
          </a:p>
        </p:txBody>
      </p:sp>
      <p:sp>
        <p:nvSpPr>
          <p:cNvPr id="12" name="Text 10"/>
          <p:cNvSpPr/>
          <p:nvPr/>
        </p:nvSpPr>
        <p:spPr>
          <a:xfrm>
            <a:off x="6812280" y="3657600"/>
            <a:ext cx="4572000" cy="320040"/>
          </a:xfrm>
          <a:prstGeom prst="rect">
            <a:avLst/>
          </a:prstGeom>
          <a:noFill/>
          <a:ln/>
        </p:spPr>
        <p:txBody>
          <a:bodyPr wrap="square" lIns="0" tIns="0" rIns="0" bIns="0" rtlCol="0" anchor="ctr"/>
          <a:lstStyle/>
          <a:p>
            <a:pPr indent="0" marL="0">
              <a:buNone/>
            </a:pPr>
            <a:r>
              <a:rPr lang="en-US" sz="1500" b="1" dirty="0">
                <a:solidFill>
                  <a:srgbClr val="A3D944"/>
                </a:solidFill>
                <a:latin typeface="Calibri" pitchFamily="34" charset="0"/>
                <a:ea typeface="Calibri" pitchFamily="34" charset="-122"/>
                <a:cs typeface="Calibri" pitchFamily="34" charset="-120"/>
              </a:rPr>
              <a:t>Developer Program</a:t>
            </a:r>
            <a:endParaRPr lang="en-US" sz="1500" dirty="0"/>
          </a:p>
        </p:txBody>
      </p:sp>
      <p:sp>
        <p:nvSpPr>
          <p:cNvPr id="13" name="Text 11"/>
          <p:cNvSpPr/>
          <p:nvPr/>
        </p:nvSpPr>
        <p:spPr>
          <a:xfrm>
            <a:off x="6812280" y="3977640"/>
            <a:ext cx="4572000" cy="365760"/>
          </a:xfrm>
          <a:prstGeom prst="rect">
            <a:avLst/>
          </a:prstGeom>
          <a:noFill/>
          <a:ln/>
        </p:spPr>
        <p:txBody>
          <a:bodyPr wrap="square" lIns="0" tIns="0" rIns="0" bIns="0" rtlCol="0" anchor="ctr"/>
          <a:lstStyle/>
          <a:p>
            <a:pPr indent="0" marL="0">
              <a:buNone/>
            </a:pPr>
            <a:r>
              <a:rPr lang="en-US" sz="1500" u="sng" dirty="0">
                <a:solidFill>
                  <a:srgbClr val="FFFFFF"/>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developer.nvidia.com/developer-program</a:t>
            </a:r>
            <a:endParaRPr lang="en-US" sz="1500" dirty="0"/>
          </a:p>
        </p:txBody>
      </p:sp>
      <p:sp>
        <p:nvSpPr>
          <p:cNvPr id="14" name="Text 12"/>
          <p:cNvSpPr/>
          <p:nvPr/>
        </p:nvSpPr>
        <p:spPr>
          <a:xfrm>
            <a:off x="6812280" y="4572000"/>
            <a:ext cx="4572000" cy="320040"/>
          </a:xfrm>
          <a:prstGeom prst="rect">
            <a:avLst/>
          </a:prstGeom>
          <a:noFill/>
          <a:ln/>
        </p:spPr>
        <p:txBody>
          <a:bodyPr wrap="square" lIns="0" tIns="0" rIns="0" bIns="0" rtlCol="0" anchor="ctr"/>
          <a:lstStyle/>
          <a:p>
            <a:pPr indent="0" marL="0">
              <a:buNone/>
            </a:pPr>
            <a:r>
              <a:rPr lang="en-US" sz="1500" b="1" dirty="0">
                <a:solidFill>
                  <a:srgbClr val="A3D944"/>
                </a:solidFill>
                <a:latin typeface="Calibri" pitchFamily="34" charset="0"/>
                <a:ea typeface="Calibri" pitchFamily="34" charset="-122"/>
                <a:cs typeface="Calibri" pitchFamily="34" charset="-120"/>
              </a:rPr>
              <a:t>NIM API</a:t>
            </a:r>
            <a:endParaRPr lang="en-US" sz="1500" dirty="0"/>
          </a:p>
        </p:txBody>
      </p:sp>
      <p:sp>
        <p:nvSpPr>
          <p:cNvPr id="15" name="Text 13"/>
          <p:cNvSpPr/>
          <p:nvPr/>
        </p:nvSpPr>
        <p:spPr>
          <a:xfrm>
            <a:off x="6812280" y="4892040"/>
            <a:ext cx="4572000" cy="365760"/>
          </a:xfrm>
          <a:prstGeom prst="rect">
            <a:avLst/>
          </a:prstGeom>
          <a:noFill/>
          <a:ln/>
        </p:spPr>
        <p:txBody>
          <a:bodyPr wrap="square" lIns="0" tIns="0" rIns="0" bIns="0" rtlCol="0" anchor="ctr"/>
          <a:lstStyle/>
          <a:p>
            <a:pPr indent="0" marL="0">
              <a:buNone/>
            </a:pPr>
            <a:r>
              <a:rPr lang="en-US" sz="1500" u="sng" dirty="0">
                <a:solidFill>
                  <a:srgbClr val="FFFFFF"/>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build.nvidia.com</a:t>
            </a:r>
            <a:endParaRPr lang="en-US" sz="1500" dirty="0"/>
          </a:p>
        </p:txBody>
      </p:sp>
      <p:sp>
        <p:nvSpPr>
          <p:cNvPr id="16" name="Text 14"/>
          <p:cNvSpPr/>
          <p:nvPr/>
        </p:nvSpPr>
        <p:spPr>
          <a:xfrm>
            <a:off x="6812280" y="5349240"/>
            <a:ext cx="4572000" cy="548640"/>
          </a:xfrm>
          <a:prstGeom prst="rect">
            <a:avLst/>
          </a:prstGeom>
          <a:noFill/>
          <a:ln/>
        </p:spPr>
        <p:txBody>
          <a:bodyPr wrap="square" lIns="0" tIns="0" rIns="0" bIns="0" rtlCol="0" anchor="ctr"/>
          <a:lstStyle/>
          <a:p>
            <a:pPr indent="0" marL="0">
              <a:buNone/>
            </a:pPr>
            <a:r>
              <a:rPr lang="en-US" sz="1300" i="1" dirty="0">
                <a:solidFill>
                  <a:srgbClr val="AAAACC"/>
                </a:solidFill>
                <a:latin typeface="Calibri" pitchFamily="34" charset="0"/>
                <a:ea typeface="Calibri" pitchFamily="34" charset="-122"/>
                <a:cs typeface="Calibri" pitchFamily="34" charset="-120"/>
              </a:rPr>
              <a:t>Detail tiap domain: deck sertifikasi NCA-GENL di folder materi bootcamp.</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 Preparation — dan Langkah Setelahnya</dc:title>
  <dc:subject>PptxGenJS Presentation</dc:subject>
  <dc:creator>PptxGenJS</dc:creator>
  <cp:lastModifiedBy>PptxGenJS</cp:lastModifiedBy>
  <cp:revision>1</cp:revision>
  <dcterms:created xsi:type="dcterms:W3CDTF">2026-09-24T02:30:55Z</dcterms:created>
  <dcterms:modified xsi:type="dcterms:W3CDTF">2026-09-24T02:30:55Z</dcterms:modified>
</cp:coreProperties>
</file>